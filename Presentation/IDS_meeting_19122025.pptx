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282" r:id="rId5"/>
    <p:sldId id="299" r:id="rId6"/>
    <p:sldId id="2147472920" r:id="rId7"/>
    <p:sldId id="2147473121" r:id="rId8"/>
    <p:sldId id="2147473112" r:id="rId9"/>
    <p:sldId id="2147473131" r:id="rId10"/>
    <p:sldId id="2147473132" r:id="rId11"/>
    <p:sldId id="372" r:id="rId12"/>
    <p:sldId id="2147473113" r:id="rId13"/>
    <p:sldId id="2147473115" r:id="rId14"/>
    <p:sldId id="2147473138" r:id="rId15"/>
    <p:sldId id="2147473117" r:id="rId16"/>
    <p:sldId id="2147473116" r:id="rId17"/>
    <p:sldId id="2147473114" r:id="rId18"/>
    <p:sldId id="259" r:id="rId19"/>
    <p:sldId id="363" r:id="rId20"/>
    <p:sldId id="2147473123" r:id="rId21"/>
    <p:sldId id="2147473122" r:id="rId22"/>
    <p:sldId id="2147473119" r:id="rId23"/>
    <p:sldId id="261" r:id="rId24"/>
    <p:sldId id="2147473124" r:id="rId25"/>
    <p:sldId id="2147473136" r:id="rId26"/>
    <p:sldId id="2147472923" r:id="rId27"/>
    <p:sldId id="2147472953" r:id="rId28"/>
    <p:sldId id="2147473137" r:id="rId29"/>
    <p:sldId id="2147473140" r:id="rId30"/>
    <p:sldId id="2147473139" r:id="rId31"/>
    <p:sldId id="288" r:id="rId32"/>
    <p:sldId id="214747313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0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EBECF05-5C1A-1390-6A05-666FE3860568}" name="Jéssica Adelaide Uamusse  Lemos" initials="JL" userId="S::jessica.lemos@ins.gov.mz::f71c816b-40f9-494e-972e-3b361e1d7769" providerId="AD"/>
  <p188:author id="{5AAEFB13-AA14-2EAB-D481-EB2235508D17}" name="Edna Viegas" initials="EV" userId="S::edna.viegas@ins.gov.mz::ec114ee2-1e0e-4e3c-97a6-a28b03948d50" providerId="AD"/>
  <p188:author id="{6022544C-C31C-9AFD-417D-17C61003870D}" name="Nuro Abilio" initials="NA" userId="S::nuro.abilio@ins.gov.mz::e964efca-3d07-4748-9c78-9ee244af0dee" providerId="AD"/>
  <p188:author id="{749FF08B-66F9-3C1D-A145-D95E32B11275}" name="Osvaldo Laurindo" initials="OL" userId="S::osvaldo.laurindo@ins.gov.mz::6240d335-0a99-4a1f-bab8-80acd7f550d8" providerId="AD"/>
  <p188:author id="{E30D588F-0151-5323-7694-3356E604E3C9}" name="Diocreciano Bero" initials="DB" userId="S::diocreciano.bero@ins.gov.mz::98316507-5bbd-4dc8-b465-38ab801ab02c" providerId="AD"/>
  <p188:author id="{A62C4FE5-6895-1ACD-276B-B589B9E136BA}" name="Denise Langa" initials="DL" userId="S::denise.langa@ins.gov.mz::e32121e0-545b-43f9-b929-b08fa9502e7c" providerId="AD"/>
  <p188:author id="{53F50FFD-7D33-8B97-5DBD-4A2269CBC866}" name="Mussagy Quimice" initials="MQ" userId="S::mussagy.quimice@ins.gov.mz::a53779cf-0d3c-4a30-b533-d0185a7add5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A00"/>
    <a:srgbClr val="007489"/>
    <a:srgbClr val="AD2F30"/>
    <a:srgbClr val="AD3F30"/>
    <a:srgbClr val="01889A"/>
    <a:srgbClr val="428499"/>
    <a:srgbClr val="B9292F"/>
    <a:srgbClr val="C94B50"/>
    <a:srgbClr val="FFFFFF"/>
    <a:srgbClr val="4742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62"/>
    <p:restoredTop sz="94781"/>
  </p:normalViewPr>
  <p:slideViewPr>
    <p:cSldViewPr snapToGrid="0">
      <p:cViewPr varScale="1">
        <p:scale>
          <a:sx n="110" d="100"/>
          <a:sy n="110" d="100"/>
        </p:scale>
        <p:origin x="240" y="68"/>
      </p:cViewPr>
      <p:guideLst>
        <p:guide orient="horz" pos="2160"/>
        <p:guide pos="3840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ednaviegas\Library\Containers\com.microsoft.Outlook\Data\tmp\Outlook%20Temp\MAPUTO%20CIDAD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ednaviegas\Library\Containers\com.microsoft.Outlook\Data\tmp\Outlook%20Temp\MAPUTO%20CIDAD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ednaviegas\Library\Containers\com.microsoft.Outlook\Data\tmp\Outlook%20Temp\HOSPITAL-ZIMPETO%20e%20COMUNIDIDE%2015.12.25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ednaviegas\Library\Containers\com.microsoft.Outlook\Data\tmp\Outlook%20Temp\HOSPITAL-ZIMPETO%20e%20COMUNIDIDE%2015.12.25%5b60%5d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ednaviegas\Library\Containers\com.microsoft.Outlook\Data\tmp\Outlook%20Temp\H.%20MAVALANE%20-%20comunidade%20Mavalane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 sz="1600" b="1" dirty="0">
                <a:solidFill>
                  <a:schemeClr val="tx1"/>
                </a:solidFill>
              </a:rPr>
              <a:t>Maputo City</a:t>
            </a:r>
          </a:p>
          <a:p>
            <a:pPr>
              <a:defRPr sz="1600" b="1">
                <a:solidFill>
                  <a:schemeClr val="tx1"/>
                </a:solidFill>
              </a:defRPr>
            </a:pPr>
            <a:r>
              <a:rPr lang="en-GB" sz="1600" b="1" dirty="0">
                <a:solidFill>
                  <a:schemeClr val="tx1"/>
                </a:solidFill>
              </a:rPr>
              <a:t>Influenza Surveillance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INFLUENZA!$Z$3</c:f>
              <c:strCache>
                <c:ptCount val="1"/>
                <c:pt idx="0">
                  <c:v>Cases reported at Maputo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INFLUENZA!$X$4:$Y$58</c:f>
              <c:multiLvlStrCache>
                <c:ptCount val="55"/>
                <c:lvl>
                  <c:pt idx="0">
                    <c:v>WK47</c:v>
                  </c:pt>
                  <c:pt idx="1">
                    <c:v>WK48</c:v>
                  </c:pt>
                  <c:pt idx="2">
                    <c:v>WK49</c:v>
                  </c:pt>
                  <c:pt idx="3">
                    <c:v>WK50</c:v>
                  </c:pt>
                  <c:pt idx="4">
                    <c:v>WK51</c:v>
                  </c:pt>
                  <c:pt idx="5">
                    <c:v>WK52</c:v>
                  </c:pt>
                  <c:pt idx="6">
                    <c:v>Wk1</c:v>
                  </c:pt>
                  <c:pt idx="7">
                    <c:v>WK2</c:v>
                  </c:pt>
                  <c:pt idx="8">
                    <c:v>WK3</c:v>
                  </c:pt>
                  <c:pt idx="9">
                    <c:v>WK4</c:v>
                  </c:pt>
                  <c:pt idx="10">
                    <c:v>WK5</c:v>
                  </c:pt>
                  <c:pt idx="11">
                    <c:v>WK6</c:v>
                  </c:pt>
                  <c:pt idx="12">
                    <c:v>WK7</c:v>
                  </c:pt>
                  <c:pt idx="13">
                    <c:v>WK8</c:v>
                  </c:pt>
                  <c:pt idx="14">
                    <c:v>WK9</c:v>
                  </c:pt>
                  <c:pt idx="15">
                    <c:v>WK10</c:v>
                  </c:pt>
                  <c:pt idx="16">
                    <c:v>WK11</c:v>
                  </c:pt>
                  <c:pt idx="17">
                    <c:v>WK12</c:v>
                  </c:pt>
                  <c:pt idx="18">
                    <c:v>WK13</c:v>
                  </c:pt>
                  <c:pt idx="19">
                    <c:v>WK14</c:v>
                  </c:pt>
                  <c:pt idx="20">
                    <c:v>WK15</c:v>
                  </c:pt>
                  <c:pt idx="21">
                    <c:v>WK16</c:v>
                  </c:pt>
                  <c:pt idx="22">
                    <c:v>WK17</c:v>
                  </c:pt>
                  <c:pt idx="23">
                    <c:v>WK18</c:v>
                  </c:pt>
                  <c:pt idx="24">
                    <c:v>WK19</c:v>
                  </c:pt>
                  <c:pt idx="25">
                    <c:v>WK20</c:v>
                  </c:pt>
                  <c:pt idx="26">
                    <c:v>WK21</c:v>
                  </c:pt>
                  <c:pt idx="27">
                    <c:v>WK22</c:v>
                  </c:pt>
                  <c:pt idx="28">
                    <c:v>WK23</c:v>
                  </c:pt>
                  <c:pt idx="29">
                    <c:v>WK24</c:v>
                  </c:pt>
                  <c:pt idx="30">
                    <c:v>WK25</c:v>
                  </c:pt>
                  <c:pt idx="31">
                    <c:v>WK26</c:v>
                  </c:pt>
                  <c:pt idx="32">
                    <c:v>WK27</c:v>
                  </c:pt>
                  <c:pt idx="33">
                    <c:v>WK28</c:v>
                  </c:pt>
                  <c:pt idx="34">
                    <c:v>WK29</c:v>
                  </c:pt>
                  <c:pt idx="35">
                    <c:v>WK30</c:v>
                  </c:pt>
                  <c:pt idx="36">
                    <c:v>WK31</c:v>
                  </c:pt>
                  <c:pt idx="37">
                    <c:v>WK32</c:v>
                  </c:pt>
                  <c:pt idx="38">
                    <c:v>WK33</c:v>
                  </c:pt>
                  <c:pt idx="39">
                    <c:v>WK34</c:v>
                  </c:pt>
                  <c:pt idx="40">
                    <c:v>WK35</c:v>
                  </c:pt>
                  <c:pt idx="41">
                    <c:v>WK36</c:v>
                  </c:pt>
                  <c:pt idx="42">
                    <c:v>WK37</c:v>
                  </c:pt>
                  <c:pt idx="43">
                    <c:v>WK38</c:v>
                  </c:pt>
                  <c:pt idx="44">
                    <c:v>WK39</c:v>
                  </c:pt>
                  <c:pt idx="45">
                    <c:v>WK40</c:v>
                  </c:pt>
                  <c:pt idx="46">
                    <c:v>WK41</c:v>
                  </c:pt>
                  <c:pt idx="47">
                    <c:v>WK42</c:v>
                  </c:pt>
                  <c:pt idx="48">
                    <c:v>WK43</c:v>
                  </c:pt>
                  <c:pt idx="49">
                    <c:v>WK44</c:v>
                  </c:pt>
                  <c:pt idx="50">
                    <c:v>WK45</c:v>
                  </c:pt>
                  <c:pt idx="51">
                    <c:v>WK46</c:v>
                  </c:pt>
                  <c:pt idx="52">
                    <c:v>WK47</c:v>
                  </c:pt>
                  <c:pt idx="53">
                    <c:v>WK48</c:v>
                  </c:pt>
                  <c:pt idx="54">
                    <c:v>WK49</c:v>
                  </c:pt>
                </c:lvl>
                <c:lvl>
                  <c:pt idx="0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INFLUENZA!$Z$4:$Z$58</c:f>
              <c:numCache>
                <c:formatCode>General</c:formatCode>
                <c:ptCount val="55"/>
                <c:pt idx="6">
                  <c:v>54</c:v>
                </c:pt>
                <c:pt idx="7">
                  <c:v>52</c:v>
                </c:pt>
                <c:pt idx="8">
                  <c:v>48</c:v>
                </c:pt>
                <c:pt idx="9">
                  <c:v>48</c:v>
                </c:pt>
                <c:pt idx="10">
                  <c:v>125</c:v>
                </c:pt>
                <c:pt idx="11">
                  <c:v>142</c:v>
                </c:pt>
                <c:pt idx="12">
                  <c:v>169</c:v>
                </c:pt>
                <c:pt idx="13">
                  <c:v>134</c:v>
                </c:pt>
                <c:pt idx="14">
                  <c:v>139</c:v>
                </c:pt>
                <c:pt idx="15">
                  <c:v>115</c:v>
                </c:pt>
                <c:pt idx="16">
                  <c:v>83</c:v>
                </c:pt>
                <c:pt idx="17">
                  <c:v>229</c:v>
                </c:pt>
                <c:pt idx="18">
                  <c:v>196</c:v>
                </c:pt>
                <c:pt idx="19">
                  <c:v>298</c:v>
                </c:pt>
                <c:pt idx="20">
                  <c:v>263</c:v>
                </c:pt>
                <c:pt idx="21">
                  <c:v>230</c:v>
                </c:pt>
                <c:pt idx="22">
                  <c:v>282</c:v>
                </c:pt>
                <c:pt idx="23">
                  <c:v>353</c:v>
                </c:pt>
                <c:pt idx="24">
                  <c:v>553</c:v>
                </c:pt>
                <c:pt idx="25">
                  <c:v>541</c:v>
                </c:pt>
                <c:pt idx="26">
                  <c:v>445</c:v>
                </c:pt>
                <c:pt idx="27">
                  <c:v>667</c:v>
                </c:pt>
                <c:pt idx="28">
                  <c:v>621</c:v>
                </c:pt>
                <c:pt idx="29">
                  <c:v>724</c:v>
                </c:pt>
                <c:pt idx="30">
                  <c:v>651</c:v>
                </c:pt>
                <c:pt idx="31">
                  <c:v>692</c:v>
                </c:pt>
                <c:pt idx="32">
                  <c:v>889</c:v>
                </c:pt>
                <c:pt idx="33">
                  <c:v>999</c:v>
                </c:pt>
                <c:pt idx="34">
                  <c:v>900</c:v>
                </c:pt>
                <c:pt idx="35">
                  <c:v>858</c:v>
                </c:pt>
                <c:pt idx="36">
                  <c:v>762</c:v>
                </c:pt>
                <c:pt idx="37">
                  <c:v>936</c:v>
                </c:pt>
                <c:pt idx="38">
                  <c:v>847</c:v>
                </c:pt>
                <c:pt idx="39">
                  <c:v>896</c:v>
                </c:pt>
                <c:pt idx="40">
                  <c:v>802</c:v>
                </c:pt>
                <c:pt idx="41">
                  <c:v>844</c:v>
                </c:pt>
                <c:pt idx="42">
                  <c:v>899</c:v>
                </c:pt>
                <c:pt idx="43">
                  <c:v>856</c:v>
                </c:pt>
                <c:pt idx="44">
                  <c:v>786</c:v>
                </c:pt>
                <c:pt idx="45">
                  <c:v>889</c:v>
                </c:pt>
                <c:pt idx="46">
                  <c:v>1068</c:v>
                </c:pt>
                <c:pt idx="47">
                  <c:v>998</c:v>
                </c:pt>
                <c:pt idx="48">
                  <c:v>1082</c:v>
                </c:pt>
                <c:pt idx="49">
                  <c:v>894</c:v>
                </c:pt>
                <c:pt idx="50">
                  <c:v>1298</c:v>
                </c:pt>
                <c:pt idx="51">
                  <c:v>1316</c:v>
                </c:pt>
                <c:pt idx="52">
                  <c:v>1076</c:v>
                </c:pt>
                <c:pt idx="53">
                  <c:v>1149</c:v>
                </c:pt>
                <c:pt idx="54">
                  <c:v>1079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44-484C-B319-9A03FB699051}"/>
            </c:ext>
          </c:extLst>
        </c:ser>
        <c:ser>
          <c:idx val="1"/>
          <c:order val="1"/>
          <c:tx>
            <c:strRef>
              <c:f>INFLUENZA!$AA$3</c:f>
              <c:strCache>
                <c:ptCount val="1"/>
                <c:pt idx="0">
                  <c:v>Samples Tested Maputo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multiLvlStrRef>
              <c:f>INFLUENZA!$X$4:$Y$58</c:f>
              <c:multiLvlStrCache>
                <c:ptCount val="55"/>
                <c:lvl>
                  <c:pt idx="0">
                    <c:v>WK47</c:v>
                  </c:pt>
                  <c:pt idx="1">
                    <c:v>WK48</c:v>
                  </c:pt>
                  <c:pt idx="2">
                    <c:v>WK49</c:v>
                  </c:pt>
                  <c:pt idx="3">
                    <c:v>WK50</c:v>
                  </c:pt>
                  <c:pt idx="4">
                    <c:v>WK51</c:v>
                  </c:pt>
                  <c:pt idx="5">
                    <c:v>WK52</c:v>
                  </c:pt>
                  <c:pt idx="6">
                    <c:v>Wk1</c:v>
                  </c:pt>
                  <c:pt idx="7">
                    <c:v>WK2</c:v>
                  </c:pt>
                  <c:pt idx="8">
                    <c:v>WK3</c:v>
                  </c:pt>
                  <c:pt idx="9">
                    <c:v>WK4</c:v>
                  </c:pt>
                  <c:pt idx="10">
                    <c:v>WK5</c:v>
                  </c:pt>
                  <c:pt idx="11">
                    <c:v>WK6</c:v>
                  </c:pt>
                  <c:pt idx="12">
                    <c:v>WK7</c:v>
                  </c:pt>
                  <c:pt idx="13">
                    <c:v>WK8</c:v>
                  </c:pt>
                  <c:pt idx="14">
                    <c:v>WK9</c:v>
                  </c:pt>
                  <c:pt idx="15">
                    <c:v>WK10</c:v>
                  </c:pt>
                  <c:pt idx="16">
                    <c:v>WK11</c:v>
                  </c:pt>
                  <c:pt idx="17">
                    <c:v>WK12</c:v>
                  </c:pt>
                  <c:pt idx="18">
                    <c:v>WK13</c:v>
                  </c:pt>
                  <c:pt idx="19">
                    <c:v>WK14</c:v>
                  </c:pt>
                  <c:pt idx="20">
                    <c:v>WK15</c:v>
                  </c:pt>
                  <c:pt idx="21">
                    <c:v>WK16</c:v>
                  </c:pt>
                  <c:pt idx="22">
                    <c:v>WK17</c:v>
                  </c:pt>
                  <c:pt idx="23">
                    <c:v>WK18</c:v>
                  </c:pt>
                  <c:pt idx="24">
                    <c:v>WK19</c:v>
                  </c:pt>
                  <c:pt idx="25">
                    <c:v>WK20</c:v>
                  </c:pt>
                  <c:pt idx="26">
                    <c:v>WK21</c:v>
                  </c:pt>
                  <c:pt idx="27">
                    <c:v>WK22</c:v>
                  </c:pt>
                  <c:pt idx="28">
                    <c:v>WK23</c:v>
                  </c:pt>
                  <c:pt idx="29">
                    <c:v>WK24</c:v>
                  </c:pt>
                  <c:pt idx="30">
                    <c:v>WK25</c:v>
                  </c:pt>
                  <c:pt idx="31">
                    <c:v>WK26</c:v>
                  </c:pt>
                  <c:pt idx="32">
                    <c:v>WK27</c:v>
                  </c:pt>
                  <c:pt idx="33">
                    <c:v>WK28</c:v>
                  </c:pt>
                  <c:pt idx="34">
                    <c:v>WK29</c:v>
                  </c:pt>
                  <c:pt idx="35">
                    <c:v>WK30</c:v>
                  </c:pt>
                  <c:pt idx="36">
                    <c:v>WK31</c:v>
                  </c:pt>
                  <c:pt idx="37">
                    <c:v>WK32</c:v>
                  </c:pt>
                  <c:pt idx="38">
                    <c:v>WK33</c:v>
                  </c:pt>
                  <c:pt idx="39">
                    <c:v>WK34</c:v>
                  </c:pt>
                  <c:pt idx="40">
                    <c:v>WK35</c:v>
                  </c:pt>
                  <c:pt idx="41">
                    <c:v>WK36</c:v>
                  </c:pt>
                  <c:pt idx="42">
                    <c:v>WK37</c:v>
                  </c:pt>
                  <c:pt idx="43">
                    <c:v>WK38</c:v>
                  </c:pt>
                  <c:pt idx="44">
                    <c:v>WK39</c:v>
                  </c:pt>
                  <c:pt idx="45">
                    <c:v>WK40</c:v>
                  </c:pt>
                  <c:pt idx="46">
                    <c:v>WK41</c:v>
                  </c:pt>
                  <c:pt idx="47">
                    <c:v>WK42</c:v>
                  </c:pt>
                  <c:pt idx="48">
                    <c:v>WK43</c:v>
                  </c:pt>
                  <c:pt idx="49">
                    <c:v>WK44</c:v>
                  </c:pt>
                  <c:pt idx="50">
                    <c:v>WK45</c:v>
                  </c:pt>
                  <c:pt idx="51">
                    <c:v>WK46</c:v>
                  </c:pt>
                  <c:pt idx="52">
                    <c:v>WK47</c:v>
                  </c:pt>
                  <c:pt idx="53">
                    <c:v>WK48</c:v>
                  </c:pt>
                  <c:pt idx="54">
                    <c:v>WK49</c:v>
                  </c:pt>
                </c:lvl>
                <c:lvl>
                  <c:pt idx="0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INFLUENZA!$AA$4:$AA$58</c:f>
              <c:numCache>
                <c:formatCode>General</c:formatCode>
                <c:ptCount val="55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1</c:v>
                </c:pt>
                <c:pt idx="4">
                  <c:v>14</c:v>
                </c:pt>
                <c:pt idx="5">
                  <c:v>0</c:v>
                </c:pt>
                <c:pt idx="6">
                  <c:v>2</c:v>
                </c:pt>
                <c:pt idx="7">
                  <c:v>11</c:v>
                </c:pt>
                <c:pt idx="8">
                  <c:v>6</c:v>
                </c:pt>
                <c:pt idx="9">
                  <c:v>0</c:v>
                </c:pt>
                <c:pt idx="10">
                  <c:v>6</c:v>
                </c:pt>
                <c:pt idx="11">
                  <c:v>21</c:v>
                </c:pt>
                <c:pt idx="12">
                  <c:v>14</c:v>
                </c:pt>
                <c:pt idx="13">
                  <c:v>17</c:v>
                </c:pt>
                <c:pt idx="14">
                  <c:v>26</c:v>
                </c:pt>
                <c:pt idx="15">
                  <c:v>26</c:v>
                </c:pt>
                <c:pt idx="16">
                  <c:v>25</c:v>
                </c:pt>
                <c:pt idx="17">
                  <c:v>12</c:v>
                </c:pt>
                <c:pt idx="18">
                  <c:v>30</c:v>
                </c:pt>
                <c:pt idx="19">
                  <c:v>18</c:v>
                </c:pt>
                <c:pt idx="20">
                  <c:v>13</c:v>
                </c:pt>
                <c:pt idx="21">
                  <c:v>20</c:v>
                </c:pt>
                <c:pt idx="22">
                  <c:v>2</c:v>
                </c:pt>
                <c:pt idx="23">
                  <c:v>23</c:v>
                </c:pt>
                <c:pt idx="24">
                  <c:v>26</c:v>
                </c:pt>
                <c:pt idx="25">
                  <c:v>25</c:v>
                </c:pt>
                <c:pt idx="26">
                  <c:v>23</c:v>
                </c:pt>
                <c:pt idx="27">
                  <c:v>25</c:v>
                </c:pt>
                <c:pt idx="28">
                  <c:v>25</c:v>
                </c:pt>
                <c:pt idx="29">
                  <c:v>25</c:v>
                </c:pt>
                <c:pt idx="30">
                  <c:v>10</c:v>
                </c:pt>
                <c:pt idx="31">
                  <c:v>54</c:v>
                </c:pt>
                <c:pt idx="32">
                  <c:v>62</c:v>
                </c:pt>
                <c:pt idx="33">
                  <c:v>62</c:v>
                </c:pt>
                <c:pt idx="34">
                  <c:v>62</c:v>
                </c:pt>
                <c:pt idx="35">
                  <c:v>33</c:v>
                </c:pt>
                <c:pt idx="36">
                  <c:v>48</c:v>
                </c:pt>
                <c:pt idx="37">
                  <c:v>41</c:v>
                </c:pt>
                <c:pt idx="38">
                  <c:v>47</c:v>
                </c:pt>
                <c:pt idx="39">
                  <c:v>40</c:v>
                </c:pt>
                <c:pt idx="40">
                  <c:v>46</c:v>
                </c:pt>
                <c:pt idx="41">
                  <c:v>43</c:v>
                </c:pt>
                <c:pt idx="42">
                  <c:v>39</c:v>
                </c:pt>
                <c:pt idx="43">
                  <c:v>40</c:v>
                </c:pt>
                <c:pt idx="44">
                  <c:v>45</c:v>
                </c:pt>
                <c:pt idx="45">
                  <c:v>35</c:v>
                </c:pt>
                <c:pt idx="46">
                  <c:v>39</c:v>
                </c:pt>
                <c:pt idx="47">
                  <c:v>42</c:v>
                </c:pt>
                <c:pt idx="48">
                  <c:v>36</c:v>
                </c:pt>
                <c:pt idx="49">
                  <c:v>42</c:v>
                </c:pt>
                <c:pt idx="50">
                  <c:v>40</c:v>
                </c:pt>
                <c:pt idx="51">
                  <c:v>49</c:v>
                </c:pt>
                <c:pt idx="52">
                  <c:v>37</c:v>
                </c:pt>
                <c:pt idx="53">
                  <c:v>33</c:v>
                </c:pt>
                <c:pt idx="54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D44-484C-B319-9A03FB699051}"/>
            </c:ext>
          </c:extLst>
        </c:ser>
        <c:ser>
          <c:idx val="2"/>
          <c:order val="2"/>
          <c:tx>
            <c:strRef>
              <c:f>INFLUENZA!$AB$3</c:f>
              <c:strCache>
                <c:ptCount val="1"/>
                <c:pt idx="0">
                  <c:v> Positive cases Maputo 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multiLvlStrRef>
              <c:f>INFLUENZA!$X$4:$Y$58</c:f>
              <c:multiLvlStrCache>
                <c:ptCount val="55"/>
                <c:lvl>
                  <c:pt idx="0">
                    <c:v>WK47</c:v>
                  </c:pt>
                  <c:pt idx="1">
                    <c:v>WK48</c:v>
                  </c:pt>
                  <c:pt idx="2">
                    <c:v>WK49</c:v>
                  </c:pt>
                  <c:pt idx="3">
                    <c:v>WK50</c:v>
                  </c:pt>
                  <c:pt idx="4">
                    <c:v>WK51</c:v>
                  </c:pt>
                  <c:pt idx="5">
                    <c:v>WK52</c:v>
                  </c:pt>
                  <c:pt idx="6">
                    <c:v>Wk1</c:v>
                  </c:pt>
                  <c:pt idx="7">
                    <c:v>WK2</c:v>
                  </c:pt>
                  <c:pt idx="8">
                    <c:v>WK3</c:v>
                  </c:pt>
                  <c:pt idx="9">
                    <c:v>WK4</c:v>
                  </c:pt>
                  <c:pt idx="10">
                    <c:v>WK5</c:v>
                  </c:pt>
                  <c:pt idx="11">
                    <c:v>WK6</c:v>
                  </c:pt>
                  <c:pt idx="12">
                    <c:v>WK7</c:v>
                  </c:pt>
                  <c:pt idx="13">
                    <c:v>WK8</c:v>
                  </c:pt>
                  <c:pt idx="14">
                    <c:v>WK9</c:v>
                  </c:pt>
                  <c:pt idx="15">
                    <c:v>WK10</c:v>
                  </c:pt>
                  <c:pt idx="16">
                    <c:v>WK11</c:v>
                  </c:pt>
                  <c:pt idx="17">
                    <c:v>WK12</c:v>
                  </c:pt>
                  <c:pt idx="18">
                    <c:v>WK13</c:v>
                  </c:pt>
                  <c:pt idx="19">
                    <c:v>WK14</c:v>
                  </c:pt>
                  <c:pt idx="20">
                    <c:v>WK15</c:v>
                  </c:pt>
                  <c:pt idx="21">
                    <c:v>WK16</c:v>
                  </c:pt>
                  <c:pt idx="22">
                    <c:v>WK17</c:v>
                  </c:pt>
                  <c:pt idx="23">
                    <c:v>WK18</c:v>
                  </c:pt>
                  <c:pt idx="24">
                    <c:v>WK19</c:v>
                  </c:pt>
                  <c:pt idx="25">
                    <c:v>WK20</c:v>
                  </c:pt>
                  <c:pt idx="26">
                    <c:v>WK21</c:v>
                  </c:pt>
                  <c:pt idx="27">
                    <c:v>WK22</c:v>
                  </c:pt>
                  <c:pt idx="28">
                    <c:v>WK23</c:v>
                  </c:pt>
                  <c:pt idx="29">
                    <c:v>WK24</c:v>
                  </c:pt>
                  <c:pt idx="30">
                    <c:v>WK25</c:v>
                  </c:pt>
                  <c:pt idx="31">
                    <c:v>WK26</c:v>
                  </c:pt>
                  <c:pt idx="32">
                    <c:v>WK27</c:v>
                  </c:pt>
                  <c:pt idx="33">
                    <c:v>WK28</c:v>
                  </c:pt>
                  <c:pt idx="34">
                    <c:v>WK29</c:v>
                  </c:pt>
                  <c:pt idx="35">
                    <c:v>WK30</c:v>
                  </c:pt>
                  <c:pt idx="36">
                    <c:v>WK31</c:v>
                  </c:pt>
                  <c:pt idx="37">
                    <c:v>WK32</c:v>
                  </c:pt>
                  <c:pt idx="38">
                    <c:v>WK33</c:v>
                  </c:pt>
                  <c:pt idx="39">
                    <c:v>WK34</c:v>
                  </c:pt>
                  <c:pt idx="40">
                    <c:v>WK35</c:v>
                  </c:pt>
                  <c:pt idx="41">
                    <c:v>WK36</c:v>
                  </c:pt>
                  <c:pt idx="42">
                    <c:v>WK37</c:v>
                  </c:pt>
                  <c:pt idx="43">
                    <c:v>WK38</c:v>
                  </c:pt>
                  <c:pt idx="44">
                    <c:v>WK39</c:v>
                  </c:pt>
                  <c:pt idx="45">
                    <c:v>WK40</c:v>
                  </c:pt>
                  <c:pt idx="46">
                    <c:v>WK41</c:v>
                  </c:pt>
                  <c:pt idx="47">
                    <c:v>WK42</c:v>
                  </c:pt>
                  <c:pt idx="48">
                    <c:v>WK43</c:v>
                  </c:pt>
                  <c:pt idx="49">
                    <c:v>WK44</c:v>
                  </c:pt>
                  <c:pt idx="50">
                    <c:v>WK45</c:v>
                  </c:pt>
                  <c:pt idx="51">
                    <c:v>WK46</c:v>
                  </c:pt>
                  <c:pt idx="52">
                    <c:v>WK47</c:v>
                  </c:pt>
                  <c:pt idx="53">
                    <c:v>WK48</c:v>
                  </c:pt>
                  <c:pt idx="54">
                    <c:v>WK49</c:v>
                  </c:pt>
                </c:lvl>
                <c:lvl>
                  <c:pt idx="0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INFLUENZA!$AB$4:$AB$58</c:f>
              <c:numCache>
                <c:formatCode>General</c:formatCode>
                <c:ptCount val="5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1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1</c:v>
                </c:pt>
                <c:pt idx="18">
                  <c:v>2</c:v>
                </c:pt>
                <c:pt idx="19">
                  <c:v>3</c:v>
                </c:pt>
                <c:pt idx="20">
                  <c:v>0</c:v>
                </c:pt>
                <c:pt idx="21">
                  <c:v>4</c:v>
                </c:pt>
                <c:pt idx="22">
                  <c:v>0</c:v>
                </c:pt>
                <c:pt idx="23">
                  <c:v>6</c:v>
                </c:pt>
                <c:pt idx="24">
                  <c:v>7</c:v>
                </c:pt>
                <c:pt idx="25">
                  <c:v>3</c:v>
                </c:pt>
                <c:pt idx="26">
                  <c:v>2</c:v>
                </c:pt>
                <c:pt idx="27">
                  <c:v>1</c:v>
                </c:pt>
                <c:pt idx="28">
                  <c:v>6</c:v>
                </c:pt>
                <c:pt idx="29">
                  <c:v>0</c:v>
                </c:pt>
                <c:pt idx="30">
                  <c:v>0</c:v>
                </c:pt>
                <c:pt idx="31">
                  <c:v>3</c:v>
                </c:pt>
                <c:pt idx="32">
                  <c:v>4</c:v>
                </c:pt>
                <c:pt idx="33">
                  <c:v>3</c:v>
                </c:pt>
                <c:pt idx="34">
                  <c:v>3</c:v>
                </c:pt>
                <c:pt idx="35">
                  <c:v>4</c:v>
                </c:pt>
                <c:pt idx="36">
                  <c:v>1</c:v>
                </c:pt>
                <c:pt idx="37">
                  <c:v>6</c:v>
                </c:pt>
                <c:pt idx="38">
                  <c:v>2</c:v>
                </c:pt>
                <c:pt idx="39">
                  <c:v>2</c:v>
                </c:pt>
                <c:pt idx="40">
                  <c:v>4</c:v>
                </c:pt>
                <c:pt idx="41">
                  <c:v>3</c:v>
                </c:pt>
                <c:pt idx="42">
                  <c:v>1</c:v>
                </c:pt>
                <c:pt idx="43">
                  <c:v>2</c:v>
                </c:pt>
                <c:pt idx="44">
                  <c:v>3</c:v>
                </c:pt>
                <c:pt idx="45">
                  <c:v>0</c:v>
                </c:pt>
                <c:pt idx="46">
                  <c:v>0</c:v>
                </c:pt>
                <c:pt idx="47">
                  <c:v>7</c:v>
                </c:pt>
                <c:pt idx="48">
                  <c:v>12</c:v>
                </c:pt>
                <c:pt idx="49">
                  <c:v>15</c:v>
                </c:pt>
                <c:pt idx="50">
                  <c:v>11</c:v>
                </c:pt>
                <c:pt idx="51">
                  <c:v>23</c:v>
                </c:pt>
                <c:pt idx="52">
                  <c:v>19</c:v>
                </c:pt>
                <c:pt idx="53">
                  <c:v>18</c:v>
                </c:pt>
                <c:pt idx="54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D44-484C-B319-9A03FB699051}"/>
            </c:ext>
          </c:extLst>
        </c:ser>
        <c:ser>
          <c:idx val="4"/>
          <c:order val="4"/>
          <c:tx>
            <c:strRef>
              <c:f>INFLUENZA!$AD$3</c:f>
              <c:strCache>
                <c:ptCount val="1"/>
                <c:pt idx="0">
                  <c:v> Cases reported at Comunidade Maputo 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multiLvlStrRef>
              <c:f>INFLUENZA!$X$4:$Y$58</c:f>
              <c:multiLvlStrCache>
                <c:ptCount val="55"/>
                <c:lvl>
                  <c:pt idx="0">
                    <c:v>WK47</c:v>
                  </c:pt>
                  <c:pt idx="1">
                    <c:v>WK48</c:v>
                  </c:pt>
                  <c:pt idx="2">
                    <c:v>WK49</c:v>
                  </c:pt>
                  <c:pt idx="3">
                    <c:v>WK50</c:v>
                  </c:pt>
                  <c:pt idx="4">
                    <c:v>WK51</c:v>
                  </c:pt>
                  <c:pt idx="5">
                    <c:v>WK52</c:v>
                  </c:pt>
                  <c:pt idx="6">
                    <c:v>Wk1</c:v>
                  </c:pt>
                  <c:pt idx="7">
                    <c:v>WK2</c:v>
                  </c:pt>
                  <c:pt idx="8">
                    <c:v>WK3</c:v>
                  </c:pt>
                  <c:pt idx="9">
                    <c:v>WK4</c:v>
                  </c:pt>
                  <c:pt idx="10">
                    <c:v>WK5</c:v>
                  </c:pt>
                  <c:pt idx="11">
                    <c:v>WK6</c:v>
                  </c:pt>
                  <c:pt idx="12">
                    <c:v>WK7</c:v>
                  </c:pt>
                  <c:pt idx="13">
                    <c:v>WK8</c:v>
                  </c:pt>
                  <c:pt idx="14">
                    <c:v>WK9</c:v>
                  </c:pt>
                  <c:pt idx="15">
                    <c:v>WK10</c:v>
                  </c:pt>
                  <c:pt idx="16">
                    <c:v>WK11</c:v>
                  </c:pt>
                  <c:pt idx="17">
                    <c:v>WK12</c:v>
                  </c:pt>
                  <c:pt idx="18">
                    <c:v>WK13</c:v>
                  </c:pt>
                  <c:pt idx="19">
                    <c:v>WK14</c:v>
                  </c:pt>
                  <c:pt idx="20">
                    <c:v>WK15</c:v>
                  </c:pt>
                  <c:pt idx="21">
                    <c:v>WK16</c:v>
                  </c:pt>
                  <c:pt idx="22">
                    <c:v>WK17</c:v>
                  </c:pt>
                  <c:pt idx="23">
                    <c:v>WK18</c:v>
                  </c:pt>
                  <c:pt idx="24">
                    <c:v>WK19</c:v>
                  </c:pt>
                  <c:pt idx="25">
                    <c:v>WK20</c:v>
                  </c:pt>
                  <c:pt idx="26">
                    <c:v>WK21</c:v>
                  </c:pt>
                  <c:pt idx="27">
                    <c:v>WK22</c:v>
                  </c:pt>
                  <c:pt idx="28">
                    <c:v>WK23</c:v>
                  </c:pt>
                  <c:pt idx="29">
                    <c:v>WK24</c:v>
                  </c:pt>
                  <c:pt idx="30">
                    <c:v>WK25</c:v>
                  </c:pt>
                  <c:pt idx="31">
                    <c:v>WK26</c:v>
                  </c:pt>
                  <c:pt idx="32">
                    <c:v>WK27</c:v>
                  </c:pt>
                  <c:pt idx="33">
                    <c:v>WK28</c:v>
                  </c:pt>
                  <c:pt idx="34">
                    <c:v>WK29</c:v>
                  </c:pt>
                  <c:pt idx="35">
                    <c:v>WK30</c:v>
                  </c:pt>
                  <c:pt idx="36">
                    <c:v>WK31</c:v>
                  </c:pt>
                  <c:pt idx="37">
                    <c:v>WK32</c:v>
                  </c:pt>
                  <c:pt idx="38">
                    <c:v>WK33</c:v>
                  </c:pt>
                  <c:pt idx="39">
                    <c:v>WK34</c:v>
                  </c:pt>
                  <c:pt idx="40">
                    <c:v>WK35</c:v>
                  </c:pt>
                  <c:pt idx="41">
                    <c:v>WK36</c:v>
                  </c:pt>
                  <c:pt idx="42">
                    <c:v>WK37</c:v>
                  </c:pt>
                  <c:pt idx="43">
                    <c:v>WK38</c:v>
                  </c:pt>
                  <c:pt idx="44">
                    <c:v>WK39</c:v>
                  </c:pt>
                  <c:pt idx="45">
                    <c:v>WK40</c:v>
                  </c:pt>
                  <c:pt idx="46">
                    <c:v>WK41</c:v>
                  </c:pt>
                  <c:pt idx="47">
                    <c:v>WK42</c:v>
                  </c:pt>
                  <c:pt idx="48">
                    <c:v>WK43</c:v>
                  </c:pt>
                  <c:pt idx="49">
                    <c:v>WK44</c:v>
                  </c:pt>
                  <c:pt idx="50">
                    <c:v>WK45</c:v>
                  </c:pt>
                  <c:pt idx="51">
                    <c:v>WK46</c:v>
                  </c:pt>
                  <c:pt idx="52">
                    <c:v>WK47</c:v>
                  </c:pt>
                  <c:pt idx="53">
                    <c:v>WK48</c:v>
                  </c:pt>
                  <c:pt idx="54">
                    <c:v>WK49</c:v>
                  </c:pt>
                </c:lvl>
                <c:lvl>
                  <c:pt idx="0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INFLUENZA!$AD$4:$AD$58</c:f>
              <c:numCache>
                <c:formatCode>General</c:formatCode>
                <c:ptCount val="55"/>
                <c:pt idx="13">
                  <c:v>20</c:v>
                </c:pt>
                <c:pt idx="14">
                  <c:v>27</c:v>
                </c:pt>
                <c:pt idx="15">
                  <c:v>17</c:v>
                </c:pt>
                <c:pt idx="16">
                  <c:v>20</c:v>
                </c:pt>
                <c:pt idx="17">
                  <c:v>24</c:v>
                </c:pt>
                <c:pt idx="18">
                  <c:v>34</c:v>
                </c:pt>
                <c:pt idx="19">
                  <c:v>19</c:v>
                </c:pt>
                <c:pt idx="20">
                  <c:v>42</c:v>
                </c:pt>
                <c:pt idx="21">
                  <c:v>30</c:v>
                </c:pt>
                <c:pt idx="22">
                  <c:v>41</c:v>
                </c:pt>
                <c:pt idx="23">
                  <c:v>26</c:v>
                </c:pt>
                <c:pt idx="24">
                  <c:v>0</c:v>
                </c:pt>
                <c:pt idx="25">
                  <c:v>36</c:v>
                </c:pt>
                <c:pt idx="26">
                  <c:v>55</c:v>
                </c:pt>
                <c:pt idx="27">
                  <c:v>31</c:v>
                </c:pt>
                <c:pt idx="28">
                  <c:v>38</c:v>
                </c:pt>
                <c:pt idx="29">
                  <c:v>47</c:v>
                </c:pt>
                <c:pt idx="30">
                  <c:v>39</c:v>
                </c:pt>
                <c:pt idx="31">
                  <c:v>64</c:v>
                </c:pt>
                <c:pt idx="32">
                  <c:v>77</c:v>
                </c:pt>
                <c:pt idx="33">
                  <c:v>89</c:v>
                </c:pt>
                <c:pt idx="34">
                  <c:v>95</c:v>
                </c:pt>
                <c:pt idx="35">
                  <c:v>116</c:v>
                </c:pt>
                <c:pt idx="36">
                  <c:v>158</c:v>
                </c:pt>
                <c:pt idx="37">
                  <c:v>138</c:v>
                </c:pt>
                <c:pt idx="38">
                  <c:v>139</c:v>
                </c:pt>
                <c:pt idx="39">
                  <c:v>126</c:v>
                </c:pt>
                <c:pt idx="40">
                  <c:v>100</c:v>
                </c:pt>
                <c:pt idx="41">
                  <c:v>99</c:v>
                </c:pt>
                <c:pt idx="42">
                  <c:v>67</c:v>
                </c:pt>
                <c:pt idx="43">
                  <c:v>96</c:v>
                </c:pt>
                <c:pt idx="44">
                  <c:v>71</c:v>
                </c:pt>
                <c:pt idx="45">
                  <c:v>69</c:v>
                </c:pt>
                <c:pt idx="46">
                  <c:v>86</c:v>
                </c:pt>
                <c:pt idx="47">
                  <c:v>81</c:v>
                </c:pt>
                <c:pt idx="48">
                  <c:v>68</c:v>
                </c:pt>
                <c:pt idx="49">
                  <c:v>54</c:v>
                </c:pt>
                <c:pt idx="50">
                  <c:v>61</c:v>
                </c:pt>
                <c:pt idx="51">
                  <c:v>42</c:v>
                </c:pt>
                <c:pt idx="52">
                  <c:v>59</c:v>
                </c:pt>
                <c:pt idx="53">
                  <c:v>30</c:v>
                </c:pt>
                <c:pt idx="54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D44-484C-B319-9A03FB699051}"/>
            </c:ext>
          </c:extLst>
        </c:ser>
        <c:ser>
          <c:idx val="5"/>
          <c:order val="5"/>
          <c:tx>
            <c:strRef>
              <c:f>INFLUENZA!$AE$3</c:f>
              <c:strCache>
                <c:ptCount val="1"/>
                <c:pt idx="0">
                  <c:v>Samples Tested Comunidade Maputo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multiLvlStrRef>
              <c:f>INFLUENZA!$X$4:$Y$58</c:f>
              <c:multiLvlStrCache>
                <c:ptCount val="55"/>
                <c:lvl>
                  <c:pt idx="0">
                    <c:v>WK47</c:v>
                  </c:pt>
                  <c:pt idx="1">
                    <c:v>WK48</c:v>
                  </c:pt>
                  <c:pt idx="2">
                    <c:v>WK49</c:v>
                  </c:pt>
                  <c:pt idx="3">
                    <c:v>WK50</c:v>
                  </c:pt>
                  <c:pt idx="4">
                    <c:v>WK51</c:v>
                  </c:pt>
                  <c:pt idx="5">
                    <c:v>WK52</c:v>
                  </c:pt>
                  <c:pt idx="6">
                    <c:v>Wk1</c:v>
                  </c:pt>
                  <c:pt idx="7">
                    <c:v>WK2</c:v>
                  </c:pt>
                  <c:pt idx="8">
                    <c:v>WK3</c:v>
                  </c:pt>
                  <c:pt idx="9">
                    <c:v>WK4</c:v>
                  </c:pt>
                  <c:pt idx="10">
                    <c:v>WK5</c:v>
                  </c:pt>
                  <c:pt idx="11">
                    <c:v>WK6</c:v>
                  </c:pt>
                  <c:pt idx="12">
                    <c:v>WK7</c:v>
                  </c:pt>
                  <c:pt idx="13">
                    <c:v>WK8</c:v>
                  </c:pt>
                  <c:pt idx="14">
                    <c:v>WK9</c:v>
                  </c:pt>
                  <c:pt idx="15">
                    <c:v>WK10</c:v>
                  </c:pt>
                  <c:pt idx="16">
                    <c:v>WK11</c:v>
                  </c:pt>
                  <c:pt idx="17">
                    <c:v>WK12</c:v>
                  </c:pt>
                  <c:pt idx="18">
                    <c:v>WK13</c:v>
                  </c:pt>
                  <c:pt idx="19">
                    <c:v>WK14</c:v>
                  </c:pt>
                  <c:pt idx="20">
                    <c:v>WK15</c:v>
                  </c:pt>
                  <c:pt idx="21">
                    <c:v>WK16</c:v>
                  </c:pt>
                  <c:pt idx="22">
                    <c:v>WK17</c:v>
                  </c:pt>
                  <c:pt idx="23">
                    <c:v>WK18</c:v>
                  </c:pt>
                  <c:pt idx="24">
                    <c:v>WK19</c:v>
                  </c:pt>
                  <c:pt idx="25">
                    <c:v>WK20</c:v>
                  </c:pt>
                  <c:pt idx="26">
                    <c:v>WK21</c:v>
                  </c:pt>
                  <c:pt idx="27">
                    <c:v>WK22</c:v>
                  </c:pt>
                  <c:pt idx="28">
                    <c:v>WK23</c:v>
                  </c:pt>
                  <c:pt idx="29">
                    <c:v>WK24</c:v>
                  </c:pt>
                  <c:pt idx="30">
                    <c:v>WK25</c:v>
                  </c:pt>
                  <c:pt idx="31">
                    <c:v>WK26</c:v>
                  </c:pt>
                  <c:pt idx="32">
                    <c:v>WK27</c:v>
                  </c:pt>
                  <c:pt idx="33">
                    <c:v>WK28</c:v>
                  </c:pt>
                  <c:pt idx="34">
                    <c:v>WK29</c:v>
                  </c:pt>
                  <c:pt idx="35">
                    <c:v>WK30</c:v>
                  </c:pt>
                  <c:pt idx="36">
                    <c:v>WK31</c:v>
                  </c:pt>
                  <c:pt idx="37">
                    <c:v>WK32</c:v>
                  </c:pt>
                  <c:pt idx="38">
                    <c:v>WK33</c:v>
                  </c:pt>
                  <c:pt idx="39">
                    <c:v>WK34</c:v>
                  </c:pt>
                  <c:pt idx="40">
                    <c:v>WK35</c:v>
                  </c:pt>
                  <c:pt idx="41">
                    <c:v>WK36</c:v>
                  </c:pt>
                  <c:pt idx="42">
                    <c:v>WK37</c:v>
                  </c:pt>
                  <c:pt idx="43">
                    <c:v>WK38</c:v>
                  </c:pt>
                  <c:pt idx="44">
                    <c:v>WK39</c:v>
                  </c:pt>
                  <c:pt idx="45">
                    <c:v>WK40</c:v>
                  </c:pt>
                  <c:pt idx="46">
                    <c:v>WK41</c:v>
                  </c:pt>
                  <c:pt idx="47">
                    <c:v>WK42</c:v>
                  </c:pt>
                  <c:pt idx="48">
                    <c:v>WK43</c:v>
                  </c:pt>
                  <c:pt idx="49">
                    <c:v>WK44</c:v>
                  </c:pt>
                  <c:pt idx="50">
                    <c:v>WK45</c:v>
                  </c:pt>
                  <c:pt idx="51">
                    <c:v>WK46</c:v>
                  </c:pt>
                  <c:pt idx="52">
                    <c:v>WK47</c:v>
                  </c:pt>
                  <c:pt idx="53">
                    <c:v>WK48</c:v>
                  </c:pt>
                  <c:pt idx="54">
                    <c:v>WK49</c:v>
                  </c:pt>
                </c:lvl>
                <c:lvl>
                  <c:pt idx="0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INFLUENZA!$AE$4:$AE$58</c:f>
              <c:numCache>
                <c:formatCode>General</c:formatCode>
                <c:ptCount val="55"/>
                <c:pt idx="13">
                  <c:v>5</c:v>
                </c:pt>
                <c:pt idx="14">
                  <c:v>21</c:v>
                </c:pt>
                <c:pt idx="15">
                  <c:v>14</c:v>
                </c:pt>
                <c:pt idx="16">
                  <c:v>19</c:v>
                </c:pt>
                <c:pt idx="17">
                  <c:v>11</c:v>
                </c:pt>
                <c:pt idx="18">
                  <c:v>22</c:v>
                </c:pt>
                <c:pt idx="19">
                  <c:v>15</c:v>
                </c:pt>
                <c:pt idx="20">
                  <c:v>18</c:v>
                </c:pt>
                <c:pt idx="21">
                  <c:v>23</c:v>
                </c:pt>
                <c:pt idx="22">
                  <c:v>30</c:v>
                </c:pt>
                <c:pt idx="23">
                  <c:v>12</c:v>
                </c:pt>
                <c:pt idx="24">
                  <c:v>0</c:v>
                </c:pt>
                <c:pt idx="25">
                  <c:v>14</c:v>
                </c:pt>
                <c:pt idx="26">
                  <c:v>29</c:v>
                </c:pt>
                <c:pt idx="27">
                  <c:v>23</c:v>
                </c:pt>
                <c:pt idx="28">
                  <c:v>24</c:v>
                </c:pt>
                <c:pt idx="29">
                  <c:v>24</c:v>
                </c:pt>
                <c:pt idx="30">
                  <c:v>24</c:v>
                </c:pt>
                <c:pt idx="31">
                  <c:v>19</c:v>
                </c:pt>
                <c:pt idx="32">
                  <c:v>14</c:v>
                </c:pt>
                <c:pt idx="33">
                  <c:v>18</c:v>
                </c:pt>
                <c:pt idx="34">
                  <c:v>31</c:v>
                </c:pt>
                <c:pt idx="35">
                  <c:v>47</c:v>
                </c:pt>
                <c:pt idx="36">
                  <c:v>30</c:v>
                </c:pt>
                <c:pt idx="37">
                  <c:v>42</c:v>
                </c:pt>
                <c:pt idx="38">
                  <c:v>55</c:v>
                </c:pt>
                <c:pt idx="39">
                  <c:v>56</c:v>
                </c:pt>
                <c:pt idx="40">
                  <c:v>48</c:v>
                </c:pt>
                <c:pt idx="41">
                  <c:v>39</c:v>
                </c:pt>
                <c:pt idx="42">
                  <c:v>30</c:v>
                </c:pt>
                <c:pt idx="43">
                  <c:v>52</c:v>
                </c:pt>
                <c:pt idx="44">
                  <c:v>40</c:v>
                </c:pt>
                <c:pt idx="45">
                  <c:v>46</c:v>
                </c:pt>
                <c:pt idx="46">
                  <c:v>57</c:v>
                </c:pt>
                <c:pt idx="47">
                  <c:v>35</c:v>
                </c:pt>
                <c:pt idx="48">
                  <c:v>30</c:v>
                </c:pt>
                <c:pt idx="49">
                  <c:v>20</c:v>
                </c:pt>
                <c:pt idx="50">
                  <c:v>34</c:v>
                </c:pt>
                <c:pt idx="51">
                  <c:v>30</c:v>
                </c:pt>
                <c:pt idx="52">
                  <c:v>18</c:v>
                </c:pt>
                <c:pt idx="53">
                  <c:v>30</c:v>
                </c:pt>
                <c:pt idx="54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D44-484C-B319-9A03FB699051}"/>
            </c:ext>
          </c:extLst>
        </c:ser>
        <c:ser>
          <c:idx val="6"/>
          <c:order val="6"/>
          <c:tx>
            <c:strRef>
              <c:f>INFLUENZA!$AF$3</c:f>
              <c:strCache>
                <c:ptCount val="1"/>
                <c:pt idx="0">
                  <c:v>Positive cases Comunidade Maputo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multiLvlStrRef>
              <c:f>INFLUENZA!$X$4:$Y$58</c:f>
              <c:multiLvlStrCache>
                <c:ptCount val="55"/>
                <c:lvl>
                  <c:pt idx="0">
                    <c:v>WK47</c:v>
                  </c:pt>
                  <c:pt idx="1">
                    <c:v>WK48</c:v>
                  </c:pt>
                  <c:pt idx="2">
                    <c:v>WK49</c:v>
                  </c:pt>
                  <c:pt idx="3">
                    <c:v>WK50</c:v>
                  </c:pt>
                  <c:pt idx="4">
                    <c:v>WK51</c:v>
                  </c:pt>
                  <c:pt idx="5">
                    <c:v>WK52</c:v>
                  </c:pt>
                  <c:pt idx="6">
                    <c:v>Wk1</c:v>
                  </c:pt>
                  <c:pt idx="7">
                    <c:v>WK2</c:v>
                  </c:pt>
                  <c:pt idx="8">
                    <c:v>WK3</c:v>
                  </c:pt>
                  <c:pt idx="9">
                    <c:v>WK4</c:v>
                  </c:pt>
                  <c:pt idx="10">
                    <c:v>WK5</c:v>
                  </c:pt>
                  <c:pt idx="11">
                    <c:v>WK6</c:v>
                  </c:pt>
                  <c:pt idx="12">
                    <c:v>WK7</c:v>
                  </c:pt>
                  <c:pt idx="13">
                    <c:v>WK8</c:v>
                  </c:pt>
                  <c:pt idx="14">
                    <c:v>WK9</c:v>
                  </c:pt>
                  <c:pt idx="15">
                    <c:v>WK10</c:v>
                  </c:pt>
                  <c:pt idx="16">
                    <c:v>WK11</c:v>
                  </c:pt>
                  <c:pt idx="17">
                    <c:v>WK12</c:v>
                  </c:pt>
                  <c:pt idx="18">
                    <c:v>WK13</c:v>
                  </c:pt>
                  <c:pt idx="19">
                    <c:v>WK14</c:v>
                  </c:pt>
                  <c:pt idx="20">
                    <c:v>WK15</c:v>
                  </c:pt>
                  <c:pt idx="21">
                    <c:v>WK16</c:v>
                  </c:pt>
                  <c:pt idx="22">
                    <c:v>WK17</c:v>
                  </c:pt>
                  <c:pt idx="23">
                    <c:v>WK18</c:v>
                  </c:pt>
                  <c:pt idx="24">
                    <c:v>WK19</c:v>
                  </c:pt>
                  <c:pt idx="25">
                    <c:v>WK20</c:v>
                  </c:pt>
                  <c:pt idx="26">
                    <c:v>WK21</c:v>
                  </c:pt>
                  <c:pt idx="27">
                    <c:v>WK22</c:v>
                  </c:pt>
                  <c:pt idx="28">
                    <c:v>WK23</c:v>
                  </c:pt>
                  <c:pt idx="29">
                    <c:v>WK24</c:v>
                  </c:pt>
                  <c:pt idx="30">
                    <c:v>WK25</c:v>
                  </c:pt>
                  <c:pt idx="31">
                    <c:v>WK26</c:v>
                  </c:pt>
                  <c:pt idx="32">
                    <c:v>WK27</c:v>
                  </c:pt>
                  <c:pt idx="33">
                    <c:v>WK28</c:v>
                  </c:pt>
                  <c:pt idx="34">
                    <c:v>WK29</c:v>
                  </c:pt>
                  <c:pt idx="35">
                    <c:v>WK30</c:v>
                  </c:pt>
                  <c:pt idx="36">
                    <c:v>WK31</c:v>
                  </c:pt>
                  <c:pt idx="37">
                    <c:v>WK32</c:v>
                  </c:pt>
                  <c:pt idx="38">
                    <c:v>WK33</c:v>
                  </c:pt>
                  <c:pt idx="39">
                    <c:v>WK34</c:v>
                  </c:pt>
                  <c:pt idx="40">
                    <c:v>WK35</c:v>
                  </c:pt>
                  <c:pt idx="41">
                    <c:v>WK36</c:v>
                  </c:pt>
                  <c:pt idx="42">
                    <c:v>WK37</c:v>
                  </c:pt>
                  <c:pt idx="43">
                    <c:v>WK38</c:v>
                  </c:pt>
                  <c:pt idx="44">
                    <c:v>WK39</c:v>
                  </c:pt>
                  <c:pt idx="45">
                    <c:v>WK40</c:v>
                  </c:pt>
                  <c:pt idx="46">
                    <c:v>WK41</c:v>
                  </c:pt>
                  <c:pt idx="47">
                    <c:v>WK42</c:v>
                  </c:pt>
                  <c:pt idx="48">
                    <c:v>WK43</c:v>
                  </c:pt>
                  <c:pt idx="49">
                    <c:v>WK44</c:v>
                  </c:pt>
                  <c:pt idx="50">
                    <c:v>WK45</c:v>
                  </c:pt>
                  <c:pt idx="51">
                    <c:v>WK46</c:v>
                  </c:pt>
                  <c:pt idx="52">
                    <c:v>WK47</c:v>
                  </c:pt>
                  <c:pt idx="53">
                    <c:v>WK48</c:v>
                  </c:pt>
                  <c:pt idx="54">
                    <c:v>WK49</c:v>
                  </c:pt>
                </c:lvl>
                <c:lvl>
                  <c:pt idx="0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INFLUENZA!$AF$4:$AF$58</c:f>
              <c:numCache>
                <c:formatCode>General</c:formatCode>
                <c:ptCount val="55"/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1</c:v>
                </c:pt>
                <c:pt idx="28">
                  <c:v>2</c:v>
                </c:pt>
                <c:pt idx="29">
                  <c:v>2</c:v>
                </c:pt>
                <c:pt idx="30">
                  <c:v>0</c:v>
                </c:pt>
                <c:pt idx="31">
                  <c:v>1</c:v>
                </c:pt>
                <c:pt idx="32">
                  <c:v>0</c:v>
                </c:pt>
                <c:pt idx="33">
                  <c:v>1</c:v>
                </c:pt>
                <c:pt idx="34">
                  <c:v>4</c:v>
                </c:pt>
                <c:pt idx="35">
                  <c:v>4</c:v>
                </c:pt>
                <c:pt idx="3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D44-484C-B319-9A03FB6990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45501120"/>
        <c:axId val="845501600"/>
      </c:barChart>
      <c:lineChart>
        <c:grouping val="standard"/>
        <c:varyColors val="0"/>
        <c:ser>
          <c:idx val="3"/>
          <c:order val="3"/>
          <c:tx>
            <c:strRef>
              <c:f>INFLUENZA!$AC$3</c:f>
              <c:strCache>
                <c:ptCount val="1"/>
                <c:pt idx="0">
                  <c:v># Positivity Maputo HF</c:v>
                </c:pt>
              </c:strCache>
            </c:strRef>
          </c:tx>
          <c:spPr>
            <a:ln w="28575" cap="rnd">
              <a:solidFill>
                <a:srgbClr val="FF0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multiLvlStrRef>
              <c:f>INFLUENZA!$X$4:$Y$58</c:f>
              <c:multiLvlStrCache>
                <c:ptCount val="55"/>
                <c:lvl>
                  <c:pt idx="0">
                    <c:v>WK47</c:v>
                  </c:pt>
                  <c:pt idx="1">
                    <c:v>WK48</c:v>
                  </c:pt>
                  <c:pt idx="2">
                    <c:v>WK49</c:v>
                  </c:pt>
                  <c:pt idx="3">
                    <c:v>WK50</c:v>
                  </c:pt>
                  <c:pt idx="4">
                    <c:v>WK51</c:v>
                  </c:pt>
                  <c:pt idx="5">
                    <c:v>WK52</c:v>
                  </c:pt>
                  <c:pt idx="6">
                    <c:v>Wk1</c:v>
                  </c:pt>
                  <c:pt idx="7">
                    <c:v>WK2</c:v>
                  </c:pt>
                  <c:pt idx="8">
                    <c:v>WK3</c:v>
                  </c:pt>
                  <c:pt idx="9">
                    <c:v>WK4</c:v>
                  </c:pt>
                  <c:pt idx="10">
                    <c:v>WK5</c:v>
                  </c:pt>
                  <c:pt idx="11">
                    <c:v>WK6</c:v>
                  </c:pt>
                  <c:pt idx="12">
                    <c:v>WK7</c:v>
                  </c:pt>
                  <c:pt idx="13">
                    <c:v>WK8</c:v>
                  </c:pt>
                  <c:pt idx="14">
                    <c:v>WK9</c:v>
                  </c:pt>
                  <c:pt idx="15">
                    <c:v>WK10</c:v>
                  </c:pt>
                  <c:pt idx="16">
                    <c:v>WK11</c:v>
                  </c:pt>
                  <c:pt idx="17">
                    <c:v>WK12</c:v>
                  </c:pt>
                  <c:pt idx="18">
                    <c:v>WK13</c:v>
                  </c:pt>
                  <c:pt idx="19">
                    <c:v>WK14</c:v>
                  </c:pt>
                  <c:pt idx="20">
                    <c:v>WK15</c:v>
                  </c:pt>
                  <c:pt idx="21">
                    <c:v>WK16</c:v>
                  </c:pt>
                  <c:pt idx="22">
                    <c:v>WK17</c:v>
                  </c:pt>
                  <c:pt idx="23">
                    <c:v>WK18</c:v>
                  </c:pt>
                  <c:pt idx="24">
                    <c:v>WK19</c:v>
                  </c:pt>
                  <c:pt idx="25">
                    <c:v>WK20</c:v>
                  </c:pt>
                  <c:pt idx="26">
                    <c:v>WK21</c:v>
                  </c:pt>
                  <c:pt idx="27">
                    <c:v>WK22</c:v>
                  </c:pt>
                  <c:pt idx="28">
                    <c:v>WK23</c:v>
                  </c:pt>
                  <c:pt idx="29">
                    <c:v>WK24</c:v>
                  </c:pt>
                  <c:pt idx="30">
                    <c:v>WK25</c:v>
                  </c:pt>
                  <c:pt idx="31">
                    <c:v>WK26</c:v>
                  </c:pt>
                  <c:pt idx="32">
                    <c:v>WK27</c:v>
                  </c:pt>
                  <c:pt idx="33">
                    <c:v>WK28</c:v>
                  </c:pt>
                  <c:pt idx="34">
                    <c:v>WK29</c:v>
                  </c:pt>
                  <c:pt idx="35">
                    <c:v>WK30</c:v>
                  </c:pt>
                  <c:pt idx="36">
                    <c:v>WK31</c:v>
                  </c:pt>
                  <c:pt idx="37">
                    <c:v>WK32</c:v>
                  </c:pt>
                  <c:pt idx="38">
                    <c:v>WK33</c:v>
                  </c:pt>
                  <c:pt idx="39">
                    <c:v>WK34</c:v>
                  </c:pt>
                  <c:pt idx="40">
                    <c:v>WK35</c:v>
                  </c:pt>
                  <c:pt idx="41">
                    <c:v>WK36</c:v>
                  </c:pt>
                  <c:pt idx="42">
                    <c:v>WK37</c:v>
                  </c:pt>
                  <c:pt idx="43">
                    <c:v>WK38</c:v>
                  </c:pt>
                  <c:pt idx="44">
                    <c:v>WK39</c:v>
                  </c:pt>
                  <c:pt idx="45">
                    <c:v>WK40</c:v>
                  </c:pt>
                  <c:pt idx="46">
                    <c:v>WK41</c:v>
                  </c:pt>
                  <c:pt idx="47">
                    <c:v>WK42</c:v>
                  </c:pt>
                  <c:pt idx="48">
                    <c:v>WK43</c:v>
                  </c:pt>
                  <c:pt idx="49">
                    <c:v>WK44</c:v>
                  </c:pt>
                  <c:pt idx="50">
                    <c:v>WK45</c:v>
                  </c:pt>
                  <c:pt idx="51">
                    <c:v>WK46</c:v>
                  </c:pt>
                  <c:pt idx="52">
                    <c:v>WK47</c:v>
                  </c:pt>
                  <c:pt idx="53">
                    <c:v>WK48</c:v>
                  </c:pt>
                  <c:pt idx="54">
                    <c:v>WK49</c:v>
                  </c:pt>
                </c:lvl>
                <c:lvl>
                  <c:pt idx="0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INFLUENZA!$AC$4:$AC$58</c:f>
              <c:numCache>
                <c:formatCode>0%</c:formatCode>
                <c:ptCount val="5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7.1428571428571425E-2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8.3333333333333329E-2</c:v>
                </c:pt>
                <c:pt idx="18">
                  <c:v>6.6666666666666666E-2</c:v>
                </c:pt>
                <c:pt idx="19">
                  <c:v>0.16666666666666666</c:v>
                </c:pt>
                <c:pt idx="20">
                  <c:v>0</c:v>
                </c:pt>
                <c:pt idx="21">
                  <c:v>0.2</c:v>
                </c:pt>
                <c:pt idx="22">
                  <c:v>0</c:v>
                </c:pt>
                <c:pt idx="23">
                  <c:v>0.2608695652173913</c:v>
                </c:pt>
                <c:pt idx="24">
                  <c:v>0.26923076923076922</c:v>
                </c:pt>
                <c:pt idx="25">
                  <c:v>0.12</c:v>
                </c:pt>
                <c:pt idx="26">
                  <c:v>8.6956521739130432E-2</c:v>
                </c:pt>
                <c:pt idx="27">
                  <c:v>0.04</c:v>
                </c:pt>
                <c:pt idx="28">
                  <c:v>0.24</c:v>
                </c:pt>
                <c:pt idx="29">
                  <c:v>0</c:v>
                </c:pt>
                <c:pt idx="30">
                  <c:v>0</c:v>
                </c:pt>
                <c:pt idx="31">
                  <c:v>5.5555555555555552E-2</c:v>
                </c:pt>
                <c:pt idx="32">
                  <c:v>6.4516129032258063E-2</c:v>
                </c:pt>
                <c:pt idx="33">
                  <c:v>4.8387096774193547E-2</c:v>
                </c:pt>
                <c:pt idx="34">
                  <c:v>4.8387096774193547E-2</c:v>
                </c:pt>
                <c:pt idx="35">
                  <c:v>0.12121212121212122</c:v>
                </c:pt>
                <c:pt idx="36">
                  <c:v>2.0833333333333332E-2</c:v>
                </c:pt>
                <c:pt idx="37">
                  <c:v>0.14634146341463414</c:v>
                </c:pt>
                <c:pt idx="38">
                  <c:v>4.2553191489361701E-2</c:v>
                </c:pt>
                <c:pt idx="39">
                  <c:v>0.05</c:v>
                </c:pt>
                <c:pt idx="40">
                  <c:v>8.6956521739130432E-2</c:v>
                </c:pt>
                <c:pt idx="41">
                  <c:v>6.9767441860465115E-2</c:v>
                </c:pt>
                <c:pt idx="42">
                  <c:v>2.564102564102564E-2</c:v>
                </c:pt>
                <c:pt idx="43">
                  <c:v>0.05</c:v>
                </c:pt>
                <c:pt idx="44">
                  <c:v>6.6666666666666666E-2</c:v>
                </c:pt>
                <c:pt idx="45">
                  <c:v>0</c:v>
                </c:pt>
                <c:pt idx="46">
                  <c:v>0</c:v>
                </c:pt>
                <c:pt idx="47">
                  <c:v>0.16666666666666666</c:v>
                </c:pt>
                <c:pt idx="48">
                  <c:v>0.33333333333333331</c:v>
                </c:pt>
                <c:pt idx="49">
                  <c:v>0.35714285714285715</c:v>
                </c:pt>
                <c:pt idx="50">
                  <c:v>0.27500000000000002</c:v>
                </c:pt>
                <c:pt idx="51">
                  <c:v>0.46938775510204084</c:v>
                </c:pt>
                <c:pt idx="52">
                  <c:v>0.51351351351351349</c:v>
                </c:pt>
                <c:pt idx="53">
                  <c:v>0.54545454545454541</c:v>
                </c:pt>
                <c:pt idx="54">
                  <c:v>0.33333333333333331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D44-484C-B319-9A03FB699051}"/>
            </c:ext>
          </c:extLst>
        </c:ser>
        <c:ser>
          <c:idx val="7"/>
          <c:order val="7"/>
          <c:tx>
            <c:strRef>
              <c:f>INFLUENZA!$AG$3</c:f>
              <c:strCache>
                <c:ptCount val="1"/>
                <c:pt idx="0">
                  <c:v># Positivity Comunidade Maputo</c:v>
                </c:pt>
              </c:strCache>
            </c:strRef>
          </c:tx>
          <c:spPr>
            <a:ln w="28575" cap="rnd">
              <a:solidFill>
                <a:srgbClr val="FFC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multiLvlStrRef>
              <c:f>INFLUENZA!$X$4:$Y$58</c:f>
              <c:multiLvlStrCache>
                <c:ptCount val="55"/>
                <c:lvl>
                  <c:pt idx="0">
                    <c:v>WK47</c:v>
                  </c:pt>
                  <c:pt idx="1">
                    <c:v>WK48</c:v>
                  </c:pt>
                  <c:pt idx="2">
                    <c:v>WK49</c:v>
                  </c:pt>
                  <c:pt idx="3">
                    <c:v>WK50</c:v>
                  </c:pt>
                  <c:pt idx="4">
                    <c:v>WK51</c:v>
                  </c:pt>
                  <c:pt idx="5">
                    <c:v>WK52</c:v>
                  </c:pt>
                  <c:pt idx="6">
                    <c:v>Wk1</c:v>
                  </c:pt>
                  <c:pt idx="7">
                    <c:v>WK2</c:v>
                  </c:pt>
                  <c:pt idx="8">
                    <c:v>WK3</c:v>
                  </c:pt>
                  <c:pt idx="9">
                    <c:v>WK4</c:v>
                  </c:pt>
                  <c:pt idx="10">
                    <c:v>WK5</c:v>
                  </c:pt>
                  <c:pt idx="11">
                    <c:v>WK6</c:v>
                  </c:pt>
                  <c:pt idx="12">
                    <c:v>WK7</c:v>
                  </c:pt>
                  <c:pt idx="13">
                    <c:v>WK8</c:v>
                  </c:pt>
                  <c:pt idx="14">
                    <c:v>WK9</c:v>
                  </c:pt>
                  <c:pt idx="15">
                    <c:v>WK10</c:v>
                  </c:pt>
                  <c:pt idx="16">
                    <c:v>WK11</c:v>
                  </c:pt>
                  <c:pt idx="17">
                    <c:v>WK12</c:v>
                  </c:pt>
                  <c:pt idx="18">
                    <c:v>WK13</c:v>
                  </c:pt>
                  <c:pt idx="19">
                    <c:v>WK14</c:v>
                  </c:pt>
                  <c:pt idx="20">
                    <c:v>WK15</c:v>
                  </c:pt>
                  <c:pt idx="21">
                    <c:v>WK16</c:v>
                  </c:pt>
                  <c:pt idx="22">
                    <c:v>WK17</c:v>
                  </c:pt>
                  <c:pt idx="23">
                    <c:v>WK18</c:v>
                  </c:pt>
                  <c:pt idx="24">
                    <c:v>WK19</c:v>
                  </c:pt>
                  <c:pt idx="25">
                    <c:v>WK20</c:v>
                  </c:pt>
                  <c:pt idx="26">
                    <c:v>WK21</c:v>
                  </c:pt>
                  <c:pt idx="27">
                    <c:v>WK22</c:v>
                  </c:pt>
                  <c:pt idx="28">
                    <c:v>WK23</c:v>
                  </c:pt>
                  <c:pt idx="29">
                    <c:v>WK24</c:v>
                  </c:pt>
                  <c:pt idx="30">
                    <c:v>WK25</c:v>
                  </c:pt>
                  <c:pt idx="31">
                    <c:v>WK26</c:v>
                  </c:pt>
                  <c:pt idx="32">
                    <c:v>WK27</c:v>
                  </c:pt>
                  <c:pt idx="33">
                    <c:v>WK28</c:v>
                  </c:pt>
                  <c:pt idx="34">
                    <c:v>WK29</c:v>
                  </c:pt>
                  <c:pt idx="35">
                    <c:v>WK30</c:v>
                  </c:pt>
                  <c:pt idx="36">
                    <c:v>WK31</c:v>
                  </c:pt>
                  <c:pt idx="37">
                    <c:v>WK32</c:v>
                  </c:pt>
                  <c:pt idx="38">
                    <c:v>WK33</c:v>
                  </c:pt>
                  <c:pt idx="39">
                    <c:v>WK34</c:v>
                  </c:pt>
                  <c:pt idx="40">
                    <c:v>WK35</c:v>
                  </c:pt>
                  <c:pt idx="41">
                    <c:v>WK36</c:v>
                  </c:pt>
                  <c:pt idx="42">
                    <c:v>WK37</c:v>
                  </c:pt>
                  <c:pt idx="43">
                    <c:v>WK38</c:v>
                  </c:pt>
                  <c:pt idx="44">
                    <c:v>WK39</c:v>
                  </c:pt>
                  <c:pt idx="45">
                    <c:v>WK40</c:v>
                  </c:pt>
                  <c:pt idx="46">
                    <c:v>WK41</c:v>
                  </c:pt>
                  <c:pt idx="47">
                    <c:v>WK42</c:v>
                  </c:pt>
                  <c:pt idx="48">
                    <c:v>WK43</c:v>
                  </c:pt>
                  <c:pt idx="49">
                    <c:v>WK44</c:v>
                  </c:pt>
                  <c:pt idx="50">
                    <c:v>WK45</c:v>
                  </c:pt>
                  <c:pt idx="51">
                    <c:v>WK46</c:v>
                  </c:pt>
                  <c:pt idx="52">
                    <c:v>WK47</c:v>
                  </c:pt>
                  <c:pt idx="53">
                    <c:v>WK48</c:v>
                  </c:pt>
                  <c:pt idx="54">
                    <c:v>WK49</c:v>
                  </c:pt>
                </c:lvl>
                <c:lvl>
                  <c:pt idx="0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INFLUENZA!$AG$4:$AG$58</c:f>
              <c:numCache>
                <c:formatCode>General</c:formatCode>
                <c:ptCount val="55"/>
                <c:pt idx="13" formatCode="0%">
                  <c:v>0</c:v>
                </c:pt>
                <c:pt idx="14" formatCode="0%">
                  <c:v>0</c:v>
                </c:pt>
                <c:pt idx="15" formatCode="0%">
                  <c:v>0</c:v>
                </c:pt>
                <c:pt idx="16" formatCode="0%">
                  <c:v>0</c:v>
                </c:pt>
                <c:pt idx="17" formatCode="0%">
                  <c:v>0.18181818181818182</c:v>
                </c:pt>
                <c:pt idx="18" formatCode="0%">
                  <c:v>0</c:v>
                </c:pt>
                <c:pt idx="19" formatCode="0%">
                  <c:v>0</c:v>
                </c:pt>
                <c:pt idx="20" formatCode="0%">
                  <c:v>0</c:v>
                </c:pt>
                <c:pt idx="21" formatCode="0%">
                  <c:v>0</c:v>
                </c:pt>
                <c:pt idx="22" formatCode="0%">
                  <c:v>0</c:v>
                </c:pt>
                <c:pt idx="23" formatCode="0%">
                  <c:v>0</c:v>
                </c:pt>
                <c:pt idx="24" formatCode="0%">
                  <c:v>0</c:v>
                </c:pt>
                <c:pt idx="25" formatCode="0%">
                  <c:v>0</c:v>
                </c:pt>
                <c:pt idx="26" formatCode="0%">
                  <c:v>0</c:v>
                </c:pt>
                <c:pt idx="27" formatCode="0%">
                  <c:v>4.3478260869565216E-2</c:v>
                </c:pt>
                <c:pt idx="28" formatCode="0%">
                  <c:v>8.3333333333333329E-2</c:v>
                </c:pt>
                <c:pt idx="29" formatCode="0%">
                  <c:v>8.3333333333333329E-2</c:v>
                </c:pt>
                <c:pt idx="30" formatCode="0%">
                  <c:v>0</c:v>
                </c:pt>
                <c:pt idx="31" formatCode="0%">
                  <c:v>5.2631578947368418E-2</c:v>
                </c:pt>
                <c:pt idx="32" formatCode="0%">
                  <c:v>0</c:v>
                </c:pt>
                <c:pt idx="33" formatCode="0%">
                  <c:v>5.5555555555555552E-2</c:v>
                </c:pt>
                <c:pt idx="34" formatCode="0%">
                  <c:v>0.12903225806451613</c:v>
                </c:pt>
                <c:pt idx="35" formatCode="0%">
                  <c:v>8.5106382978723402E-2</c:v>
                </c:pt>
                <c:pt idx="36" formatCode="0%">
                  <c:v>3.3333333333333333E-2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7D44-484C-B319-9A03FB6990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65284464"/>
        <c:axId val="1265283984"/>
      </c:lineChart>
      <c:catAx>
        <c:axId val="845501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5501600"/>
        <c:crosses val="autoZero"/>
        <c:auto val="1"/>
        <c:lblAlgn val="ctr"/>
        <c:lblOffset val="100"/>
        <c:noMultiLvlLbl val="0"/>
      </c:catAx>
      <c:valAx>
        <c:axId val="8455016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5501120"/>
        <c:crosses val="autoZero"/>
        <c:crossBetween val="between"/>
      </c:valAx>
      <c:valAx>
        <c:axId val="1265283984"/>
        <c:scaling>
          <c:orientation val="minMax"/>
          <c:max val="1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5284464"/>
        <c:crosses val="max"/>
        <c:crossBetween val="between"/>
      </c:valAx>
      <c:catAx>
        <c:axId val="126528446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652839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 sz="1600" b="1">
                <a:solidFill>
                  <a:schemeClr val="tx1"/>
                </a:solidFill>
              </a:rPr>
              <a:t>Maputo City</a:t>
            </a:r>
          </a:p>
          <a:p>
            <a:pPr>
              <a:defRPr sz="1600" b="1">
                <a:solidFill>
                  <a:schemeClr val="tx1"/>
                </a:solidFill>
              </a:defRPr>
            </a:pPr>
            <a:r>
              <a:rPr lang="en-GB" sz="1600" b="1">
                <a:solidFill>
                  <a:schemeClr val="tx1"/>
                </a:solidFill>
              </a:rPr>
              <a:t>SARS-CoV-2 Surveillance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SARSCOV2!$AC$2</c:f>
              <c:strCache>
                <c:ptCount val="1"/>
                <c:pt idx="0">
                  <c:v>Cases reported at Maputo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SARSCOV2!$AA$3:$AB$57</c:f>
              <c:multiLvlStrCache>
                <c:ptCount val="55"/>
                <c:lvl>
                  <c:pt idx="0">
                    <c:v>WK47</c:v>
                  </c:pt>
                  <c:pt idx="1">
                    <c:v>WK48</c:v>
                  </c:pt>
                  <c:pt idx="2">
                    <c:v>WK49</c:v>
                  </c:pt>
                  <c:pt idx="3">
                    <c:v>WK50</c:v>
                  </c:pt>
                  <c:pt idx="4">
                    <c:v>WK51</c:v>
                  </c:pt>
                  <c:pt idx="5">
                    <c:v>WK52</c:v>
                  </c:pt>
                  <c:pt idx="6">
                    <c:v>Wk1</c:v>
                  </c:pt>
                  <c:pt idx="7">
                    <c:v>WK2</c:v>
                  </c:pt>
                  <c:pt idx="8">
                    <c:v>WK3</c:v>
                  </c:pt>
                  <c:pt idx="9">
                    <c:v>WK4</c:v>
                  </c:pt>
                  <c:pt idx="10">
                    <c:v>WK5</c:v>
                  </c:pt>
                  <c:pt idx="11">
                    <c:v>WK6</c:v>
                  </c:pt>
                  <c:pt idx="12">
                    <c:v>WK7</c:v>
                  </c:pt>
                  <c:pt idx="13">
                    <c:v>WK8</c:v>
                  </c:pt>
                  <c:pt idx="14">
                    <c:v>WK9</c:v>
                  </c:pt>
                  <c:pt idx="15">
                    <c:v>WK10</c:v>
                  </c:pt>
                  <c:pt idx="16">
                    <c:v>WK11</c:v>
                  </c:pt>
                  <c:pt idx="17">
                    <c:v>WK12</c:v>
                  </c:pt>
                  <c:pt idx="18">
                    <c:v>WK13</c:v>
                  </c:pt>
                  <c:pt idx="19">
                    <c:v>WK14</c:v>
                  </c:pt>
                  <c:pt idx="20">
                    <c:v>WK15</c:v>
                  </c:pt>
                  <c:pt idx="21">
                    <c:v>WK16</c:v>
                  </c:pt>
                  <c:pt idx="22">
                    <c:v>WK17</c:v>
                  </c:pt>
                  <c:pt idx="23">
                    <c:v>WK18</c:v>
                  </c:pt>
                  <c:pt idx="24">
                    <c:v>WK19</c:v>
                  </c:pt>
                  <c:pt idx="25">
                    <c:v>WK20</c:v>
                  </c:pt>
                  <c:pt idx="26">
                    <c:v>WK21</c:v>
                  </c:pt>
                  <c:pt idx="27">
                    <c:v>WK22</c:v>
                  </c:pt>
                  <c:pt idx="28">
                    <c:v>WK23</c:v>
                  </c:pt>
                  <c:pt idx="29">
                    <c:v>WK24</c:v>
                  </c:pt>
                  <c:pt idx="30">
                    <c:v>WK25</c:v>
                  </c:pt>
                  <c:pt idx="31">
                    <c:v>WK26</c:v>
                  </c:pt>
                  <c:pt idx="32">
                    <c:v>WK27</c:v>
                  </c:pt>
                  <c:pt idx="33">
                    <c:v>WK28</c:v>
                  </c:pt>
                  <c:pt idx="34">
                    <c:v>WK29</c:v>
                  </c:pt>
                  <c:pt idx="35">
                    <c:v>WK30</c:v>
                  </c:pt>
                  <c:pt idx="36">
                    <c:v>WK31</c:v>
                  </c:pt>
                  <c:pt idx="37">
                    <c:v>WK32</c:v>
                  </c:pt>
                  <c:pt idx="38">
                    <c:v>WK33</c:v>
                  </c:pt>
                  <c:pt idx="39">
                    <c:v>WK34</c:v>
                  </c:pt>
                  <c:pt idx="40">
                    <c:v>WK35</c:v>
                  </c:pt>
                  <c:pt idx="41">
                    <c:v>WK36</c:v>
                  </c:pt>
                  <c:pt idx="42">
                    <c:v>WK37</c:v>
                  </c:pt>
                  <c:pt idx="43">
                    <c:v>WK38</c:v>
                  </c:pt>
                  <c:pt idx="44">
                    <c:v>WK39</c:v>
                  </c:pt>
                  <c:pt idx="45">
                    <c:v>WK40</c:v>
                  </c:pt>
                  <c:pt idx="46">
                    <c:v>WK41</c:v>
                  </c:pt>
                  <c:pt idx="47">
                    <c:v>WK42</c:v>
                  </c:pt>
                  <c:pt idx="48">
                    <c:v>WK43</c:v>
                  </c:pt>
                  <c:pt idx="49">
                    <c:v>WK44</c:v>
                  </c:pt>
                  <c:pt idx="50">
                    <c:v>WK45</c:v>
                  </c:pt>
                  <c:pt idx="51">
                    <c:v>WK46</c:v>
                  </c:pt>
                  <c:pt idx="52">
                    <c:v>WK47</c:v>
                  </c:pt>
                  <c:pt idx="53">
                    <c:v>WK48</c:v>
                  </c:pt>
                  <c:pt idx="54">
                    <c:v>WK49</c:v>
                  </c:pt>
                </c:lvl>
                <c:lvl>
                  <c:pt idx="0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SARSCOV2!$AC$3:$AC$57</c:f>
              <c:numCache>
                <c:formatCode>General</c:formatCode>
                <c:ptCount val="55"/>
                <c:pt idx="6">
                  <c:v>54</c:v>
                </c:pt>
                <c:pt idx="7">
                  <c:v>52</c:v>
                </c:pt>
                <c:pt idx="8">
                  <c:v>48</c:v>
                </c:pt>
                <c:pt idx="9">
                  <c:v>48</c:v>
                </c:pt>
                <c:pt idx="10">
                  <c:v>125</c:v>
                </c:pt>
                <c:pt idx="11">
                  <c:v>142</c:v>
                </c:pt>
                <c:pt idx="12">
                  <c:v>169</c:v>
                </c:pt>
                <c:pt idx="13">
                  <c:v>134</c:v>
                </c:pt>
                <c:pt idx="14">
                  <c:v>139</c:v>
                </c:pt>
                <c:pt idx="15">
                  <c:v>115</c:v>
                </c:pt>
                <c:pt idx="16">
                  <c:v>83</c:v>
                </c:pt>
                <c:pt idx="17">
                  <c:v>229</c:v>
                </c:pt>
                <c:pt idx="18">
                  <c:v>196</c:v>
                </c:pt>
                <c:pt idx="19">
                  <c:v>298</c:v>
                </c:pt>
                <c:pt idx="20">
                  <c:v>263</c:v>
                </c:pt>
                <c:pt idx="21">
                  <c:v>230</c:v>
                </c:pt>
                <c:pt idx="22">
                  <c:v>282</c:v>
                </c:pt>
                <c:pt idx="23">
                  <c:v>353</c:v>
                </c:pt>
                <c:pt idx="24">
                  <c:v>553</c:v>
                </c:pt>
                <c:pt idx="25">
                  <c:v>541</c:v>
                </c:pt>
                <c:pt idx="26">
                  <c:v>445</c:v>
                </c:pt>
                <c:pt idx="27">
                  <c:v>667</c:v>
                </c:pt>
                <c:pt idx="28">
                  <c:v>621</c:v>
                </c:pt>
                <c:pt idx="29">
                  <c:v>724</c:v>
                </c:pt>
                <c:pt idx="30">
                  <c:v>651</c:v>
                </c:pt>
                <c:pt idx="31">
                  <c:v>692</c:v>
                </c:pt>
                <c:pt idx="32">
                  <c:v>889</c:v>
                </c:pt>
                <c:pt idx="33">
                  <c:v>999</c:v>
                </c:pt>
                <c:pt idx="34">
                  <c:v>900</c:v>
                </c:pt>
                <c:pt idx="35">
                  <c:v>858</c:v>
                </c:pt>
                <c:pt idx="36">
                  <c:v>762</c:v>
                </c:pt>
                <c:pt idx="37">
                  <c:v>936</c:v>
                </c:pt>
                <c:pt idx="38">
                  <c:v>847</c:v>
                </c:pt>
                <c:pt idx="39">
                  <c:v>896</c:v>
                </c:pt>
                <c:pt idx="40">
                  <c:v>802</c:v>
                </c:pt>
                <c:pt idx="41">
                  <c:v>844</c:v>
                </c:pt>
                <c:pt idx="42">
                  <c:v>899</c:v>
                </c:pt>
                <c:pt idx="43">
                  <c:v>856</c:v>
                </c:pt>
                <c:pt idx="44">
                  <c:v>786</c:v>
                </c:pt>
                <c:pt idx="45">
                  <c:v>889</c:v>
                </c:pt>
                <c:pt idx="46">
                  <c:v>1068</c:v>
                </c:pt>
                <c:pt idx="47">
                  <c:v>998</c:v>
                </c:pt>
                <c:pt idx="48">
                  <c:v>1082</c:v>
                </c:pt>
                <c:pt idx="49">
                  <c:v>894</c:v>
                </c:pt>
                <c:pt idx="50">
                  <c:v>1298</c:v>
                </c:pt>
                <c:pt idx="51">
                  <c:v>1316</c:v>
                </c:pt>
                <c:pt idx="52">
                  <c:v>1076</c:v>
                </c:pt>
                <c:pt idx="53">
                  <c:v>1149</c:v>
                </c:pt>
                <c:pt idx="54">
                  <c:v>1079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FD-7549-BEB4-4D61C350B0B3}"/>
            </c:ext>
          </c:extLst>
        </c:ser>
        <c:ser>
          <c:idx val="1"/>
          <c:order val="1"/>
          <c:tx>
            <c:strRef>
              <c:f>SARSCOV2!$AD$2</c:f>
              <c:strCache>
                <c:ptCount val="1"/>
                <c:pt idx="0">
                  <c:v>Samples Tested Maputo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multiLvlStrRef>
              <c:f>SARSCOV2!$AA$3:$AB$57</c:f>
              <c:multiLvlStrCache>
                <c:ptCount val="55"/>
                <c:lvl>
                  <c:pt idx="0">
                    <c:v>WK47</c:v>
                  </c:pt>
                  <c:pt idx="1">
                    <c:v>WK48</c:v>
                  </c:pt>
                  <c:pt idx="2">
                    <c:v>WK49</c:v>
                  </c:pt>
                  <c:pt idx="3">
                    <c:v>WK50</c:v>
                  </c:pt>
                  <c:pt idx="4">
                    <c:v>WK51</c:v>
                  </c:pt>
                  <c:pt idx="5">
                    <c:v>WK52</c:v>
                  </c:pt>
                  <c:pt idx="6">
                    <c:v>Wk1</c:v>
                  </c:pt>
                  <c:pt idx="7">
                    <c:v>WK2</c:v>
                  </c:pt>
                  <c:pt idx="8">
                    <c:v>WK3</c:v>
                  </c:pt>
                  <c:pt idx="9">
                    <c:v>WK4</c:v>
                  </c:pt>
                  <c:pt idx="10">
                    <c:v>WK5</c:v>
                  </c:pt>
                  <c:pt idx="11">
                    <c:v>WK6</c:v>
                  </c:pt>
                  <c:pt idx="12">
                    <c:v>WK7</c:v>
                  </c:pt>
                  <c:pt idx="13">
                    <c:v>WK8</c:v>
                  </c:pt>
                  <c:pt idx="14">
                    <c:v>WK9</c:v>
                  </c:pt>
                  <c:pt idx="15">
                    <c:v>WK10</c:v>
                  </c:pt>
                  <c:pt idx="16">
                    <c:v>WK11</c:v>
                  </c:pt>
                  <c:pt idx="17">
                    <c:v>WK12</c:v>
                  </c:pt>
                  <c:pt idx="18">
                    <c:v>WK13</c:v>
                  </c:pt>
                  <c:pt idx="19">
                    <c:v>WK14</c:v>
                  </c:pt>
                  <c:pt idx="20">
                    <c:v>WK15</c:v>
                  </c:pt>
                  <c:pt idx="21">
                    <c:v>WK16</c:v>
                  </c:pt>
                  <c:pt idx="22">
                    <c:v>WK17</c:v>
                  </c:pt>
                  <c:pt idx="23">
                    <c:v>WK18</c:v>
                  </c:pt>
                  <c:pt idx="24">
                    <c:v>WK19</c:v>
                  </c:pt>
                  <c:pt idx="25">
                    <c:v>WK20</c:v>
                  </c:pt>
                  <c:pt idx="26">
                    <c:v>WK21</c:v>
                  </c:pt>
                  <c:pt idx="27">
                    <c:v>WK22</c:v>
                  </c:pt>
                  <c:pt idx="28">
                    <c:v>WK23</c:v>
                  </c:pt>
                  <c:pt idx="29">
                    <c:v>WK24</c:v>
                  </c:pt>
                  <c:pt idx="30">
                    <c:v>WK25</c:v>
                  </c:pt>
                  <c:pt idx="31">
                    <c:v>WK26</c:v>
                  </c:pt>
                  <c:pt idx="32">
                    <c:v>WK27</c:v>
                  </c:pt>
                  <c:pt idx="33">
                    <c:v>WK28</c:v>
                  </c:pt>
                  <c:pt idx="34">
                    <c:v>WK29</c:v>
                  </c:pt>
                  <c:pt idx="35">
                    <c:v>WK30</c:v>
                  </c:pt>
                  <c:pt idx="36">
                    <c:v>WK31</c:v>
                  </c:pt>
                  <c:pt idx="37">
                    <c:v>WK32</c:v>
                  </c:pt>
                  <c:pt idx="38">
                    <c:v>WK33</c:v>
                  </c:pt>
                  <c:pt idx="39">
                    <c:v>WK34</c:v>
                  </c:pt>
                  <c:pt idx="40">
                    <c:v>WK35</c:v>
                  </c:pt>
                  <c:pt idx="41">
                    <c:v>WK36</c:v>
                  </c:pt>
                  <c:pt idx="42">
                    <c:v>WK37</c:v>
                  </c:pt>
                  <c:pt idx="43">
                    <c:v>WK38</c:v>
                  </c:pt>
                  <c:pt idx="44">
                    <c:v>WK39</c:v>
                  </c:pt>
                  <c:pt idx="45">
                    <c:v>WK40</c:v>
                  </c:pt>
                  <c:pt idx="46">
                    <c:v>WK41</c:v>
                  </c:pt>
                  <c:pt idx="47">
                    <c:v>WK42</c:v>
                  </c:pt>
                  <c:pt idx="48">
                    <c:v>WK43</c:v>
                  </c:pt>
                  <c:pt idx="49">
                    <c:v>WK44</c:v>
                  </c:pt>
                  <c:pt idx="50">
                    <c:v>WK45</c:v>
                  </c:pt>
                  <c:pt idx="51">
                    <c:v>WK46</c:v>
                  </c:pt>
                  <c:pt idx="52">
                    <c:v>WK47</c:v>
                  </c:pt>
                  <c:pt idx="53">
                    <c:v>WK48</c:v>
                  </c:pt>
                  <c:pt idx="54">
                    <c:v>WK49</c:v>
                  </c:pt>
                </c:lvl>
                <c:lvl>
                  <c:pt idx="0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SARSCOV2!$AD$3:$AD$57</c:f>
              <c:numCache>
                <c:formatCode>General</c:formatCode>
                <c:ptCount val="55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1</c:v>
                </c:pt>
                <c:pt idx="4">
                  <c:v>14</c:v>
                </c:pt>
                <c:pt idx="5">
                  <c:v>0</c:v>
                </c:pt>
                <c:pt idx="6">
                  <c:v>2</c:v>
                </c:pt>
                <c:pt idx="7">
                  <c:v>11</c:v>
                </c:pt>
                <c:pt idx="8">
                  <c:v>6</c:v>
                </c:pt>
                <c:pt idx="9">
                  <c:v>0</c:v>
                </c:pt>
                <c:pt idx="10">
                  <c:v>6</c:v>
                </c:pt>
                <c:pt idx="11">
                  <c:v>21</c:v>
                </c:pt>
                <c:pt idx="12">
                  <c:v>14</c:v>
                </c:pt>
                <c:pt idx="13">
                  <c:v>17</c:v>
                </c:pt>
                <c:pt idx="14">
                  <c:v>26</c:v>
                </c:pt>
                <c:pt idx="15">
                  <c:v>26</c:v>
                </c:pt>
                <c:pt idx="16">
                  <c:v>25</c:v>
                </c:pt>
                <c:pt idx="17">
                  <c:v>12</c:v>
                </c:pt>
                <c:pt idx="18">
                  <c:v>30</c:v>
                </c:pt>
                <c:pt idx="19">
                  <c:v>18</c:v>
                </c:pt>
                <c:pt idx="20">
                  <c:v>13</c:v>
                </c:pt>
                <c:pt idx="21">
                  <c:v>20</c:v>
                </c:pt>
                <c:pt idx="22">
                  <c:v>2</c:v>
                </c:pt>
                <c:pt idx="23">
                  <c:v>23</c:v>
                </c:pt>
                <c:pt idx="24">
                  <c:v>26</c:v>
                </c:pt>
                <c:pt idx="25">
                  <c:v>25</c:v>
                </c:pt>
                <c:pt idx="26">
                  <c:v>23</c:v>
                </c:pt>
                <c:pt idx="27">
                  <c:v>25</c:v>
                </c:pt>
                <c:pt idx="28">
                  <c:v>25</c:v>
                </c:pt>
                <c:pt idx="29">
                  <c:v>25</c:v>
                </c:pt>
                <c:pt idx="30">
                  <c:v>10</c:v>
                </c:pt>
                <c:pt idx="31">
                  <c:v>54</c:v>
                </c:pt>
                <c:pt idx="32">
                  <c:v>62</c:v>
                </c:pt>
                <c:pt idx="33">
                  <c:v>62</c:v>
                </c:pt>
                <c:pt idx="34">
                  <c:v>62</c:v>
                </c:pt>
                <c:pt idx="35">
                  <c:v>33</c:v>
                </c:pt>
                <c:pt idx="36">
                  <c:v>48</c:v>
                </c:pt>
                <c:pt idx="37">
                  <c:v>41</c:v>
                </c:pt>
                <c:pt idx="38">
                  <c:v>47</c:v>
                </c:pt>
                <c:pt idx="39">
                  <c:v>40</c:v>
                </c:pt>
                <c:pt idx="40">
                  <c:v>46</c:v>
                </c:pt>
                <c:pt idx="41">
                  <c:v>43</c:v>
                </c:pt>
                <c:pt idx="42">
                  <c:v>39</c:v>
                </c:pt>
                <c:pt idx="43">
                  <c:v>40</c:v>
                </c:pt>
                <c:pt idx="44">
                  <c:v>45</c:v>
                </c:pt>
                <c:pt idx="45">
                  <c:v>35</c:v>
                </c:pt>
                <c:pt idx="46">
                  <c:v>39</c:v>
                </c:pt>
                <c:pt idx="47">
                  <c:v>42</c:v>
                </c:pt>
                <c:pt idx="48">
                  <c:v>36</c:v>
                </c:pt>
                <c:pt idx="49">
                  <c:v>42</c:v>
                </c:pt>
                <c:pt idx="50">
                  <c:v>40</c:v>
                </c:pt>
                <c:pt idx="51">
                  <c:v>49</c:v>
                </c:pt>
                <c:pt idx="52">
                  <c:v>37</c:v>
                </c:pt>
                <c:pt idx="53">
                  <c:v>33</c:v>
                </c:pt>
                <c:pt idx="54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FD-7549-BEB4-4D61C350B0B3}"/>
            </c:ext>
          </c:extLst>
        </c:ser>
        <c:ser>
          <c:idx val="2"/>
          <c:order val="2"/>
          <c:tx>
            <c:strRef>
              <c:f>SARSCOV2!$AE$2</c:f>
              <c:strCache>
                <c:ptCount val="1"/>
                <c:pt idx="0">
                  <c:v>Positive cases Maputo 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multiLvlStrRef>
              <c:f>SARSCOV2!$AA$3:$AB$57</c:f>
              <c:multiLvlStrCache>
                <c:ptCount val="55"/>
                <c:lvl>
                  <c:pt idx="0">
                    <c:v>WK47</c:v>
                  </c:pt>
                  <c:pt idx="1">
                    <c:v>WK48</c:v>
                  </c:pt>
                  <c:pt idx="2">
                    <c:v>WK49</c:v>
                  </c:pt>
                  <c:pt idx="3">
                    <c:v>WK50</c:v>
                  </c:pt>
                  <c:pt idx="4">
                    <c:v>WK51</c:v>
                  </c:pt>
                  <c:pt idx="5">
                    <c:v>WK52</c:v>
                  </c:pt>
                  <c:pt idx="6">
                    <c:v>Wk1</c:v>
                  </c:pt>
                  <c:pt idx="7">
                    <c:v>WK2</c:v>
                  </c:pt>
                  <c:pt idx="8">
                    <c:v>WK3</c:v>
                  </c:pt>
                  <c:pt idx="9">
                    <c:v>WK4</c:v>
                  </c:pt>
                  <c:pt idx="10">
                    <c:v>WK5</c:v>
                  </c:pt>
                  <c:pt idx="11">
                    <c:v>WK6</c:v>
                  </c:pt>
                  <c:pt idx="12">
                    <c:v>WK7</c:v>
                  </c:pt>
                  <c:pt idx="13">
                    <c:v>WK8</c:v>
                  </c:pt>
                  <c:pt idx="14">
                    <c:v>WK9</c:v>
                  </c:pt>
                  <c:pt idx="15">
                    <c:v>WK10</c:v>
                  </c:pt>
                  <c:pt idx="16">
                    <c:v>WK11</c:v>
                  </c:pt>
                  <c:pt idx="17">
                    <c:v>WK12</c:v>
                  </c:pt>
                  <c:pt idx="18">
                    <c:v>WK13</c:v>
                  </c:pt>
                  <c:pt idx="19">
                    <c:v>WK14</c:v>
                  </c:pt>
                  <c:pt idx="20">
                    <c:v>WK15</c:v>
                  </c:pt>
                  <c:pt idx="21">
                    <c:v>WK16</c:v>
                  </c:pt>
                  <c:pt idx="22">
                    <c:v>WK17</c:v>
                  </c:pt>
                  <c:pt idx="23">
                    <c:v>WK18</c:v>
                  </c:pt>
                  <c:pt idx="24">
                    <c:v>WK19</c:v>
                  </c:pt>
                  <c:pt idx="25">
                    <c:v>WK20</c:v>
                  </c:pt>
                  <c:pt idx="26">
                    <c:v>WK21</c:v>
                  </c:pt>
                  <c:pt idx="27">
                    <c:v>WK22</c:v>
                  </c:pt>
                  <c:pt idx="28">
                    <c:v>WK23</c:v>
                  </c:pt>
                  <c:pt idx="29">
                    <c:v>WK24</c:v>
                  </c:pt>
                  <c:pt idx="30">
                    <c:v>WK25</c:v>
                  </c:pt>
                  <c:pt idx="31">
                    <c:v>WK26</c:v>
                  </c:pt>
                  <c:pt idx="32">
                    <c:v>WK27</c:v>
                  </c:pt>
                  <c:pt idx="33">
                    <c:v>WK28</c:v>
                  </c:pt>
                  <c:pt idx="34">
                    <c:v>WK29</c:v>
                  </c:pt>
                  <c:pt idx="35">
                    <c:v>WK30</c:v>
                  </c:pt>
                  <c:pt idx="36">
                    <c:v>WK31</c:v>
                  </c:pt>
                  <c:pt idx="37">
                    <c:v>WK32</c:v>
                  </c:pt>
                  <c:pt idx="38">
                    <c:v>WK33</c:v>
                  </c:pt>
                  <c:pt idx="39">
                    <c:v>WK34</c:v>
                  </c:pt>
                  <c:pt idx="40">
                    <c:v>WK35</c:v>
                  </c:pt>
                  <c:pt idx="41">
                    <c:v>WK36</c:v>
                  </c:pt>
                  <c:pt idx="42">
                    <c:v>WK37</c:v>
                  </c:pt>
                  <c:pt idx="43">
                    <c:v>WK38</c:v>
                  </c:pt>
                  <c:pt idx="44">
                    <c:v>WK39</c:v>
                  </c:pt>
                  <c:pt idx="45">
                    <c:v>WK40</c:v>
                  </c:pt>
                  <c:pt idx="46">
                    <c:v>WK41</c:v>
                  </c:pt>
                  <c:pt idx="47">
                    <c:v>WK42</c:v>
                  </c:pt>
                  <c:pt idx="48">
                    <c:v>WK43</c:v>
                  </c:pt>
                  <c:pt idx="49">
                    <c:v>WK44</c:v>
                  </c:pt>
                  <c:pt idx="50">
                    <c:v>WK45</c:v>
                  </c:pt>
                  <c:pt idx="51">
                    <c:v>WK46</c:v>
                  </c:pt>
                  <c:pt idx="52">
                    <c:v>WK47</c:v>
                  </c:pt>
                  <c:pt idx="53">
                    <c:v>WK48</c:v>
                  </c:pt>
                  <c:pt idx="54">
                    <c:v>WK49</c:v>
                  </c:pt>
                </c:lvl>
                <c:lvl>
                  <c:pt idx="0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SARSCOV2!$AE$3:$AE$57</c:f>
              <c:numCache>
                <c:formatCode>General</c:formatCode>
                <c:ptCount val="55"/>
                <c:pt idx="0">
                  <c:v>1</c:v>
                </c:pt>
                <c:pt idx="1">
                  <c:v>2</c:v>
                </c:pt>
                <c:pt idx="2">
                  <c:v>6</c:v>
                </c:pt>
                <c:pt idx="3">
                  <c:v>0</c:v>
                </c:pt>
                <c:pt idx="4">
                  <c:v>6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1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1</c:v>
                </c:pt>
                <c:pt idx="24">
                  <c:v>1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1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1</c:v>
                </c:pt>
                <c:pt idx="44">
                  <c:v>0</c:v>
                </c:pt>
                <c:pt idx="45">
                  <c:v>0</c:v>
                </c:pt>
                <c:pt idx="46">
                  <c:v>1</c:v>
                </c:pt>
                <c:pt idx="47">
                  <c:v>0</c:v>
                </c:pt>
                <c:pt idx="48">
                  <c:v>2</c:v>
                </c:pt>
                <c:pt idx="49">
                  <c:v>1</c:v>
                </c:pt>
                <c:pt idx="50">
                  <c:v>2</c:v>
                </c:pt>
                <c:pt idx="51">
                  <c:v>1</c:v>
                </c:pt>
                <c:pt idx="52">
                  <c:v>0</c:v>
                </c:pt>
                <c:pt idx="53">
                  <c:v>1</c:v>
                </c:pt>
                <c:pt idx="5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FD-7549-BEB4-4D61C350B0B3}"/>
            </c:ext>
          </c:extLst>
        </c:ser>
        <c:ser>
          <c:idx val="4"/>
          <c:order val="4"/>
          <c:tx>
            <c:strRef>
              <c:f>SARSCOV2!$AG$2</c:f>
              <c:strCache>
                <c:ptCount val="1"/>
                <c:pt idx="0">
                  <c:v>Cases reported at Comunidade 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multiLvlStrRef>
              <c:f>SARSCOV2!$AA$3:$AB$57</c:f>
              <c:multiLvlStrCache>
                <c:ptCount val="55"/>
                <c:lvl>
                  <c:pt idx="0">
                    <c:v>WK47</c:v>
                  </c:pt>
                  <c:pt idx="1">
                    <c:v>WK48</c:v>
                  </c:pt>
                  <c:pt idx="2">
                    <c:v>WK49</c:v>
                  </c:pt>
                  <c:pt idx="3">
                    <c:v>WK50</c:v>
                  </c:pt>
                  <c:pt idx="4">
                    <c:v>WK51</c:v>
                  </c:pt>
                  <c:pt idx="5">
                    <c:v>WK52</c:v>
                  </c:pt>
                  <c:pt idx="6">
                    <c:v>Wk1</c:v>
                  </c:pt>
                  <c:pt idx="7">
                    <c:v>WK2</c:v>
                  </c:pt>
                  <c:pt idx="8">
                    <c:v>WK3</c:v>
                  </c:pt>
                  <c:pt idx="9">
                    <c:v>WK4</c:v>
                  </c:pt>
                  <c:pt idx="10">
                    <c:v>WK5</c:v>
                  </c:pt>
                  <c:pt idx="11">
                    <c:v>WK6</c:v>
                  </c:pt>
                  <c:pt idx="12">
                    <c:v>WK7</c:v>
                  </c:pt>
                  <c:pt idx="13">
                    <c:v>WK8</c:v>
                  </c:pt>
                  <c:pt idx="14">
                    <c:v>WK9</c:v>
                  </c:pt>
                  <c:pt idx="15">
                    <c:v>WK10</c:v>
                  </c:pt>
                  <c:pt idx="16">
                    <c:v>WK11</c:v>
                  </c:pt>
                  <c:pt idx="17">
                    <c:v>WK12</c:v>
                  </c:pt>
                  <c:pt idx="18">
                    <c:v>WK13</c:v>
                  </c:pt>
                  <c:pt idx="19">
                    <c:v>WK14</c:v>
                  </c:pt>
                  <c:pt idx="20">
                    <c:v>WK15</c:v>
                  </c:pt>
                  <c:pt idx="21">
                    <c:v>WK16</c:v>
                  </c:pt>
                  <c:pt idx="22">
                    <c:v>WK17</c:v>
                  </c:pt>
                  <c:pt idx="23">
                    <c:v>WK18</c:v>
                  </c:pt>
                  <c:pt idx="24">
                    <c:v>WK19</c:v>
                  </c:pt>
                  <c:pt idx="25">
                    <c:v>WK20</c:v>
                  </c:pt>
                  <c:pt idx="26">
                    <c:v>WK21</c:v>
                  </c:pt>
                  <c:pt idx="27">
                    <c:v>WK22</c:v>
                  </c:pt>
                  <c:pt idx="28">
                    <c:v>WK23</c:v>
                  </c:pt>
                  <c:pt idx="29">
                    <c:v>WK24</c:v>
                  </c:pt>
                  <c:pt idx="30">
                    <c:v>WK25</c:v>
                  </c:pt>
                  <c:pt idx="31">
                    <c:v>WK26</c:v>
                  </c:pt>
                  <c:pt idx="32">
                    <c:v>WK27</c:v>
                  </c:pt>
                  <c:pt idx="33">
                    <c:v>WK28</c:v>
                  </c:pt>
                  <c:pt idx="34">
                    <c:v>WK29</c:v>
                  </c:pt>
                  <c:pt idx="35">
                    <c:v>WK30</c:v>
                  </c:pt>
                  <c:pt idx="36">
                    <c:v>WK31</c:v>
                  </c:pt>
                  <c:pt idx="37">
                    <c:v>WK32</c:v>
                  </c:pt>
                  <c:pt idx="38">
                    <c:v>WK33</c:v>
                  </c:pt>
                  <c:pt idx="39">
                    <c:v>WK34</c:v>
                  </c:pt>
                  <c:pt idx="40">
                    <c:v>WK35</c:v>
                  </c:pt>
                  <c:pt idx="41">
                    <c:v>WK36</c:v>
                  </c:pt>
                  <c:pt idx="42">
                    <c:v>WK37</c:v>
                  </c:pt>
                  <c:pt idx="43">
                    <c:v>WK38</c:v>
                  </c:pt>
                  <c:pt idx="44">
                    <c:v>WK39</c:v>
                  </c:pt>
                  <c:pt idx="45">
                    <c:v>WK40</c:v>
                  </c:pt>
                  <c:pt idx="46">
                    <c:v>WK41</c:v>
                  </c:pt>
                  <c:pt idx="47">
                    <c:v>WK42</c:v>
                  </c:pt>
                  <c:pt idx="48">
                    <c:v>WK43</c:v>
                  </c:pt>
                  <c:pt idx="49">
                    <c:v>WK44</c:v>
                  </c:pt>
                  <c:pt idx="50">
                    <c:v>WK45</c:v>
                  </c:pt>
                  <c:pt idx="51">
                    <c:v>WK46</c:v>
                  </c:pt>
                  <c:pt idx="52">
                    <c:v>WK47</c:v>
                  </c:pt>
                  <c:pt idx="53">
                    <c:v>WK48</c:v>
                  </c:pt>
                  <c:pt idx="54">
                    <c:v>WK49</c:v>
                  </c:pt>
                </c:lvl>
                <c:lvl>
                  <c:pt idx="0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SARSCOV2!$AG$3:$AG$57</c:f>
              <c:numCache>
                <c:formatCode>General</c:formatCode>
                <c:ptCount val="55"/>
                <c:pt idx="13">
                  <c:v>20</c:v>
                </c:pt>
                <c:pt idx="14">
                  <c:v>27</c:v>
                </c:pt>
                <c:pt idx="15">
                  <c:v>17</c:v>
                </c:pt>
                <c:pt idx="16">
                  <c:v>20</c:v>
                </c:pt>
                <c:pt idx="17">
                  <c:v>24</c:v>
                </c:pt>
                <c:pt idx="18">
                  <c:v>34</c:v>
                </c:pt>
                <c:pt idx="19">
                  <c:v>19</c:v>
                </c:pt>
                <c:pt idx="20">
                  <c:v>42</c:v>
                </c:pt>
                <c:pt idx="21">
                  <c:v>30</c:v>
                </c:pt>
                <c:pt idx="22">
                  <c:v>41</c:v>
                </c:pt>
                <c:pt idx="23">
                  <c:v>26</c:v>
                </c:pt>
                <c:pt idx="24">
                  <c:v>0</c:v>
                </c:pt>
                <c:pt idx="25">
                  <c:v>36</c:v>
                </c:pt>
                <c:pt idx="26">
                  <c:v>55</c:v>
                </c:pt>
                <c:pt idx="27">
                  <c:v>31</c:v>
                </c:pt>
                <c:pt idx="28">
                  <c:v>38</c:v>
                </c:pt>
                <c:pt idx="29">
                  <c:v>47</c:v>
                </c:pt>
                <c:pt idx="30">
                  <c:v>39</c:v>
                </c:pt>
                <c:pt idx="31">
                  <c:v>87</c:v>
                </c:pt>
                <c:pt idx="32">
                  <c:v>94</c:v>
                </c:pt>
                <c:pt idx="33">
                  <c:v>112</c:v>
                </c:pt>
                <c:pt idx="34">
                  <c:v>81</c:v>
                </c:pt>
                <c:pt idx="35">
                  <c:v>70</c:v>
                </c:pt>
                <c:pt idx="36">
                  <c:v>95</c:v>
                </c:pt>
                <c:pt idx="37">
                  <c:v>80</c:v>
                </c:pt>
                <c:pt idx="38">
                  <c:v>98</c:v>
                </c:pt>
                <c:pt idx="39">
                  <c:v>98</c:v>
                </c:pt>
                <c:pt idx="40">
                  <c:v>81</c:v>
                </c:pt>
                <c:pt idx="41">
                  <c:v>68</c:v>
                </c:pt>
                <c:pt idx="42">
                  <c:v>62</c:v>
                </c:pt>
                <c:pt idx="43">
                  <c:v>63</c:v>
                </c:pt>
                <c:pt idx="44">
                  <c:v>60</c:v>
                </c:pt>
                <c:pt idx="45">
                  <c:v>51</c:v>
                </c:pt>
                <c:pt idx="46">
                  <c:v>70</c:v>
                </c:pt>
                <c:pt idx="47">
                  <c:v>49</c:v>
                </c:pt>
                <c:pt idx="48">
                  <c:v>48</c:v>
                </c:pt>
                <c:pt idx="49">
                  <c:v>41</c:v>
                </c:pt>
                <c:pt idx="50">
                  <c:v>44</c:v>
                </c:pt>
                <c:pt idx="51">
                  <c:v>54</c:v>
                </c:pt>
                <c:pt idx="52">
                  <c:v>63</c:v>
                </c:pt>
                <c:pt idx="53">
                  <c:v>29</c:v>
                </c:pt>
                <c:pt idx="54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5FD-7549-BEB4-4D61C350B0B3}"/>
            </c:ext>
          </c:extLst>
        </c:ser>
        <c:ser>
          <c:idx val="5"/>
          <c:order val="5"/>
          <c:tx>
            <c:strRef>
              <c:f>SARSCOV2!$AH$2</c:f>
              <c:strCache>
                <c:ptCount val="1"/>
                <c:pt idx="0">
                  <c:v> Samples Tested Comunidade Maputo 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multiLvlStrRef>
              <c:f>SARSCOV2!$AA$3:$AB$57</c:f>
              <c:multiLvlStrCache>
                <c:ptCount val="55"/>
                <c:lvl>
                  <c:pt idx="0">
                    <c:v>WK47</c:v>
                  </c:pt>
                  <c:pt idx="1">
                    <c:v>WK48</c:v>
                  </c:pt>
                  <c:pt idx="2">
                    <c:v>WK49</c:v>
                  </c:pt>
                  <c:pt idx="3">
                    <c:v>WK50</c:v>
                  </c:pt>
                  <c:pt idx="4">
                    <c:v>WK51</c:v>
                  </c:pt>
                  <c:pt idx="5">
                    <c:v>WK52</c:v>
                  </c:pt>
                  <c:pt idx="6">
                    <c:v>Wk1</c:v>
                  </c:pt>
                  <c:pt idx="7">
                    <c:v>WK2</c:v>
                  </c:pt>
                  <c:pt idx="8">
                    <c:v>WK3</c:v>
                  </c:pt>
                  <c:pt idx="9">
                    <c:v>WK4</c:v>
                  </c:pt>
                  <c:pt idx="10">
                    <c:v>WK5</c:v>
                  </c:pt>
                  <c:pt idx="11">
                    <c:v>WK6</c:v>
                  </c:pt>
                  <c:pt idx="12">
                    <c:v>WK7</c:v>
                  </c:pt>
                  <c:pt idx="13">
                    <c:v>WK8</c:v>
                  </c:pt>
                  <c:pt idx="14">
                    <c:v>WK9</c:v>
                  </c:pt>
                  <c:pt idx="15">
                    <c:v>WK10</c:v>
                  </c:pt>
                  <c:pt idx="16">
                    <c:v>WK11</c:v>
                  </c:pt>
                  <c:pt idx="17">
                    <c:v>WK12</c:v>
                  </c:pt>
                  <c:pt idx="18">
                    <c:v>WK13</c:v>
                  </c:pt>
                  <c:pt idx="19">
                    <c:v>WK14</c:v>
                  </c:pt>
                  <c:pt idx="20">
                    <c:v>WK15</c:v>
                  </c:pt>
                  <c:pt idx="21">
                    <c:v>WK16</c:v>
                  </c:pt>
                  <c:pt idx="22">
                    <c:v>WK17</c:v>
                  </c:pt>
                  <c:pt idx="23">
                    <c:v>WK18</c:v>
                  </c:pt>
                  <c:pt idx="24">
                    <c:v>WK19</c:v>
                  </c:pt>
                  <c:pt idx="25">
                    <c:v>WK20</c:v>
                  </c:pt>
                  <c:pt idx="26">
                    <c:v>WK21</c:v>
                  </c:pt>
                  <c:pt idx="27">
                    <c:v>WK22</c:v>
                  </c:pt>
                  <c:pt idx="28">
                    <c:v>WK23</c:v>
                  </c:pt>
                  <c:pt idx="29">
                    <c:v>WK24</c:v>
                  </c:pt>
                  <c:pt idx="30">
                    <c:v>WK25</c:v>
                  </c:pt>
                  <c:pt idx="31">
                    <c:v>WK26</c:v>
                  </c:pt>
                  <c:pt idx="32">
                    <c:v>WK27</c:v>
                  </c:pt>
                  <c:pt idx="33">
                    <c:v>WK28</c:v>
                  </c:pt>
                  <c:pt idx="34">
                    <c:v>WK29</c:v>
                  </c:pt>
                  <c:pt idx="35">
                    <c:v>WK30</c:v>
                  </c:pt>
                  <c:pt idx="36">
                    <c:v>WK31</c:v>
                  </c:pt>
                  <c:pt idx="37">
                    <c:v>WK32</c:v>
                  </c:pt>
                  <c:pt idx="38">
                    <c:v>WK33</c:v>
                  </c:pt>
                  <c:pt idx="39">
                    <c:v>WK34</c:v>
                  </c:pt>
                  <c:pt idx="40">
                    <c:v>WK35</c:v>
                  </c:pt>
                  <c:pt idx="41">
                    <c:v>WK36</c:v>
                  </c:pt>
                  <c:pt idx="42">
                    <c:v>WK37</c:v>
                  </c:pt>
                  <c:pt idx="43">
                    <c:v>WK38</c:v>
                  </c:pt>
                  <c:pt idx="44">
                    <c:v>WK39</c:v>
                  </c:pt>
                  <c:pt idx="45">
                    <c:v>WK40</c:v>
                  </c:pt>
                  <c:pt idx="46">
                    <c:v>WK41</c:v>
                  </c:pt>
                  <c:pt idx="47">
                    <c:v>WK42</c:v>
                  </c:pt>
                  <c:pt idx="48">
                    <c:v>WK43</c:v>
                  </c:pt>
                  <c:pt idx="49">
                    <c:v>WK44</c:v>
                  </c:pt>
                  <c:pt idx="50">
                    <c:v>WK45</c:v>
                  </c:pt>
                  <c:pt idx="51">
                    <c:v>WK46</c:v>
                  </c:pt>
                  <c:pt idx="52">
                    <c:v>WK47</c:v>
                  </c:pt>
                  <c:pt idx="53">
                    <c:v>WK48</c:v>
                  </c:pt>
                  <c:pt idx="54">
                    <c:v>WK49</c:v>
                  </c:pt>
                </c:lvl>
                <c:lvl>
                  <c:pt idx="0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SARSCOV2!$AH$3:$AH$57</c:f>
              <c:numCache>
                <c:formatCode>General</c:formatCode>
                <c:ptCount val="55"/>
                <c:pt idx="13">
                  <c:v>5</c:v>
                </c:pt>
                <c:pt idx="14">
                  <c:v>21</c:v>
                </c:pt>
                <c:pt idx="15">
                  <c:v>14</c:v>
                </c:pt>
                <c:pt idx="16">
                  <c:v>19</c:v>
                </c:pt>
                <c:pt idx="17">
                  <c:v>11</c:v>
                </c:pt>
                <c:pt idx="18">
                  <c:v>22</c:v>
                </c:pt>
                <c:pt idx="19">
                  <c:v>15</c:v>
                </c:pt>
                <c:pt idx="20">
                  <c:v>18</c:v>
                </c:pt>
                <c:pt idx="21">
                  <c:v>23</c:v>
                </c:pt>
                <c:pt idx="22">
                  <c:v>30</c:v>
                </c:pt>
                <c:pt idx="23">
                  <c:v>12</c:v>
                </c:pt>
                <c:pt idx="24">
                  <c:v>0</c:v>
                </c:pt>
                <c:pt idx="25">
                  <c:v>14</c:v>
                </c:pt>
                <c:pt idx="26">
                  <c:v>29</c:v>
                </c:pt>
                <c:pt idx="27">
                  <c:v>23</c:v>
                </c:pt>
                <c:pt idx="28">
                  <c:v>24</c:v>
                </c:pt>
                <c:pt idx="29">
                  <c:v>24</c:v>
                </c:pt>
                <c:pt idx="30">
                  <c:v>24</c:v>
                </c:pt>
                <c:pt idx="31">
                  <c:v>31</c:v>
                </c:pt>
                <c:pt idx="32">
                  <c:v>26</c:v>
                </c:pt>
                <c:pt idx="33">
                  <c:v>30</c:v>
                </c:pt>
                <c:pt idx="34">
                  <c:v>36</c:v>
                </c:pt>
                <c:pt idx="35">
                  <c:v>28</c:v>
                </c:pt>
                <c:pt idx="36">
                  <c:v>18</c:v>
                </c:pt>
                <c:pt idx="37">
                  <c:v>37</c:v>
                </c:pt>
                <c:pt idx="38">
                  <c:v>37</c:v>
                </c:pt>
                <c:pt idx="39">
                  <c:v>44</c:v>
                </c:pt>
                <c:pt idx="40">
                  <c:v>50</c:v>
                </c:pt>
                <c:pt idx="41">
                  <c:v>33</c:v>
                </c:pt>
                <c:pt idx="42">
                  <c:v>29</c:v>
                </c:pt>
                <c:pt idx="43">
                  <c:v>36</c:v>
                </c:pt>
                <c:pt idx="44">
                  <c:v>34</c:v>
                </c:pt>
                <c:pt idx="45">
                  <c:v>34</c:v>
                </c:pt>
                <c:pt idx="46">
                  <c:v>39</c:v>
                </c:pt>
                <c:pt idx="47">
                  <c:v>28</c:v>
                </c:pt>
                <c:pt idx="48">
                  <c:v>21</c:v>
                </c:pt>
                <c:pt idx="49">
                  <c:v>17</c:v>
                </c:pt>
                <c:pt idx="50">
                  <c:v>29</c:v>
                </c:pt>
                <c:pt idx="51">
                  <c:v>36</c:v>
                </c:pt>
                <c:pt idx="52">
                  <c:v>13</c:v>
                </c:pt>
                <c:pt idx="53">
                  <c:v>18</c:v>
                </c:pt>
                <c:pt idx="5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5FD-7549-BEB4-4D61C350B0B3}"/>
            </c:ext>
          </c:extLst>
        </c:ser>
        <c:ser>
          <c:idx val="6"/>
          <c:order val="6"/>
          <c:tx>
            <c:strRef>
              <c:f>SARSCOV2!$AI$2</c:f>
              <c:strCache>
                <c:ptCount val="1"/>
                <c:pt idx="0">
                  <c:v>Positive cases Comunidade Maputo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multiLvlStrRef>
              <c:f>SARSCOV2!$AA$3:$AB$57</c:f>
              <c:multiLvlStrCache>
                <c:ptCount val="55"/>
                <c:lvl>
                  <c:pt idx="0">
                    <c:v>WK47</c:v>
                  </c:pt>
                  <c:pt idx="1">
                    <c:v>WK48</c:v>
                  </c:pt>
                  <c:pt idx="2">
                    <c:v>WK49</c:v>
                  </c:pt>
                  <c:pt idx="3">
                    <c:v>WK50</c:v>
                  </c:pt>
                  <c:pt idx="4">
                    <c:v>WK51</c:v>
                  </c:pt>
                  <c:pt idx="5">
                    <c:v>WK52</c:v>
                  </c:pt>
                  <c:pt idx="6">
                    <c:v>Wk1</c:v>
                  </c:pt>
                  <c:pt idx="7">
                    <c:v>WK2</c:v>
                  </c:pt>
                  <c:pt idx="8">
                    <c:v>WK3</c:v>
                  </c:pt>
                  <c:pt idx="9">
                    <c:v>WK4</c:v>
                  </c:pt>
                  <c:pt idx="10">
                    <c:v>WK5</c:v>
                  </c:pt>
                  <c:pt idx="11">
                    <c:v>WK6</c:v>
                  </c:pt>
                  <c:pt idx="12">
                    <c:v>WK7</c:v>
                  </c:pt>
                  <c:pt idx="13">
                    <c:v>WK8</c:v>
                  </c:pt>
                  <c:pt idx="14">
                    <c:v>WK9</c:v>
                  </c:pt>
                  <c:pt idx="15">
                    <c:v>WK10</c:v>
                  </c:pt>
                  <c:pt idx="16">
                    <c:v>WK11</c:v>
                  </c:pt>
                  <c:pt idx="17">
                    <c:v>WK12</c:v>
                  </c:pt>
                  <c:pt idx="18">
                    <c:v>WK13</c:v>
                  </c:pt>
                  <c:pt idx="19">
                    <c:v>WK14</c:v>
                  </c:pt>
                  <c:pt idx="20">
                    <c:v>WK15</c:v>
                  </c:pt>
                  <c:pt idx="21">
                    <c:v>WK16</c:v>
                  </c:pt>
                  <c:pt idx="22">
                    <c:v>WK17</c:v>
                  </c:pt>
                  <c:pt idx="23">
                    <c:v>WK18</c:v>
                  </c:pt>
                  <c:pt idx="24">
                    <c:v>WK19</c:v>
                  </c:pt>
                  <c:pt idx="25">
                    <c:v>WK20</c:v>
                  </c:pt>
                  <c:pt idx="26">
                    <c:v>WK21</c:v>
                  </c:pt>
                  <c:pt idx="27">
                    <c:v>WK22</c:v>
                  </c:pt>
                  <c:pt idx="28">
                    <c:v>WK23</c:v>
                  </c:pt>
                  <c:pt idx="29">
                    <c:v>WK24</c:v>
                  </c:pt>
                  <c:pt idx="30">
                    <c:v>WK25</c:v>
                  </c:pt>
                  <c:pt idx="31">
                    <c:v>WK26</c:v>
                  </c:pt>
                  <c:pt idx="32">
                    <c:v>WK27</c:v>
                  </c:pt>
                  <c:pt idx="33">
                    <c:v>WK28</c:v>
                  </c:pt>
                  <c:pt idx="34">
                    <c:v>WK29</c:v>
                  </c:pt>
                  <c:pt idx="35">
                    <c:v>WK30</c:v>
                  </c:pt>
                  <c:pt idx="36">
                    <c:v>WK31</c:v>
                  </c:pt>
                  <c:pt idx="37">
                    <c:v>WK32</c:v>
                  </c:pt>
                  <c:pt idx="38">
                    <c:v>WK33</c:v>
                  </c:pt>
                  <c:pt idx="39">
                    <c:v>WK34</c:v>
                  </c:pt>
                  <c:pt idx="40">
                    <c:v>WK35</c:v>
                  </c:pt>
                  <c:pt idx="41">
                    <c:v>WK36</c:v>
                  </c:pt>
                  <c:pt idx="42">
                    <c:v>WK37</c:v>
                  </c:pt>
                  <c:pt idx="43">
                    <c:v>WK38</c:v>
                  </c:pt>
                  <c:pt idx="44">
                    <c:v>WK39</c:v>
                  </c:pt>
                  <c:pt idx="45">
                    <c:v>WK40</c:v>
                  </c:pt>
                  <c:pt idx="46">
                    <c:v>WK41</c:v>
                  </c:pt>
                  <c:pt idx="47">
                    <c:v>WK42</c:v>
                  </c:pt>
                  <c:pt idx="48">
                    <c:v>WK43</c:v>
                  </c:pt>
                  <c:pt idx="49">
                    <c:v>WK44</c:v>
                  </c:pt>
                  <c:pt idx="50">
                    <c:v>WK45</c:v>
                  </c:pt>
                  <c:pt idx="51">
                    <c:v>WK46</c:v>
                  </c:pt>
                  <c:pt idx="52">
                    <c:v>WK47</c:v>
                  </c:pt>
                  <c:pt idx="53">
                    <c:v>WK48</c:v>
                  </c:pt>
                  <c:pt idx="54">
                    <c:v>WK49</c:v>
                  </c:pt>
                </c:lvl>
                <c:lvl>
                  <c:pt idx="0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SARSCOV2!$AI$3:$AI$57</c:f>
              <c:numCache>
                <c:formatCode>General</c:formatCode>
                <c:ptCount val="55"/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1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1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1</c:v>
                </c:pt>
                <c:pt idx="51">
                  <c:v>3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5FD-7549-BEB4-4D61C350B0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65219184"/>
        <c:axId val="1265223024"/>
      </c:barChart>
      <c:lineChart>
        <c:grouping val="standard"/>
        <c:varyColors val="0"/>
        <c:ser>
          <c:idx val="3"/>
          <c:order val="3"/>
          <c:tx>
            <c:strRef>
              <c:f>SARSCOV2!$AF$2</c:f>
              <c:strCache>
                <c:ptCount val="1"/>
                <c:pt idx="0">
                  <c:v># Positivity Maputo</c:v>
                </c:pt>
              </c:strCache>
            </c:strRef>
          </c:tx>
          <c:spPr>
            <a:ln w="28575" cap="rnd">
              <a:solidFill>
                <a:srgbClr val="FF0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multiLvlStrRef>
              <c:f>SARSCOV2!$AA$3:$AB$57</c:f>
              <c:multiLvlStrCache>
                <c:ptCount val="55"/>
                <c:lvl>
                  <c:pt idx="0">
                    <c:v>WK47</c:v>
                  </c:pt>
                  <c:pt idx="1">
                    <c:v>WK48</c:v>
                  </c:pt>
                  <c:pt idx="2">
                    <c:v>WK49</c:v>
                  </c:pt>
                  <c:pt idx="3">
                    <c:v>WK50</c:v>
                  </c:pt>
                  <c:pt idx="4">
                    <c:v>WK51</c:v>
                  </c:pt>
                  <c:pt idx="5">
                    <c:v>WK52</c:v>
                  </c:pt>
                  <c:pt idx="6">
                    <c:v>Wk1</c:v>
                  </c:pt>
                  <c:pt idx="7">
                    <c:v>WK2</c:v>
                  </c:pt>
                  <c:pt idx="8">
                    <c:v>WK3</c:v>
                  </c:pt>
                  <c:pt idx="9">
                    <c:v>WK4</c:v>
                  </c:pt>
                  <c:pt idx="10">
                    <c:v>WK5</c:v>
                  </c:pt>
                  <c:pt idx="11">
                    <c:v>WK6</c:v>
                  </c:pt>
                  <c:pt idx="12">
                    <c:v>WK7</c:v>
                  </c:pt>
                  <c:pt idx="13">
                    <c:v>WK8</c:v>
                  </c:pt>
                  <c:pt idx="14">
                    <c:v>WK9</c:v>
                  </c:pt>
                  <c:pt idx="15">
                    <c:v>WK10</c:v>
                  </c:pt>
                  <c:pt idx="16">
                    <c:v>WK11</c:v>
                  </c:pt>
                  <c:pt idx="17">
                    <c:v>WK12</c:v>
                  </c:pt>
                  <c:pt idx="18">
                    <c:v>WK13</c:v>
                  </c:pt>
                  <c:pt idx="19">
                    <c:v>WK14</c:v>
                  </c:pt>
                  <c:pt idx="20">
                    <c:v>WK15</c:v>
                  </c:pt>
                  <c:pt idx="21">
                    <c:v>WK16</c:v>
                  </c:pt>
                  <c:pt idx="22">
                    <c:v>WK17</c:v>
                  </c:pt>
                  <c:pt idx="23">
                    <c:v>WK18</c:v>
                  </c:pt>
                  <c:pt idx="24">
                    <c:v>WK19</c:v>
                  </c:pt>
                  <c:pt idx="25">
                    <c:v>WK20</c:v>
                  </c:pt>
                  <c:pt idx="26">
                    <c:v>WK21</c:v>
                  </c:pt>
                  <c:pt idx="27">
                    <c:v>WK22</c:v>
                  </c:pt>
                  <c:pt idx="28">
                    <c:v>WK23</c:v>
                  </c:pt>
                  <c:pt idx="29">
                    <c:v>WK24</c:v>
                  </c:pt>
                  <c:pt idx="30">
                    <c:v>WK25</c:v>
                  </c:pt>
                  <c:pt idx="31">
                    <c:v>WK26</c:v>
                  </c:pt>
                  <c:pt idx="32">
                    <c:v>WK27</c:v>
                  </c:pt>
                  <c:pt idx="33">
                    <c:v>WK28</c:v>
                  </c:pt>
                  <c:pt idx="34">
                    <c:v>WK29</c:v>
                  </c:pt>
                  <c:pt idx="35">
                    <c:v>WK30</c:v>
                  </c:pt>
                  <c:pt idx="36">
                    <c:v>WK31</c:v>
                  </c:pt>
                  <c:pt idx="37">
                    <c:v>WK32</c:v>
                  </c:pt>
                  <c:pt idx="38">
                    <c:v>WK33</c:v>
                  </c:pt>
                  <c:pt idx="39">
                    <c:v>WK34</c:v>
                  </c:pt>
                  <c:pt idx="40">
                    <c:v>WK35</c:v>
                  </c:pt>
                  <c:pt idx="41">
                    <c:v>WK36</c:v>
                  </c:pt>
                  <c:pt idx="42">
                    <c:v>WK37</c:v>
                  </c:pt>
                  <c:pt idx="43">
                    <c:v>WK38</c:v>
                  </c:pt>
                  <c:pt idx="44">
                    <c:v>WK39</c:v>
                  </c:pt>
                  <c:pt idx="45">
                    <c:v>WK40</c:v>
                  </c:pt>
                  <c:pt idx="46">
                    <c:v>WK41</c:v>
                  </c:pt>
                  <c:pt idx="47">
                    <c:v>WK42</c:v>
                  </c:pt>
                  <c:pt idx="48">
                    <c:v>WK43</c:v>
                  </c:pt>
                  <c:pt idx="49">
                    <c:v>WK44</c:v>
                  </c:pt>
                  <c:pt idx="50">
                    <c:v>WK45</c:v>
                  </c:pt>
                  <c:pt idx="51">
                    <c:v>WK46</c:v>
                  </c:pt>
                  <c:pt idx="52">
                    <c:v>WK47</c:v>
                  </c:pt>
                  <c:pt idx="53">
                    <c:v>WK48</c:v>
                  </c:pt>
                  <c:pt idx="54">
                    <c:v>WK49</c:v>
                  </c:pt>
                </c:lvl>
                <c:lvl>
                  <c:pt idx="0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SARSCOV2!$AF$3:$AF$57</c:f>
              <c:numCache>
                <c:formatCode>0%</c:formatCode>
                <c:ptCount val="55"/>
                <c:pt idx="0">
                  <c:v>8.3333333333333329E-2</c:v>
                </c:pt>
                <c:pt idx="1">
                  <c:v>0.18181818181818182</c:v>
                </c:pt>
                <c:pt idx="2">
                  <c:v>0.6</c:v>
                </c:pt>
                <c:pt idx="3">
                  <c:v>0</c:v>
                </c:pt>
                <c:pt idx="4">
                  <c:v>0.42857142857142855</c:v>
                </c:pt>
                <c:pt idx="5">
                  <c:v>0</c:v>
                </c:pt>
                <c:pt idx="6">
                  <c:v>0</c:v>
                </c:pt>
                <c:pt idx="7">
                  <c:v>9.0909090909090912E-2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4.7619047619047616E-2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3.8461538461538464E-2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4.3478260869565216E-2</c:v>
                </c:pt>
                <c:pt idx="24">
                  <c:v>3.8461538461538464E-2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0.04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2.5000000000000001E-2</c:v>
                </c:pt>
                <c:pt idx="44">
                  <c:v>0</c:v>
                </c:pt>
                <c:pt idx="45">
                  <c:v>0</c:v>
                </c:pt>
                <c:pt idx="46">
                  <c:v>2.564102564102564E-2</c:v>
                </c:pt>
                <c:pt idx="47">
                  <c:v>0</c:v>
                </c:pt>
                <c:pt idx="48">
                  <c:v>5.5555555555555552E-2</c:v>
                </c:pt>
                <c:pt idx="49">
                  <c:v>2.3809523809523808E-2</c:v>
                </c:pt>
                <c:pt idx="50">
                  <c:v>0.05</c:v>
                </c:pt>
                <c:pt idx="51">
                  <c:v>2.0408163265306121E-2</c:v>
                </c:pt>
                <c:pt idx="52">
                  <c:v>0</c:v>
                </c:pt>
                <c:pt idx="53">
                  <c:v>3.0303030303030304E-2</c:v>
                </c:pt>
                <c:pt idx="5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85FD-7549-BEB4-4D61C350B0B3}"/>
            </c:ext>
          </c:extLst>
        </c:ser>
        <c:ser>
          <c:idx val="7"/>
          <c:order val="7"/>
          <c:tx>
            <c:strRef>
              <c:f>SARSCOV2!$AJ$2</c:f>
              <c:strCache>
                <c:ptCount val="1"/>
                <c:pt idx="0">
                  <c:v># Positivity Comunidade Zimpeto Maputo</c:v>
                </c:pt>
              </c:strCache>
            </c:strRef>
          </c:tx>
          <c:spPr>
            <a:ln w="28575" cap="rnd">
              <a:solidFill>
                <a:srgbClr val="FFC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multiLvlStrRef>
              <c:f>SARSCOV2!$AA$3:$AB$57</c:f>
              <c:multiLvlStrCache>
                <c:ptCount val="55"/>
                <c:lvl>
                  <c:pt idx="0">
                    <c:v>WK47</c:v>
                  </c:pt>
                  <c:pt idx="1">
                    <c:v>WK48</c:v>
                  </c:pt>
                  <c:pt idx="2">
                    <c:v>WK49</c:v>
                  </c:pt>
                  <c:pt idx="3">
                    <c:v>WK50</c:v>
                  </c:pt>
                  <c:pt idx="4">
                    <c:v>WK51</c:v>
                  </c:pt>
                  <c:pt idx="5">
                    <c:v>WK52</c:v>
                  </c:pt>
                  <c:pt idx="6">
                    <c:v>Wk1</c:v>
                  </c:pt>
                  <c:pt idx="7">
                    <c:v>WK2</c:v>
                  </c:pt>
                  <c:pt idx="8">
                    <c:v>WK3</c:v>
                  </c:pt>
                  <c:pt idx="9">
                    <c:v>WK4</c:v>
                  </c:pt>
                  <c:pt idx="10">
                    <c:v>WK5</c:v>
                  </c:pt>
                  <c:pt idx="11">
                    <c:v>WK6</c:v>
                  </c:pt>
                  <c:pt idx="12">
                    <c:v>WK7</c:v>
                  </c:pt>
                  <c:pt idx="13">
                    <c:v>WK8</c:v>
                  </c:pt>
                  <c:pt idx="14">
                    <c:v>WK9</c:v>
                  </c:pt>
                  <c:pt idx="15">
                    <c:v>WK10</c:v>
                  </c:pt>
                  <c:pt idx="16">
                    <c:v>WK11</c:v>
                  </c:pt>
                  <c:pt idx="17">
                    <c:v>WK12</c:v>
                  </c:pt>
                  <c:pt idx="18">
                    <c:v>WK13</c:v>
                  </c:pt>
                  <c:pt idx="19">
                    <c:v>WK14</c:v>
                  </c:pt>
                  <c:pt idx="20">
                    <c:v>WK15</c:v>
                  </c:pt>
                  <c:pt idx="21">
                    <c:v>WK16</c:v>
                  </c:pt>
                  <c:pt idx="22">
                    <c:v>WK17</c:v>
                  </c:pt>
                  <c:pt idx="23">
                    <c:v>WK18</c:v>
                  </c:pt>
                  <c:pt idx="24">
                    <c:v>WK19</c:v>
                  </c:pt>
                  <c:pt idx="25">
                    <c:v>WK20</c:v>
                  </c:pt>
                  <c:pt idx="26">
                    <c:v>WK21</c:v>
                  </c:pt>
                  <c:pt idx="27">
                    <c:v>WK22</c:v>
                  </c:pt>
                  <c:pt idx="28">
                    <c:v>WK23</c:v>
                  </c:pt>
                  <c:pt idx="29">
                    <c:v>WK24</c:v>
                  </c:pt>
                  <c:pt idx="30">
                    <c:v>WK25</c:v>
                  </c:pt>
                  <c:pt idx="31">
                    <c:v>WK26</c:v>
                  </c:pt>
                  <c:pt idx="32">
                    <c:v>WK27</c:v>
                  </c:pt>
                  <c:pt idx="33">
                    <c:v>WK28</c:v>
                  </c:pt>
                  <c:pt idx="34">
                    <c:v>WK29</c:v>
                  </c:pt>
                  <c:pt idx="35">
                    <c:v>WK30</c:v>
                  </c:pt>
                  <c:pt idx="36">
                    <c:v>WK31</c:v>
                  </c:pt>
                  <c:pt idx="37">
                    <c:v>WK32</c:v>
                  </c:pt>
                  <c:pt idx="38">
                    <c:v>WK33</c:v>
                  </c:pt>
                  <c:pt idx="39">
                    <c:v>WK34</c:v>
                  </c:pt>
                  <c:pt idx="40">
                    <c:v>WK35</c:v>
                  </c:pt>
                  <c:pt idx="41">
                    <c:v>WK36</c:v>
                  </c:pt>
                  <c:pt idx="42">
                    <c:v>WK37</c:v>
                  </c:pt>
                  <c:pt idx="43">
                    <c:v>WK38</c:v>
                  </c:pt>
                  <c:pt idx="44">
                    <c:v>WK39</c:v>
                  </c:pt>
                  <c:pt idx="45">
                    <c:v>WK40</c:v>
                  </c:pt>
                  <c:pt idx="46">
                    <c:v>WK41</c:v>
                  </c:pt>
                  <c:pt idx="47">
                    <c:v>WK42</c:v>
                  </c:pt>
                  <c:pt idx="48">
                    <c:v>WK43</c:v>
                  </c:pt>
                  <c:pt idx="49">
                    <c:v>WK44</c:v>
                  </c:pt>
                  <c:pt idx="50">
                    <c:v>WK45</c:v>
                  </c:pt>
                  <c:pt idx="51">
                    <c:v>WK46</c:v>
                  </c:pt>
                  <c:pt idx="52">
                    <c:v>WK47</c:v>
                  </c:pt>
                  <c:pt idx="53">
                    <c:v>WK48</c:v>
                  </c:pt>
                  <c:pt idx="54">
                    <c:v>WK49</c:v>
                  </c:pt>
                </c:lvl>
                <c:lvl>
                  <c:pt idx="0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SARSCOV2!$AJ$3:$AJ$57</c:f>
              <c:numCache>
                <c:formatCode>General</c:formatCode>
                <c:ptCount val="55"/>
                <c:pt idx="13" formatCode="0%">
                  <c:v>0</c:v>
                </c:pt>
                <c:pt idx="14" formatCode="0%">
                  <c:v>0</c:v>
                </c:pt>
                <c:pt idx="15" formatCode="0%">
                  <c:v>0</c:v>
                </c:pt>
                <c:pt idx="16" formatCode="0%">
                  <c:v>0</c:v>
                </c:pt>
                <c:pt idx="17" formatCode="0%">
                  <c:v>9.0909090909090912E-2</c:v>
                </c:pt>
                <c:pt idx="18" formatCode="0%">
                  <c:v>0</c:v>
                </c:pt>
                <c:pt idx="19" formatCode="0%">
                  <c:v>0</c:v>
                </c:pt>
                <c:pt idx="20" formatCode="0%">
                  <c:v>0</c:v>
                </c:pt>
                <c:pt idx="21" formatCode="0%">
                  <c:v>0</c:v>
                </c:pt>
                <c:pt idx="22" formatCode="0%">
                  <c:v>0</c:v>
                </c:pt>
                <c:pt idx="23" formatCode="0%">
                  <c:v>0</c:v>
                </c:pt>
                <c:pt idx="24" formatCode="0%">
                  <c:v>0</c:v>
                </c:pt>
                <c:pt idx="25" formatCode="0%">
                  <c:v>7.1428571428571425E-2</c:v>
                </c:pt>
                <c:pt idx="26" formatCode="0%">
                  <c:v>0</c:v>
                </c:pt>
                <c:pt idx="27" formatCode="0%">
                  <c:v>0</c:v>
                </c:pt>
                <c:pt idx="28" formatCode="0%">
                  <c:v>0</c:v>
                </c:pt>
                <c:pt idx="29" formatCode="0%">
                  <c:v>0</c:v>
                </c:pt>
                <c:pt idx="30" formatCode="0%">
                  <c:v>0</c:v>
                </c:pt>
                <c:pt idx="31" formatCode="0%">
                  <c:v>0</c:v>
                </c:pt>
                <c:pt idx="32" formatCode="0%">
                  <c:v>0</c:v>
                </c:pt>
                <c:pt idx="33" formatCode="0%">
                  <c:v>0</c:v>
                </c:pt>
                <c:pt idx="34" formatCode="0%">
                  <c:v>0</c:v>
                </c:pt>
                <c:pt idx="35" formatCode="0%">
                  <c:v>0</c:v>
                </c:pt>
                <c:pt idx="36" formatCode="0%">
                  <c:v>0</c:v>
                </c:pt>
                <c:pt idx="37" formatCode="0%">
                  <c:v>0</c:v>
                </c:pt>
                <c:pt idx="38" formatCode="0%">
                  <c:v>0</c:v>
                </c:pt>
                <c:pt idx="39" formatCode="0%">
                  <c:v>0</c:v>
                </c:pt>
                <c:pt idx="40" formatCode="0%">
                  <c:v>0</c:v>
                </c:pt>
                <c:pt idx="41" formatCode="0%">
                  <c:v>0</c:v>
                </c:pt>
                <c:pt idx="42" formatCode="0%">
                  <c:v>0</c:v>
                </c:pt>
                <c:pt idx="43" formatCode="0%">
                  <c:v>0</c:v>
                </c:pt>
                <c:pt idx="44" formatCode="0%">
                  <c:v>0</c:v>
                </c:pt>
                <c:pt idx="45" formatCode="0%">
                  <c:v>0</c:v>
                </c:pt>
                <c:pt idx="46" formatCode="0%">
                  <c:v>0</c:v>
                </c:pt>
                <c:pt idx="47" formatCode="0%">
                  <c:v>0</c:v>
                </c:pt>
                <c:pt idx="48" formatCode="0%">
                  <c:v>0</c:v>
                </c:pt>
                <c:pt idx="49" formatCode="0%">
                  <c:v>0</c:v>
                </c:pt>
                <c:pt idx="50" formatCode="0%">
                  <c:v>3.4482758620689655E-2</c:v>
                </c:pt>
                <c:pt idx="51" formatCode="0%">
                  <c:v>8.3333333333333329E-2</c:v>
                </c:pt>
                <c:pt idx="52" formatCode="0%">
                  <c:v>0</c:v>
                </c:pt>
                <c:pt idx="53" formatCode="0%">
                  <c:v>0</c:v>
                </c:pt>
                <c:pt idx="54" formatCode="0%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85FD-7549-BEB4-4D61C350B0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65185584"/>
        <c:axId val="1265172144"/>
      </c:lineChart>
      <c:catAx>
        <c:axId val="1265219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5223024"/>
        <c:crosses val="autoZero"/>
        <c:auto val="1"/>
        <c:lblAlgn val="ctr"/>
        <c:lblOffset val="100"/>
        <c:noMultiLvlLbl val="0"/>
      </c:catAx>
      <c:valAx>
        <c:axId val="12652230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5219184"/>
        <c:crosses val="autoZero"/>
        <c:crossBetween val="between"/>
      </c:valAx>
      <c:valAx>
        <c:axId val="1265172144"/>
        <c:scaling>
          <c:orientation val="minMax"/>
          <c:max val="1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5185584"/>
        <c:crosses val="max"/>
        <c:crossBetween val="between"/>
      </c:valAx>
      <c:catAx>
        <c:axId val="12651855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651721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 sz="1800" b="1" dirty="0">
                <a:solidFill>
                  <a:schemeClr val="tx1"/>
                </a:solidFill>
              </a:rPr>
              <a:t>Cholera Surveillance at</a:t>
            </a:r>
            <a:r>
              <a:rPr lang="en-GB" sz="1800" b="1" baseline="0" dirty="0">
                <a:solidFill>
                  <a:schemeClr val="tx1"/>
                </a:solidFill>
              </a:rPr>
              <a:t> Tete Hospital</a:t>
            </a:r>
            <a:endParaRPr lang="en-GB" sz="1800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INFLUENZA!$D$2</c:f>
              <c:strCache>
                <c:ptCount val="1"/>
                <c:pt idx="0">
                  <c:v># Diarrhoeal cases reported Tete Hospital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INFLUENZA!$B$3:$C$13</c:f>
              <c:strCache>
                <c:ptCount val="11"/>
                <c:pt idx="0">
                  <c:v>WK39</c:v>
                </c:pt>
                <c:pt idx="1">
                  <c:v>WK40</c:v>
                </c:pt>
                <c:pt idx="2">
                  <c:v>WK41</c:v>
                </c:pt>
                <c:pt idx="3">
                  <c:v>WK42</c:v>
                </c:pt>
                <c:pt idx="4">
                  <c:v>WK43</c:v>
                </c:pt>
                <c:pt idx="5">
                  <c:v>WK44</c:v>
                </c:pt>
                <c:pt idx="6">
                  <c:v>WK45</c:v>
                </c:pt>
                <c:pt idx="7">
                  <c:v>WK46</c:v>
                </c:pt>
                <c:pt idx="8">
                  <c:v>WK47</c:v>
                </c:pt>
                <c:pt idx="9">
                  <c:v>WK48</c:v>
                </c:pt>
                <c:pt idx="10">
                  <c:v>WK49</c:v>
                </c:pt>
              </c:strCache>
            </c:strRef>
          </c:cat>
          <c:val>
            <c:numRef>
              <c:f>INFLUENZA!$D$3:$D$13</c:f>
              <c:numCache>
                <c:formatCode>General</c:formatCode>
                <c:ptCount val="11"/>
                <c:pt idx="0">
                  <c:v>10</c:v>
                </c:pt>
                <c:pt idx="1">
                  <c:v>11</c:v>
                </c:pt>
                <c:pt idx="2">
                  <c:v>10</c:v>
                </c:pt>
                <c:pt idx="3">
                  <c:v>4</c:v>
                </c:pt>
                <c:pt idx="4">
                  <c:v>4</c:v>
                </c:pt>
                <c:pt idx="5">
                  <c:v>5</c:v>
                </c:pt>
                <c:pt idx="6">
                  <c:v>12</c:v>
                </c:pt>
                <c:pt idx="7">
                  <c:v>3</c:v>
                </c:pt>
                <c:pt idx="8">
                  <c:v>6</c:v>
                </c:pt>
                <c:pt idx="9">
                  <c:v>11</c:v>
                </c:pt>
                <c:pt idx="10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07-724D-B4D7-BB0669C8EB18}"/>
            </c:ext>
          </c:extLst>
        </c:ser>
        <c:ser>
          <c:idx val="1"/>
          <c:order val="1"/>
          <c:tx>
            <c:strRef>
              <c:f>INFLUENZA!$E$2</c:f>
              <c:strCache>
                <c:ptCount val="1"/>
                <c:pt idx="0">
                  <c:v># Suspected Cholera cases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INFLUENZA!$B$3:$C$13</c:f>
              <c:strCache>
                <c:ptCount val="11"/>
                <c:pt idx="0">
                  <c:v>WK39</c:v>
                </c:pt>
                <c:pt idx="1">
                  <c:v>WK40</c:v>
                </c:pt>
                <c:pt idx="2">
                  <c:v>WK41</c:v>
                </c:pt>
                <c:pt idx="3">
                  <c:v>WK42</c:v>
                </c:pt>
                <c:pt idx="4">
                  <c:v>WK43</c:v>
                </c:pt>
                <c:pt idx="5">
                  <c:v>WK44</c:v>
                </c:pt>
                <c:pt idx="6">
                  <c:v>WK45</c:v>
                </c:pt>
                <c:pt idx="7">
                  <c:v>WK46</c:v>
                </c:pt>
                <c:pt idx="8">
                  <c:v>WK47</c:v>
                </c:pt>
                <c:pt idx="9">
                  <c:v>WK48</c:v>
                </c:pt>
                <c:pt idx="10">
                  <c:v>WK49</c:v>
                </c:pt>
              </c:strCache>
            </c:strRef>
          </c:cat>
          <c:val>
            <c:numRef>
              <c:f>INFLUENZA!$E$3:$E$13</c:f>
              <c:numCache>
                <c:formatCode>General</c:formatCode>
                <c:ptCount val="11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4</c:v>
                </c:pt>
                <c:pt idx="6">
                  <c:v>7</c:v>
                </c:pt>
                <c:pt idx="7">
                  <c:v>1</c:v>
                </c:pt>
                <c:pt idx="8">
                  <c:v>4</c:v>
                </c:pt>
                <c:pt idx="9">
                  <c:v>8</c:v>
                </c:pt>
                <c:pt idx="10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07-724D-B4D7-BB0669C8EB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44643456"/>
        <c:axId val="344643936"/>
      </c:barChart>
      <c:lineChart>
        <c:grouping val="standard"/>
        <c:varyColors val="0"/>
        <c:ser>
          <c:idx val="3"/>
          <c:order val="2"/>
          <c:tx>
            <c:strRef>
              <c:f>INFLUENZA!$G$2</c:f>
              <c:strCache>
                <c:ptCount val="1"/>
                <c:pt idx="0">
                  <c:v>Positivity rate for RDT Tete Hospital</c:v>
                </c:pt>
              </c:strCache>
            </c:strRef>
          </c:tx>
          <c:spPr>
            <a:ln w="31750" cap="rnd">
              <a:solidFill>
                <a:srgbClr val="FF0000"/>
              </a:solidFill>
              <a:prstDash val="sysDash"/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3.5987404408457371E-3"/>
                  <c:y val="-3.305785123966942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807-724D-B4D7-BB0669C8EB18}"/>
                </c:ext>
              </c:extLst>
            </c:dLbl>
            <c:dLbl>
              <c:idx val="6"/>
              <c:layout>
                <c:manualLayout>
                  <c:x val="-1.5294646873594308E-2"/>
                  <c:y val="5.785123966942138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807-724D-B4D7-BB0669C8EB18}"/>
                </c:ext>
              </c:extLst>
            </c:dLbl>
            <c:dLbl>
              <c:idx val="8"/>
              <c:layout>
                <c:manualLayout>
                  <c:x val="-2.0692757534862799E-2"/>
                  <c:y val="-2.47933884297520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807-724D-B4D7-BB0669C8EB18}"/>
                </c:ext>
              </c:extLst>
            </c:dLbl>
            <c:dLbl>
              <c:idx val="9"/>
              <c:layout>
                <c:manualLayout>
                  <c:x val="-1.4394961763382948E-2"/>
                  <c:y val="-2.47933884297520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807-724D-B4D7-BB0669C8EB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INFLUENZA!$B$3:$C$13</c:f>
              <c:strCache>
                <c:ptCount val="11"/>
                <c:pt idx="0">
                  <c:v>WK39</c:v>
                </c:pt>
                <c:pt idx="1">
                  <c:v>WK40</c:v>
                </c:pt>
                <c:pt idx="2">
                  <c:v>WK41</c:v>
                </c:pt>
                <c:pt idx="3">
                  <c:v>WK42</c:v>
                </c:pt>
                <c:pt idx="4">
                  <c:v>WK43</c:v>
                </c:pt>
                <c:pt idx="5">
                  <c:v>WK44</c:v>
                </c:pt>
                <c:pt idx="6">
                  <c:v>WK45</c:v>
                </c:pt>
                <c:pt idx="7">
                  <c:v>WK46</c:v>
                </c:pt>
                <c:pt idx="8">
                  <c:v>WK47</c:v>
                </c:pt>
                <c:pt idx="9">
                  <c:v>WK48</c:v>
                </c:pt>
                <c:pt idx="10">
                  <c:v>WK49</c:v>
                </c:pt>
              </c:strCache>
            </c:strRef>
          </c:cat>
          <c:val>
            <c:numRef>
              <c:f>INFLUENZA!$G$3:$G$13</c:f>
              <c:numCache>
                <c:formatCode>0%</c:formatCode>
                <c:ptCount val="11"/>
                <c:pt idx="0">
                  <c:v>0.6</c:v>
                </c:pt>
                <c:pt idx="1">
                  <c:v>0.25</c:v>
                </c:pt>
                <c:pt idx="2">
                  <c:v>0.33333333333333331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0.2857142857142857</c:v>
                </c:pt>
                <c:pt idx="7">
                  <c:v>0</c:v>
                </c:pt>
                <c:pt idx="8">
                  <c:v>0.5</c:v>
                </c:pt>
                <c:pt idx="9">
                  <c:v>1</c:v>
                </c:pt>
                <c:pt idx="10">
                  <c:v>0.52941176470588236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3807-724D-B4D7-BB0669C8EB18}"/>
            </c:ext>
          </c:extLst>
        </c:ser>
        <c:ser>
          <c:idx val="4"/>
          <c:order val="3"/>
          <c:tx>
            <c:strRef>
              <c:f>INFLUENZA!$I$2</c:f>
              <c:strCache>
                <c:ptCount val="1"/>
                <c:pt idx="0">
                  <c:v>Positivity rate for Cholera (Culture) PHL</c:v>
                </c:pt>
              </c:strCache>
            </c:strRef>
          </c:tx>
          <c:spPr>
            <a:ln w="31750" cap="rnd">
              <a:solidFill>
                <a:srgbClr val="FFC000"/>
              </a:solidFill>
              <a:prstDash val="sysDash"/>
              <a:round/>
            </a:ln>
            <a:effectLst/>
          </c:spPr>
          <c:marker>
            <c:symbol val="none"/>
          </c:marker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807-724D-B4D7-BB0669C8EB18}"/>
                </c:ext>
              </c:extLst>
            </c:dLbl>
            <c:dLbl>
              <c:idx val="6"/>
              <c:layout>
                <c:manualLayout>
                  <c:x val="-1.4394961763382817E-2"/>
                  <c:y val="4.13223140495867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807-724D-B4D7-BB0669C8EB18}"/>
                </c:ext>
              </c:extLst>
            </c:dLbl>
            <c:dLbl>
              <c:idx val="9"/>
              <c:layout>
                <c:manualLayout>
                  <c:x val="-1.3495276653171391E-2"/>
                  <c:y val="-2.754820936639118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807-724D-B4D7-BB0669C8EB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INFLUENZA!$B$3:$C$13</c:f>
              <c:strCache>
                <c:ptCount val="11"/>
                <c:pt idx="0">
                  <c:v>WK39</c:v>
                </c:pt>
                <c:pt idx="1">
                  <c:v>WK40</c:v>
                </c:pt>
                <c:pt idx="2">
                  <c:v>WK41</c:v>
                </c:pt>
                <c:pt idx="3">
                  <c:v>WK42</c:v>
                </c:pt>
                <c:pt idx="4">
                  <c:v>WK43</c:v>
                </c:pt>
                <c:pt idx="5">
                  <c:v>WK44</c:v>
                </c:pt>
                <c:pt idx="6">
                  <c:v>WK45</c:v>
                </c:pt>
                <c:pt idx="7">
                  <c:v>WK46</c:v>
                </c:pt>
                <c:pt idx="8">
                  <c:v>WK47</c:v>
                </c:pt>
                <c:pt idx="9">
                  <c:v>WK48</c:v>
                </c:pt>
                <c:pt idx="10">
                  <c:v>WK49</c:v>
                </c:pt>
              </c:strCache>
            </c:strRef>
          </c:cat>
          <c:val>
            <c:numRef>
              <c:f>INFLUENZA!$I$3:$I$13</c:f>
              <c:numCache>
                <c:formatCode>0%</c:formatCode>
                <c:ptCount val="11"/>
                <c:pt idx="1">
                  <c:v>0.25</c:v>
                </c:pt>
                <c:pt idx="2">
                  <c:v>0.33333333333333331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0.14285714285714285</c:v>
                </c:pt>
                <c:pt idx="7">
                  <c:v>0</c:v>
                </c:pt>
                <c:pt idx="8">
                  <c:v>0</c:v>
                </c:pt>
                <c:pt idx="9">
                  <c:v>0.5</c:v>
                </c:pt>
                <c:pt idx="10">
                  <c:v>0.41176470588235292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3807-724D-B4D7-BB0669C8EB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74441408"/>
        <c:axId val="1699956032"/>
      </c:lineChart>
      <c:catAx>
        <c:axId val="344643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4643936"/>
        <c:crosses val="autoZero"/>
        <c:auto val="1"/>
        <c:lblAlgn val="ctr"/>
        <c:lblOffset val="100"/>
        <c:noMultiLvlLbl val="0"/>
      </c:catAx>
      <c:valAx>
        <c:axId val="344643936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4643456"/>
        <c:crosses val="autoZero"/>
        <c:crossBetween val="between"/>
      </c:valAx>
      <c:valAx>
        <c:axId val="1699956032"/>
        <c:scaling>
          <c:orientation val="minMax"/>
          <c:max val="1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T"/>
          </a:p>
        </c:txPr>
        <c:crossAx val="1674441408"/>
        <c:crosses val="max"/>
        <c:crossBetween val="between"/>
      </c:valAx>
      <c:catAx>
        <c:axId val="16744414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9995603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 b="1">
                <a:solidFill>
                  <a:schemeClr val="tx1"/>
                </a:solidFill>
              </a:rPr>
              <a:t>Zimpeto </a:t>
            </a:r>
          </a:p>
          <a:p>
            <a:pPr>
              <a:defRPr b="1">
                <a:solidFill>
                  <a:schemeClr val="tx1"/>
                </a:solidFill>
              </a:defRPr>
            </a:pPr>
            <a:r>
              <a:rPr lang="en-GB" b="1">
                <a:solidFill>
                  <a:schemeClr val="tx1"/>
                </a:solidFill>
              </a:rPr>
              <a:t>Influenza combined HF &amp; Community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4760714458557447E-2"/>
          <c:y val="0.11370556646574165"/>
          <c:w val="0.92850856093625322"/>
          <c:h val="0.5237794165619681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INFLUENZA!$D$2</c:f>
              <c:strCache>
                <c:ptCount val="1"/>
                <c:pt idx="0">
                  <c:v>Cases reported at Hospital Zimpeto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INFLUENZA!$B$3:$C$57</c:f>
              <c:multiLvlStrCache>
                <c:ptCount val="55"/>
                <c:lvl>
                  <c:pt idx="0">
                    <c:v>WK47</c:v>
                  </c:pt>
                  <c:pt idx="1">
                    <c:v>WK48</c:v>
                  </c:pt>
                  <c:pt idx="2">
                    <c:v>WK49</c:v>
                  </c:pt>
                  <c:pt idx="3">
                    <c:v>WK50</c:v>
                  </c:pt>
                  <c:pt idx="4">
                    <c:v>WK51</c:v>
                  </c:pt>
                  <c:pt idx="5">
                    <c:v>WK52</c:v>
                  </c:pt>
                  <c:pt idx="6">
                    <c:v>Wk1</c:v>
                  </c:pt>
                  <c:pt idx="7">
                    <c:v>WK2</c:v>
                  </c:pt>
                  <c:pt idx="8">
                    <c:v>WK3</c:v>
                  </c:pt>
                  <c:pt idx="9">
                    <c:v>WK4</c:v>
                  </c:pt>
                  <c:pt idx="10">
                    <c:v>WK5</c:v>
                  </c:pt>
                  <c:pt idx="11">
                    <c:v>WK6</c:v>
                  </c:pt>
                  <c:pt idx="12">
                    <c:v>WK7</c:v>
                  </c:pt>
                  <c:pt idx="13">
                    <c:v>WK8</c:v>
                  </c:pt>
                  <c:pt idx="14">
                    <c:v>WK9</c:v>
                  </c:pt>
                  <c:pt idx="15">
                    <c:v>WK10</c:v>
                  </c:pt>
                  <c:pt idx="16">
                    <c:v>WK11</c:v>
                  </c:pt>
                  <c:pt idx="17">
                    <c:v>WK12</c:v>
                  </c:pt>
                  <c:pt idx="18">
                    <c:v>WK13</c:v>
                  </c:pt>
                  <c:pt idx="19">
                    <c:v>WK14</c:v>
                  </c:pt>
                  <c:pt idx="20">
                    <c:v>WK15</c:v>
                  </c:pt>
                  <c:pt idx="21">
                    <c:v>WK16</c:v>
                  </c:pt>
                  <c:pt idx="22">
                    <c:v>WK17</c:v>
                  </c:pt>
                  <c:pt idx="23">
                    <c:v>WK18</c:v>
                  </c:pt>
                  <c:pt idx="24">
                    <c:v>WK19</c:v>
                  </c:pt>
                  <c:pt idx="25">
                    <c:v>WK20</c:v>
                  </c:pt>
                  <c:pt idx="26">
                    <c:v>WK21</c:v>
                  </c:pt>
                  <c:pt idx="27">
                    <c:v>WK22</c:v>
                  </c:pt>
                  <c:pt idx="28">
                    <c:v>WK23</c:v>
                  </c:pt>
                  <c:pt idx="29">
                    <c:v>WK24</c:v>
                  </c:pt>
                  <c:pt idx="30">
                    <c:v>WK25</c:v>
                  </c:pt>
                  <c:pt idx="31">
                    <c:v>WK26</c:v>
                  </c:pt>
                  <c:pt idx="32">
                    <c:v>WK27</c:v>
                  </c:pt>
                  <c:pt idx="33">
                    <c:v>WK28</c:v>
                  </c:pt>
                  <c:pt idx="34">
                    <c:v>WK29</c:v>
                  </c:pt>
                  <c:pt idx="35">
                    <c:v>WK30</c:v>
                  </c:pt>
                  <c:pt idx="36">
                    <c:v>WK31</c:v>
                  </c:pt>
                  <c:pt idx="37">
                    <c:v>WK32</c:v>
                  </c:pt>
                  <c:pt idx="38">
                    <c:v>WK33</c:v>
                  </c:pt>
                  <c:pt idx="39">
                    <c:v>WK34</c:v>
                  </c:pt>
                  <c:pt idx="40">
                    <c:v>WK35</c:v>
                  </c:pt>
                  <c:pt idx="41">
                    <c:v>WK36</c:v>
                  </c:pt>
                  <c:pt idx="42">
                    <c:v>WK37</c:v>
                  </c:pt>
                  <c:pt idx="43">
                    <c:v>WK38</c:v>
                  </c:pt>
                  <c:pt idx="44">
                    <c:v>WK39</c:v>
                  </c:pt>
                  <c:pt idx="45">
                    <c:v>WK40</c:v>
                  </c:pt>
                  <c:pt idx="46">
                    <c:v>WK41</c:v>
                  </c:pt>
                  <c:pt idx="47">
                    <c:v>WK42</c:v>
                  </c:pt>
                  <c:pt idx="48">
                    <c:v>WK43</c:v>
                  </c:pt>
                  <c:pt idx="49">
                    <c:v>WK44</c:v>
                  </c:pt>
                  <c:pt idx="50">
                    <c:v>WK45</c:v>
                  </c:pt>
                  <c:pt idx="51">
                    <c:v>WK46</c:v>
                  </c:pt>
                  <c:pt idx="52">
                    <c:v>WK47</c:v>
                  </c:pt>
                  <c:pt idx="53">
                    <c:v>WK48</c:v>
                  </c:pt>
                  <c:pt idx="54">
                    <c:v>WK49</c:v>
                  </c:pt>
                </c:lvl>
                <c:lvl>
                  <c:pt idx="0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INFLUENZA!$D$3:$D$57</c:f>
              <c:numCache>
                <c:formatCode>General</c:formatCode>
                <c:ptCount val="55"/>
                <c:pt idx="6">
                  <c:v>54</c:v>
                </c:pt>
                <c:pt idx="7">
                  <c:v>52</c:v>
                </c:pt>
                <c:pt idx="8">
                  <c:v>48</c:v>
                </c:pt>
                <c:pt idx="9">
                  <c:v>48</c:v>
                </c:pt>
                <c:pt idx="10">
                  <c:v>125</c:v>
                </c:pt>
                <c:pt idx="11">
                  <c:v>142</c:v>
                </c:pt>
                <c:pt idx="12">
                  <c:v>169</c:v>
                </c:pt>
                <c:pt idx="13">
                  <c:v>134</c:v>
                </c:pt>
                <c:pt idx="14">
                  <c:v>139</c:v>
                </c:pt>
                <c:pt idx="15">
                  <c:v>115</c:v>
                </c:pt>
                <c:pt idx="16">
                  <c:v>83</c:v>
                </c:pt>
                <c:pt idx="17">
                  <c:v>229</c:v>
                </c:pt>
                <c:pt idx="18">
                  <c:v>196</c:v>
                </c:pt>
                <c:pt idx="19">
                  <c:v>298</c:v>
                </c:pt>
                <c:pt idx="20">
                  <c:v>263</c:v>
                </c:pt>
                <c:pt idx="21">
                  <c:v>230</c:v>
                </c:pt>
                <c:pt idx="22">
                  <c:v>282</c:v>
                </c:pt>
                <c:pt idx="23">
                  <c:v>353</c:v>
                </c:pt>
                <c:pt idx="24">
                  <c:v>553</c:v>
                </c:pt>
                <c:pt idx="25">
                  <c:v>541</c:v>
                </c:pt>
                <c:pt idx="26">
                  <c:v>445</c:v>
                </c:pt>
                <c:pt idx="27">
                  <c:v>667</c:v>
                </c:pt>
                <c:pt idx="28">
                  <c:v>621</c:v>
                </c:pt>
                <c:pt idx="29">
                  <c:v>724</c:v>
                </c:pt>
                <c:pt idx="30">
                  <c:v>651</c:v>
                </c:pt>
                <c:pt idx="31">
                  <c:v>554</c:v>
                </c:pt>
                <c:pt idx="32">
                  <c:v>613</c:v>
                </c:pt>
                <c:pt idx="33">
                  <c:v>685</c:v>
                </c:pt>
                <c:pt idx="34">
                  <c:v>680</c:v>
                </c:pt>
                <c:pt idx="35">
                  <c:v>641</c:v>
                </c:pt>
                <c:pt idx="36">
                  <c:v>595</c:v>
                </c:pt>
                <c:pt idx="37">
                  <c:v>753</c:v>
                </c:pt>
                <c:pt idx="38">
                  <c:v>635</c:v>
                </c:pt>
                <c:pt idx="39">
                  <c:v>668</c:v>
                </c:pt>
                <c:pt idx="40">
                  <c:v>601</c:v>
                </c:pt>
                <c:pt idx="41">
                  <c:v>634</c:v>
                </c:pt>
                <c:pt idx="42">
                  <c:v>740</c:v>
                </c:pt>
                <c:pt idx="43">
                  <c:v>610</c:v>
                </c:pt>
                <c:pt idx="44">
                  <c:v>569</c:v>
                </c:pt>
                <c:pt idx="45">
                  <c:v>660</c:v>
                </c:pt>
                <c:pt idx="46">
                  <c:v>751</c:v>
                </c:pt>
                <c:pt idx="47">
                  <c:v>699</c:v>
                </c:pt>
                <c:pt idx="48">
                  <c:v>711</c:v>
                </c:pt>
                <c:pt idx="49">
                  <c:v>585</c:v>
                </c:pt>
                <c:pt idx="50">
                  <c:v>908</c:v>
                </c:pt>
                <c:pt idx="51">
                  <c:v>930</c:v>
                </c:pt>
                <c:pt idx="52">
                  <c:v>729</c:v>
                </c:pt>
                <c:pt idx="53">
                  <c:v>742</c:v>
                </c:pt>
                <c:pt idx="54">
                  <c:v>729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1F-6B40-BE23-33CEDDE1115A}"/>
            </c:ext>
          </c:extLst>
        </c:ser>
        <c:ser>
          <c:idx val="1"/>
          <c:order val="1"/>
          <c:tx>
            <c:strRef>
              <c:f>INFLUENZA!$E$2</c:f>
              <c:strCache>
                <c:ptCount val="1"/>
                <c:pt idx="0">
                  <c:v>Samples Tested Hospital Zimpeto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multiLvlStrRef>
              <c:f>INFLUENZA!$B$3:$C$57</c:f>
              <c:multiLvlStrCache>
                <c:ptCount val="55"/>
                <c:lvl>
                  <c:pt idx="0">
                    <c:v>WK47</c:v>
                  </c:pt>
                  <c:pt idx="1">
                    <c:v>WK48</c:v>
                  </c:pt>
                  <c:pt idx="2">
                    <c:v>WK49</c:v>
                  </c:pt>
                  <c:pt idx="3">
                    <c:v>WK50</c:v>
                  </c:pt>
                  <c:pt idx="4">
                    <c:v>WK51</c:v>
                  </c:pt>
                  <c:pt idx="5">
                    <c:v>WK52</c:v>
                  </c:pt>
                  <c:pt idx="6">
                    <c:v>Wk1</c:v>
                  </c:pt>
                  <c:pt idx="7">
                    <c:v>WK2</c:v>
                  </c:pt>
                  <c:pt idx="8">
                    <c:v>WK3</c:v>
                  </c:pt>
                  <c:pt idx="9">
                    <c:v>WK4</c:v>
                  </c:pt>
                  <c:pt idx="10">
                    <c:v>WK5</c:v>
                  </c:pt>
                  <c:pt idx="11">
                    <c:v>WK6</c:v>
                  </c:pt>
                  <c:pt idx="12">
                    <c:v>WK7</c:v>
                  </c:pt>
                  <c:pt idx="13">
                    <c:v>WK8</c:v>
                  </c:pt>
                  <c:pt idx="14">
                    <c:v>WK9</c:v>
                  </c:pt>
                  <c:pt idx="15">
                    <c:v>WK10</c:v>
                  </c:pt>
                  <c:pt idx="16">
                    <c:v>WK11</c:v>
                  </c:pt>
                  <c:pt idx="17">
                    <c:v>WK12</c:v>
                  </c:pt>
                  <c:pt idx="18">
                    <c:v>WK13</c:v>
                  </c:pt>
                  <c:pt idx="19">
                    <c:v>WK14</c:v>
                  </c:pt>
                  <c:pt idx="20">
                    <c:v>WK15</c:v>
                  </c:pt>
                  <c:pt idx="21">
                    <c:v>WK16</c:v>
                  </c:pt>
                  <c:pt idx="22">
                    <c:v>WK17</c:v>
                  </c:pt>
                  <c:pt idx="23">
                    <c:v>WK18</c:v>
                  </c:pt>
                  <c:pt idx="24">
                    <c:v>WK19</c:v>
                  </c:pt>
                  <c:pt idx="25">
                    <c:v>WK20</c:v>
                  </c:pt>
                  <c:pt idx="26">
                    <c:v>WK21</c:v>
                  </c:pt>
                  <c:pt idx="27">
                    <c:v>WK22</c:v>
                  </c:pt>
                  <c:pt idx="28">
                    <c:v>WK23</c:v>
                  </c:pt>
                  <c:pt idx="29">
                    <c:v>WK24</c:v>
                  </c:pt>
                  <c:pt idx="30">
                    <c:v>WK25</c:v>
                  </c:pt>
                  <c:pt idx="31">
                    <c:v>WK26</c:v>
                  </c:pt>
                  <c:pt idx="32">
                    <c:v>WK27</c:v>
                  </c:pt>
                  <c:pt idx="33">
                    <c:v>WK28</c:v>
                  </c:pt>
                  <c:pt idx="34">
                    <c:v>WK29</c:v>
                  </c:pt>
                  <c:pt idx="35">
                    <c:v>WK30</c:v>
                  </c:pt>
                  <c:pt idx="36">
                    <c:v>WK31</c:v>
                  </c:pt>
                  <c:pt idx="37">
                    <c:v>WK32</c:v>
                  </c:pt>
                  <c:pt idx="38">
                    <c:v>WK33</c:v>
                  </c:pt>
                  <c:pt idx="39">
                    <c:v>WK34</c:v>
                  </c:pt>
                  <c:pt idx="40">
                    <c:v>WK35</c:v>
                  </c:pt>
                  <c:pt idx="41">
                    <c:v>WK36</c:v>
                  </c:pt>
                  <c:pt idx="42">
                    <c:v>WK37</c:v>
                  </c:pt>
                  <c:pt idx="43">
                    <c:v>WK38</c:v>
                  </c:pt>
                  <c:pt idx="44">
                    <c:v>WK39</c:v>
                  </c:pt>
                  <c:pt idx="45">
                    <c:v>WK40</c:v>
                  </c:pt>
                  <c:pt idx="46">
                    <c:v>WK41</c:v>
                  </c:pt>
                  <c:pt idx="47">
                    <c:v>WK42</c:v>
                  </c:pt>
                  <c:pt idx="48">
                    <c:v>WK43</c:v>
                  </c:pt>
                  <c:pt idx="49">
                    <c:v>WK44</c:v>
                  </c:pt>
                  <c:pt idx="50">
                    <c:v>WK45</c:v>
                  </c:pt>
                  <c:pt idx="51">
                    <c:v>WK46</c:v>
                  </c:pt>
                  <c:pt idx="52">
                    <c:v>WK47</c:v>
                  </c:pt>
                  <c:pt idx="53">
                    <c:v>WK48</c:v>
                  </c:pt>
                  <c:pt idx="54">
                    <c:v>WK49</c:v>
                  </c:pt>
                </c:lvl>
                <c:lvl>
                  <c:pt idx="0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INFLUENZA!$E$3:$E$57</c:f>
              <c:numCache>
                <c:formatCode>General</c:formatCode>
                <c:ptCount val="55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1</c:v>
                </c:pt>
                <c:pt idx="4">
                  <c:v>14</c:v>
                </c:pt>
                <c:pt idx="5">
                  <c:v>0</c:v>
                </c:pt>
                <c:pt idx="6">
                  <c:v>2</c:v>
                </c:pt>
                <c:pt idx="7">
                  <c:v>11</c:v>
                </c:pt>
                <c:pt idx="8">
                  <c:v>6</c:v>
                </c:pt>
                <c:pt idx="9">
                  <c:v>0</c:v>
                </c:pt>
                <c:pt idx="10">
                  <c:v>6</c:v>
                </c:pt>
                <c:pt idx="11">
                  <c:v>21</c:v>
                </c:pt>
                <c:pt idx="12">
                  <c:v>14</c:v>
                </c:pt>
                <c:pt idx="13">
                  <c:v>17</c:v>
                </c:pt>
                <c:pt idx="14">
                  <c:v>26</c:v>
                </c:pt>
                <c:pt idx="15">
                  <c:v>26</c:v>
                </c:pt>
                <c:pt idx="16">
                  <c:v>25</c:v>
                </c:pt>
                <c:pt idx="17">
                  <c:v>12</c:v>
                </c:pt>
                <c:pt idx="18">
                  <c:v>30</c:v>
                </c:pt>
                <c:pt idx="19">
                  <c:v>18</c:v>
                </c:pt>
                <c:pt idx="20">
                  <c:v>13</c:v>
                </c:pt>
                <c:pt idx="21">
                  <c:v>20</c:v>
                </c:pt>
                <c:pt idx="22">
                  <c:v>2</c:v>
                </c:pt>
                <c:pt idx="23">
                  <c:v>23</c:v>
                </c:pt>
                <c:pt idx="24">
                  <c:v>26</c:v>
                </c:pt>
                <c:pt idx="25">
                  <c:v>25</c:v>
                </c:pt>
                <c:pt idx="26">
                  <c:v>23</c:v>
                </c:pt>
                <c:pt idx="27">
                  <c:v>25</c:v>
                </c:pt>
                <c:pt idx="28">
                  <c:v>25</c:v>
                </c:pt>
                <c:pt idx="29">
                  <c:v>25</c:v>
                </c:pt>
                <c:pt idx="30">
                  <c:v>10</c:v>
                </c:pt>
                <c:pt idx="31">
                  <c:v>18</c:v>
                </c:pt>
                <c:pt idx="32">
                  <c:v>25</c:v>
                </c:pt>
                <c:pt idx="33">
                  <c:v>25</c:v>
                </c:pt>
                <c:pt idx="34">
                  <c:v>24</c:v>
                </c:pt>
                <c:pt idx="35">
                  <c:v>24</c:v>
                </c:pt>
                <c:pt idx="36">
                  <c:v>17</c:v>
                </c:pt>
                <c:pt idx="37">
                  <c:v>16</c:v>
                </c:pt>
                <c:pt idx="38">
                  <c:v>13</c:v>
                </c:pt>
                <c:pt idx="39">
                  <c:v>15</c:v>
                </c:pt>
                <c:pt idx="40">
                  <c:v>13</c:v>
                </c:pt>
                <c:pt idx="41">
                  <c:v>15</c:v>
                </c:pt>
                <c:pt idx="42">
                  <c:v>14</c:v>
                </c:pt>
                <c:pt idx="43">
                  <c:v>15</c:v>
                </c:pt>
                <c:pt idx="44">
                  <c:v>15</c:v>
                </c:pt>
                <c:pt idx="45">
                  <c:v>15</c:v>
                </c:pt>
                <c:pt idx="46">
                  <c:v>15</c:v>
                </c:pt>
                <c:pt idx="47">
                  <c:v>15</c:v>
                </c:pt>
                <c:pt idx="48">
                  <c:v>15</c:v>
                </c:pt>
                <c:pt idx="49">
                  <c:v>15</c:v>
                </c:pt>
                <c:pt idx="50">
                  <c:v>15</c:v>
                </c:pt>
                <c:pt idx="51">
                  <c:v>14</c:v>
                </c:pt>
                <c:pt idx="52">
                  <c:v>14</c:v>
                </c:pt>
                <c:pt idx="53">
                  <c:v>12</c:v>
                </c:pt>
                <c:pt idx="54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1F-6B40-BE23-33CEDDE1115A}"/>
            </c:ext>
          </c:extLst>
        </c:ser>
        <c:ser>
          <c:idx val="2"/>
          <c:order val="2"/>
          <c:tx>
            <c:strRef>
              <c:f>INFLUENZA!$F$2</c:f>
              <c:strCache>
                <c:ptCount val="1"/>
                <c:pt idx="0">
                  <c:v> Positive cases Hospital Zimpeto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multiLvlStrRef>
              <c:f>INFLUENZA!$B$3:$C$57</c:f>
              <c:multiLvlStrCache>
                <c:ptCount val="55"/>
                <c:lvl>
                  <c:pt idx="0">
                    <c:v>WK47</c:v>
                  </c:pt>
                  <c:pt idx="1">
                    <c:v>WK48</c:v>
                  </c:pt>
                  <c:pt idx="2">
                    <c:v>WK49</c:v>
                  </c:pt>
                  <c:pt idx="3">
                    <c:v>WK50</c:v>
                  </c:pt>
                  <c:pt idx="4">
                    <c:v>WK51</c:v>
                  </c:pt>
                  <c:pt idx="5">
                    <c:v>WK52</c:v>
                  </c:pt>
                  <c:pt idx="6">
                    <c:v>Wk1</c:v>
                  </c:pt>
                  <c:pt idx="7">
                    <c:v>WK2</c:v>
                  </c:pt>
                  <c:pt idx="8">
                    <c:v>WK3</c:v>
                  </c:pt>
                  <c:pt idx="9">
                    <c:v>WK4</c:v>
                  </c:pt>
                  <c:pt idx="10">
                    <c:v>WK5</c:v>
                  </c:pt>
                  <c:pt idx="11">
                    <c:v>WK6</c:v>
                  </c:pt>
                  <c:pt idx="12">
                    <c:v>WK7</c:v>
                  </c:pt>
                  <c:pt idx="13">
                    <c:v>WK8</c:v>
                  </c:pt>
                  <c:pt idx="14">
                    <c:v>WK9</c:v>
                  </c:pt>
                  <c:pt idx="15">
                    <c:v>WK10</c:v>
                  </c:pt>
                  <c:pt idx="16">
                    <c:v>WK11</c:v>
                  </c:pt>
                  <c:pt idx="17">
                    <c:v>WK12</c:v>
                  </c:pt>
                  <c:pt idx="18">
                    <c:v>WK13</c:v>
                  </c:pt>
                  <c:pt idx="19">
                    <c:v>WK14</c:v>
                  </c:pt>
                  <c:pt idx="20">
                    <c:v>WK15</c:v>
                  </c:pt>
                  <c:pt idx="21">
                    <c:v>WK16</c:v>
                  </c:pt>
                  <c:pt idx="22">
                    <c:v>WK17</c:v>
                  </c:pt>
                  <c:pt idx="23">
                    <c:v>WK18</c:v>
                  </c:pt>
                  <c:pt idx="24">
                    <c:v>WK19</c:v>
                  </c:pt>
                  <c:pt idx="25">
                    <c:v>WK20</c:v>
                  </c:pt>
                  <c:pt idx="26">
                    <c:v>WK21</c:v>
                  </c:pt>
                  <c:pt idx="27">
                    <c:v>WK22</c:v>
                  </c:pt>
                  <c:pt idx="28">
                    <c:v>WK23</c:v>
                  </c:pt>
                  <c:pt idx="29">
                    <c:v>WK24</c:v>
                  </c:pt>
                  <c:pt idx="30">
                    <c:v>WK25</c:v>
                  </c:pt>
                  <c:pt idx="31">
                    <c:v>WK26</c:v>
                  </c:pt>
                  <c:pt idx="32">
                    <c:v>WK27</c:v>
                  </c:pt>
                  <c:pt idx="33">
                    <c:v>WK28</c:v>
                  </c:pt>
                  <c:pt idx="34">
                    <c:v>WK29</c:v>
                  </c:pt>
                  <c:pt idx="35">
                    <c:v>WK30</c:v>
                  </c:pt>
                  <c:pt idx="36">
                    <c:v>WK31</c:v>
                  </c:pt>
                  <c:pt idx="37">
                    <c:v>WK32</c:v>
                  </c:pt>
                  <c:pt idx="38">
                    <c:v>WK33</c:v>
                  </c:pt>
                  <c:pt idx="39">
                    <c:v>WK34</c:v>
                  </c:pt>
                  <c:pt idx="40">
                    <c:v>WK35</c:v>
                  </c:pt>
                  <c:pt idx="41">
                    <c:v>WK36</c:v>
                  </c:pt>
                  <c:pt idx="42">
                    <c:v>WK37</c:v>
                  </c:pt>
                  <c:pt idx="43">
                    <c:v>WK38</c:v>
                  </c:pt>
                  <c:pt idx="44">
                    <c:v>WK39</c:v>
                  </c:pt>
                  <c:pt idx="45">
                    <c:v>WK40</c:v>
                  </c:pt>
                  <c:pt idx="46">
                    <c:v>WK41</c:v>
                  </c:pt>
                  <c:pt idx="47">
                    <c:v>WK42</c:v>
                  </c:pt>
                  <c:pt idx="48">
                    <c:v>WK43</c:v>
                  </c:pt>
                  <c:pt idx="49">
                    <c:v>WK44</c:v>
                  </c:pt>
                  <c:pt idx="50">
                    <c:v>WK45</c:v>
                  </c:pt>
                  <c:pt idx="51">
                    <c:v>WK46</c:v>
                  </c:pt>
                  <c:pt idx="52">
                    <c:v>WK47</c:v>
                  </c:pt>
                  <c:pt idx="53">
                    <c:v>WK48</c:v>
                  </c:pt>
                  <c:pt idx="54">
                    <c:v>WK49</c:v>
                  </c:pt>
                </c:lvl>
                <c:lvl>
                  <c:pt idx="0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INFLUENZA!$F$3:$F$57</c:f>
              <c:numCache>
                <c:formatCode>General</c:formatCode>
                <c:ptCount val="5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1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1</c:v>
                </c:pt>
                <c:pt idx="18">
                  <c:v>2</c:v>
                </c:pt>
                <c:pt idx="19">
                  <c:v>3</c:v>
                </c:pt>
                <c:pt idx="20">
                  <c:v>0</c:v>
                </c:pt>
                <c:pt idx="21">
                  <c:v>4</c:v>
                </c:pt>
                <c:pt idx="22">
                  <c:v>0</c:v>
                </c:pt>
                <c:pt idx="23">
                  <c:v>6</c:v>
                </c:pt>
                <c:pt idx="24">
                  <c:v>7</c:v>
                </c:pt>
                <c:pt idx="25">
                  <c:v>3</c:v>
                </c:pt>
                <c:pt idx="26">
                  <c:v>2</c:v>
                </c:pt>
                <c:pt idx="27">
                  <c:v>1</c:v>
                </c:pt>
                <c:pt idx="28">
                  <c:v>6</c:v>
                </c:pt>
                <c:pt idx="29">
                  <c:v>0</c:v>
                </c:pt>
                <c:pt idx="30">
                  <c:v>0</c:v>
                </c:pt>
                <c:pt idx="31">
                  <c:v>2</c:v>
                </c:pt>
                <c:pt idx="32">
                  <c:v>3</c:v>
                </c:pt>
                <c:pt idx="33">
                  <c:v>1</c:v>
                </c:pt>
                <c:pt idx="34">
                  <c:v>2</c:v>
                </c:pt>
                <c:pt idx="35">
                  <c:v>4</c:v>
                </c:pt>
                <c:pt idx="36">
                  <c:v>1</c:v>
                </c:pt>
                <c:pt idx="37">
                  <c:v>3</c:v>
                </c:pt>
                <c:pt idx="38">
                  <c:v>1</c:v>
                </c:pt>
                <c:pt idx="39">
                  <c:v>1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2</c:v>
                </c:pt>
                <c:pt idx="44">
                  <c:v>1</c:v>
                </c:pt>
                <c:pt idx="45">
                  <c:v>0</c:v>
                </c:pt>
                <c:pt idx="46">
                  <c:v>0</c:v>
                </c:pt>
                <c:pt idx="47">
                  <c:v>4</c:v>
                </c:pt>
                <c:pt idx="48">
                  <c:v>5</c:v>
                </c:pt>
                <c:pt idx="49">
                  <c:v>8</c:v>
                </c:pt>
                <c:pt idx="50">
                  <c:v>6</c:v>
                </c:pt>
                <c:pt idx="51">
                  <c:v>11</c:v>
                </c:pt>
                <c:pt idx="52">
                  <c:v>10</c:v>
                </c:pt>
                <c:pt idx="53">
                  <c:v>10</c:v>
                </c:pt>
                <c:pt idx="5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1F-6B40-BE23-33CEDDE1115A}"/>
            </c:ext>
          </c:extLst>
        </c:ser>
        <c:ser>
          <c:idx val="4"/>
          <c:order val="4"/>
          <c:tx>
            <c:strRef>
              <c:f>INFLUENZA!$H$2</c:f>
              <c:strCache>
                <c:ptCount val="1"/>
                <c:pt idx="0">
                  <c:v> Cases reported at Comunidade Zimpeto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multiLvlStrRef>
              <c:f>INFLUENZA!$B$3:$C$57</c:f>
              <c:multiLvlStrCache>
                <c:ptCount val="55"/>
                <c:lvl>
                  <c:pt idx="0">
                    <c:v>WK47</c:v>
                  </c:pt>
                  <c:pt idx="1">
                    <c:v>WK48</c:v>
                  </c:pt>
                  <c:pt idx="2">
                    <c:v>WK49</c:v>
                  </c:pt>
                  <c:pt idx="3">
                    <c:v>WK50</c:v>
                  </c:pt>
                  <c:pt idx="4">
                    <c:v>WK51</c:v>
                  </c:pt>
                  <c:pt idx="5">
                    <c:v>WK52</c:v>
                  </c:pt>
                  <c:pt idx="6">
                    <c:v>Wk1</c:v>
                  </c:pt>
                  <c:pt idx="7">
                    <c:v>WK2</c:v>
                  </c:pt>
                  <c:pt idx="8">
                    <c:v>WK3</c:v>
                  </c:pt>
                  <c:pt idx="9">
                    <c:v>WK4</c:v>
                  </c:pt>
                  <c:pt idx="10">
                    <c:v>WK5</c:v>
                  </c:pt>
                  <c:pt idx="11">
                    <c:v>WK6</c:v>
                  </c:pt>
                  <c:pt idx="12">
                    <c:v>WK7</c:v>
                  </c:pt>
                  <c:pt idx="13">
                    <c:v>WK8</c:v>
                  </c:pt>
                  <c:pt idx="14">
                    <c:v>WK9</c:v>
                  </c:pt>
                  <c:pt idx="15">
                    <c:v>WK10</c:v>
                  </c:pt>
                  <c:pt idx="16">
                    <c:v>WK11</c:v>
                  </c:pt>
                  <c:pt idx="17">
                    <c:v>WK12</c:v>
                  </c:pt>
                  <c:pt idx="18">
                    <c:v>WK13</c:v>
                  </c:pt>
                  <c:pt idx="19">
                    <c:v>WK14</c:v>
                  </c:pt>
                  <c:pt idx="20">
                    <c:v>WK15</c:v>
                  </c:pt>
                  <c:pt idx="21">
                    <c:v>WK16</c:v>
                  </c:pt>
                  <c:pt idx="22">
                    <c:v>WK17</c:v>
                  </c:pt>
                  <c:pt idx="23">
                    <c:v>WK18</c:v>
                  </c:pt>
                  <c:pt idx="24">
                    <c:v>WK19</c:v>
                  </c:pt>
                  <c:pt idx="25">
                    <c:v>WK20</c:v>
                  </c:pt>
                  <c:pt idx="26">
                    <c:v>WK21</c:v>
                  </c:pt>
                  <c:pt idx="27">
                    <c:v>WK22</c:v>
                  </c:pt>
                  <c:pt idx="28">
                    <c:v>WK23</c:v>
                  </c:pt>
                  <c:pt idx="29">
                    <c:v>WK24</c:v>
                  </c:pt>
                  <c:pt idx="30">
                    <c:v>WK25</c:v>
                  </c:pt>
                  <c:pt idx="31">
                    <c:v>WK26</c:v>
                  </c:pt>
                  <c:pt idx="32">
                    <c:v>WK27</c:v>
                  </c:pt>
                  <c:pt idx="33">
                    <c:v>WK28</c:v>
                  </c:pt>
                  <c:pt idx="34">
                    <c:v>WK29</c:v>
                  </c:pt>
                  <c:pt idx="35">
                    <c:v>WK30</c:v>
                  </c:pt>
                  <c:pt idx="36">
                    <c:v>WK31</c:v>
                  </c:pt>
                  <c:pt idx="37">
                    <c:v>WK32</c:v>
                  </c:pt>
                  <c:pt idx="38">
                    <c:v>WK33</c:v>
                  </c:pt>
                  <c:pt idx="39">
                    <c:v>WK34</c:v>
                  </c:pt>
                  <c:pt idx="40">
                    <c:v>WK35</c:v>
                  </c:pt>
                  <c:pt idx="41">
                    <c:v>WK36</c:v>
                  </c:pt>
                  <c:pt idx="42">
                    <c:v>WK37</c:v>
                  </c:pt>
                  <c:pt idx="43">
                    <c:v>WK38</c:v>
                  </c:pt>
                  <c:pt idx="44">
                    <c:v>WK39</c:v>
                  </c:pt>
                  <c:pt idx="45">
                    <c:v>WK40</c:v>
                  </c:pt>
                  <c:pt idx="46">
                    <c:v>WK41</c:v>
                  </c:pt>
                  <c:pt idx="47">
                    <c:v>WK42</c:v>
                  </c:pt>
                  <c:pt idx="48">
                    <c:v>WK43</c:v>
                  </c:pt>
                  <c:pt idx="49">
                    <c:v>WK44</c:v>
                  </c:pt>
                  <c:pt idx="50">
                    <c:v>WK45</c:v>
                  </c:pt>
                  <c:pt idx="51">
                    <c:v>WK46</c:v>
                  </c:pt>
                  <c:pt idx="52">
                    <c:v>WK47</c:v>
                  </c:pt>
                  <c:pt idx="53">
                    <c:v>WK48</c:v>
                  </c:pt>
                  <c:pt idx="54">
                    <c:v>WK49</c:v>
                  </c:pt>
                </c:lvl>
                <c:lvl>
                  <c:pt idx="0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INFLUENZA!$H$3:$H$57</c:f>
              <c:numCache>
                <c:formatCode>General</c:formatCode>
                <c:ptCount val="55"/>
                <c:pt idx="13">
                  <c:v>20</c:v>
                </c:pt>
                <c:pt idx="14">
                  <c:v>27</c:v>
                </c:pt>
                <c:pt idx="15">
                  <c:v>17</c:v>
                </c:pt>
                <c:pt idx="16">
                  <c:v>20</c:v>
                </c:pt>
                <c:pt idx="17">
                  <c:v>24</c:v>
                </c:pt>
                <c:pt idx="18">
                  <c:v>34</c:v>
                </c:pt>
                <c:pt idx="19">
                  <c:v>19</c:v>
                </c:pt>
                <c:pt idx="20">
                  <c:v>42</c:v>
                </c:pt>
                <c:pt idx="21">
                  <c:v>30</c:v>
                </c:pt>
                <c:pt idx="22">
                  <c:v>41</c:v>
                </c:pt>
                <c:pt idx="23">
                  <c:v>26</c:v>
                </c:pt>
                <c:pt idx="24">
                  <c:v>0</c:v>
                </c:pt>
                <c:pt idx="25">
                  <c:v>36</c:v>
                </c:pt>
                <c:pt idx="26">
                  <c:v>55</c:v>
                </c:pt>
                <c:pt idx="27">
                  <c:v>31</c:v>
                </c:pt>
                <c:pt idx="28">
                  <c:v>38</c:v>
                </c:pt>
                <c:pt idx="29">
                  <c:v>47</c:v>
                </c:pt>
                <c:pt idx="30">
                  <c:v>39</c:v>
                </c:pt>
                <c:pt idx="31">
                  <c:v>64</c:v>
                </c:pt>
                <c:pt idx="32">
                  <c:v>77</c:v>
                </c:pt>
                <c:pt idx="33">
                  <c:v>89</c:v>
                </c:pt>
                <c:pt idx="34">
                  <c:v>66</c:v>
                </c:pt>
                <c:pt idx="35">
                  <c:v>54</c:v>
                </c:pt>
                <c:pt idx="36">
                  <c:v>80</c:v>
                </c:pt>
                <c:pt idx="37">
                  <c:v>65</c:v>
                </c:pt>
                <c:pt idx="38">
                  <c:v>71</c:v>
                </c:pt>
                <c:pt idx="39">
                  <c:v>74</c:v>
                </c:pt>
                <c:pt idx="40">
                  <c:v>56</c:v>
                </c:pt>
                <c:pt idx="41">
                  <c:v>47</c:v>
                </c:pt>
                <c:pt idx="42">
                  <c:v>39</c:v>
                </c:pt>
                <c:pt idx="43">
                  <c:v>47</c:v>
                </c:pt>
                <c:pt idx="44">
                  <c:v>39</c:v>
                </c:pt>
                <c:pt idx="45">
                  <c:v>36</c:v>
                </c:pt>
                <c:pt idx="46">
                  <c:v>46</c:v>
                </c:pt>
                <c:pt idx="47">
                  <c:v>34</c:v>
                </c:pt>
                <c:pt idx="48">
                  <c:v>31</c:v>
                </c:pt>
                <c:pt idx="49">
                  <c:v>25</c:v>
                </c:pt>
                <c:pt idx="50">
                  <c:v>27</c:v>
                </c:pt>
                <c:pt idx="51">
                  <c:v>22</c:v>
                </c:pt>
                <c:pt idx="52">
                  <c:v>34</c:v>
                </c:pt>
                <c:pt idx="53">
                  <c:v>14</c:v>
                </c:pt>
                <c:pt idx="54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51F-6B40-BE23-33CEDDE1115A}"/>
            </c:ext>
          </c:extLst>
        </c:ser>
        <c:ser>
          <c:idx val="5"/>
          <c:order val="5"/>
          <c:tx>
            <c:strRef>
              <c:f>INFLUENZA!$I$2</c:f>
              <c:strCache>
                <c:ptCount val="1"/>
                <c:pt idx="0">
                  <c:v>Samples Tested Comunidade Zimpeto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multiLvlStrRef>
              <c:f>INFLUENZA!$B$3:$C$57</c:f>
              <c:multiLvlStrCache>
                <c:ptCount val="55"/>
                <c:lvl>
                  <c:pt idx="0">
                    <c:v>WK47</c:v>
                  </c:pt>
                  <c:pt idx="1">
                    <c:v>WK48</c:v>
                  </c:pt>
                  <c:pt idx="2">
                    <c:v>WK49</c:v>
                  </c:pt>
                  <c:pt idx="3">
                    <c:v>WK50</c:v>
                  </c:pt>
                  <c:pt idx="4">
                    <c:v>WK51</c:v>
                  </c:pt>
                  <c:pt idx="5">
                    <c:v>WK52</c:v>
                  </c:pt>
                  <c:pt idx="6">
                    <c:v>Wk1</c:v>
                  </c:pt>
                  <c:pt idx="7">
                    <c:v>WK2</c:v>
                  </c:pt>
                  <c:pt idx="8">
                    <c:v>WK3</c:v>
                  </c:pt>
                  <c:pt idx="9">
                    <c:v>WK4</c:v>
                  </c:pt>
                  <c:pt idx="10">
                    <c:v>WK5</c:v>
                  </c:pt>
                  <c:pt idx="11">
                    <c:v>WK6</c:v>
                  </c:pt>
                  <c:pt idx="12">
                    <c:v>WK7</c:v>
                  </c:pt>
                  <c:pt idx="13">
                    <c:v>WK8</c:v>
                  </c:pt>
                  <c:pt idx="14">
                    <c:v>WK9</c:v>
                  </c:pt>
                  <c:pt idx="15">
                    <c:v>WK10</c:v>
                  </c:pt>
                  <c:pt idx="16">
                    <c:v>WK11</c:v>
                  </c:pt>
                  <c:pt idx="17">
                    <c:v>WK12</c:v>
                  </c:pt>
                  <c:pt idx="18">
                    <c:v>WK13</c:v>
                  </c:pt>
                  <c:pt idx="19">
                    <c:v>WK14</c:v>
                  </c:pt>
                  <c:pt idx="20">
                    <c:v>WK15</c:v>
                  </c:pt>
                  <c:pt idx="21">
                    <c:v>WK16</c:v>
                  </c:pt>
                  <c:pt idx="22">
                    <c:v>WK17</c:v>
                  </c:pt>
                  <c:pt idx="23">
                    <c:v>WK18</c:v>
                  </c:pt>
                  <c:pt idx="24">
                    <c:v>WK19</c:v>
                  </c:pt>
                  <c:pt idx="25">
                    <c:v>WK20</c:v>
                  </c:pt>
                  <c:pt idx="26">
                    <c:v>WK21</c:v>
                  </c:pt>
                  <c:pt idx="27">
                    <c:v>WK22</c:v>
                  </c:pt>
                  <c:pt idx="28">
                    <c:v>WK23</c:v>
                  </c:pt>
                  <c:pt idx="29">
                    <c:v>WK24</c:v>
                  </c:pt>
                  <c:pt idx="30">
                    <c:v>WK25</c:v>
                  </c:pt>
                  <c:pt idx="31">
                    <c:v>WK26</c:v>
                  </c:pt>
                  <c:pt idx="32">
                    <c:v>WK27</c:v>
                  </c:pt>
                  <c:pt idx="33">
                    <c:v>WK28</c:v>
                  </c:pt>
                  <c:pt idx="34">
                    <c:v>WK29</c:v>
                  </c:pt>
                  <c:pt idx="35">
                    <c:v>WK30</c:v>
                  </c:pt>
                  <c:pt idx="36">
                    <c:v>WK31</c:v>
                  </c:pt>
                  <c:pt idx="37">
                    <c:v>WK32</c:v>
                  </c:pt>
                  <c:pt idx="38">
                    <c:v>WK33</c:v>
                  </c:pt>
                  <c:pt idx="39">
                    <c:v>WK34</c:v>
                  </c:pt>
                  <c:pt idx="40">
                    <c:v>WK35</c:v>
                  </c:pt>
                  <c:pt idx="41">
                    <c:v>WK36</c:v>
                  </c:pt>
                  <c:pt idx="42">
                    <c:v>WK37</c:v>
                  </c:pt>
                  <c:pt idx="43">
                    <c:v>WK38</c:v>
                  </c:pt>
                  <c:pt idx="44">
                    <c:v>WK39</c:v>
                  </c:pt>
                  <c:pt idx="45">
                    <c:v>WK40</c:v>
                  </c:pt>
                  <c:pt idx="46">
                    <c:v>WK41</c:v>
                  </c:pt>
                  <c:pt idx="47">
                    <c:v>WK42</c:v>
                  </c:pt>
                  <c:pt idx="48">
                    <c:v>WK43</c:v>
                  </c:pt>
                  <c:pt idx="49">
                    <c:v>WK44</c:v>
                  </c:pt>
                  <c:pt idx="50">
                    <c:v>WK45</c:v>
                  </c:pt>
                  <c:pt idx="51">
                    <c:v>WK46</c:v>
                  </c:pt>
                  <c:pt idx="52">
                    <c:v>WK47</c:v>
                  </c:pt>
                  <c:pt idx="53">
                    <c:v>WK48</c:v>
                  </c:pt>
                  <c:pt idx="54">
                    <c:v>WK49</c:v>
                  </c:pt>
                </c:lvl>
                <c:lvl>
                  <c:pt idx="0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INFLUENZA!$I$3:$I$57</c:f>
              <c:numCache>
                <c:formatCode>General</c:formatCode>
                <c:ptCount val="55"/>
                <c:pt idx="13">
                  <c:v>5</c:v>
                </c:pt>
                <c:pt idx="14">
                  <c:v>21</c:v>
                </c:pt>
                <c:pt idx="15">
                  <c:v>14</c:v>
                </c:pt>
                <c:pt idx="16">
                  <c:v>19</c:v>
                </c:pt>
                <c:pt idx="17">
                  <c:v>11</c:v>
                </c:pt>
                <c:pt idx="18">
                  <c:v>22</c:v>
                </c:pt>
                <c:pt idx="19">
                  <c:v>15</c:v>
                </c:pt>
                <c:pt idx="20">
                  <c:v>18</c:v>
                </c:pt>
                <c:pt idx="21">
                  <c:v>23</c:v>
                </c:pt>
                <c:pt idx="22">
                  <c:v>30</c:v>
                </c:pt>
                <c:pt idx="23">
                  <c:v>12</c:v>
                </c:pt>
                <c:pt idx="24">
                  <c:v>0</c:v>
                </c:pt>
                <c:pt idx="25">
                  <c:v>14</c:v>
                </c:pt>
                <c:pt idx="26">
                  <c:v>29</c:v>
                </c:pt>
                <c:pt idx="27">
                  <c:v>23</c:v>
                </c:pt>
                <c:pt idx="28">
                  <c:v>24</c:v>
                </c:pt>
                <c:pt idx="29">
                  <c:v>24</c:v>
                </c:pt>
                <c:pt idx="30">
                  <c:v>24</c:v>
                </c:pt>
                <c:pt idx="31">
                  <c:v>19</c:v>
                </c:pt>
                <c:pt idx="32">
                  <c:v>14</c:v>
                </c:pt>
                <c:pt idx="33">
                  <c:v>18</c:v>
                </c:pt>
                <c:pt idx="34">
                  <c:v>23</c:v>
                </c:pt>
                <c:pt idx="35">
                  <c:v>24</c:v>
                </c:pt>
                <c:pt idx="36">
                  <c:v>8</c:v>
                </c:pt>
                <c:pt idx="37">
                  <c:v>28</c:v>
                </c:pt>
                <c:pt idx="38">
                  <c:v>23</c:v>
                </c:pt>
                <c:pt idx="39">
                  <c:v>32</c:v>
                </c:pt>
                <c:pt idx="40">
                  <c:v>32</c:v>
                </c:pt>
                <c:pt idx="41">
                  <c:v>20</c:v>
                </c:pt>
                <c:pt idx="42">
                  <c:v>20</c:v>
                </c:pt>
                <c:pt idx="43">
                  <c:v>26</c:v>
                </c:pt>
                <c:pt idx="44">
                  <c:v>19</c:v>
                </c:pt>
                <c:pt idx="45">
                  <c:v>26</c:v>
                </c:pt>
                <c:pt idx="46">
                  <c:v>30</c:v>
                </c:pt>
                <c:pt idx="47">
                  <c:v>16</c:v>
                </c:pt>
                <c:pt idx="48">
                  <c:v>15</c:v>
                </c:pt>
                <c:pt idx="49">
                  <c:v>5</c:v>
                </c:pt>
                <c:pt idx="50">
                  <c:v>19</c:v>
                </c:pt>
                <c:pt idx="51">
                  <c:v>16</c:v>
                </c:pt>
                <c:pt idx="52">
                  <c:v>5</c:v>
                </c:pt>
                <c:pt idx="53">
                  <c:v>12</c:v>
                </c:pt>
                <c:pt idx="54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51F-6B40-BE23-33CEDDE1115A}"/>
            </c:ext>
          </c:extLst>
        </c:ser>
        <c:ser>
          <c:idx val="6"/>
          <c:order val="6"/>
          <c:tx>
            <c:strRef>
              <c:f>INFLUENZA!$J$2</c:f>
              <c:strCache>
                <c:ptCount val="1"/>
                <c:pt idx="0">
                  <c:v>Positive cases Comunidade Zimpeto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multiLvlStrRef>
              <c:f>INFLUENZA!$B$3:$C$57</c:f>
              <c:multiLvlStrCache>
                <c:ptCount val="55"/>
                <c:lvl>
                  <c:pt idx="0">
                    <c:v>WK47</c:v>
                  </c:pt>
                  <c:pt idx="1">
                    <c:v>WK48</c:v>
                  </c:pt>
                  <c:pt idx="2">
                    <c:v>WK49</c:v>
                  </c:pt>
                  <c:pt idx="3">
                    <c:v>WK50</c:v>
                  </c:pt>
                  <c:pt idx="4">
                    <c:v>WK51</c:v>
                  </c:pt>
                  <c:pt idx="5">
                    <c:v>WK52</c:v>
                  </c:pt>
                  <c:pt idx="6">
                    <c:v>Wk1</c:v>
                  </c:pt>
                  <c:pt idx="7">
                    <c:v>WK2</c:v>
                  </c:pt>
                  <c:pt idx="8">
                    <c:v>WK3</c:v>
                  </c:pt>
                  <c:pt idx="9">
                    <c:v>WK4</c:v>
                  </c:pt>
                  <c:pt idx="10">
                    <c:v>WK5</c:v>
                  </c:pt>
                  <c:pt idx="11">
                    <c:v>WK6</c:v>
                  </c:pt>
                  <c:pt idx="12">
                    <c:v>WK7</c:v>
                  </c:pt>
                  <c:pt idx="13">
                    <c:v>WK8</c:v>
                  </c:pt>
                  <c:pt idx="14">
                    <c:v>WK9</c:v>
                  </c:pt>
                  <c:pt idx="15">
                    <c:v>WK10</c:v>
                  </c:pt>
                  <c:pt idx="16">
                    <c:v>WK11</c:v>
                  </c:pt>
                  <c:pt idx="17">
                    <c:v>WK12</c:v>
                  </c:pt>
                  <c:pt idx="18">
                    <c:v>WK13</c:v>
                  </c:pt>
                  <c:pt idx="19">
                    <c:v>WK14</c:v>
                  </c:pt>
                  <c:pt idx="20">
                    <c:v>WK15</c:v>
                  </c:pt>
                  <c:pt idx="21">
                    <c:v>WK16</c:v>
                  </c:pt>
                  <c:pt idx="22">
                    <c:v>WK17</c:v>
                  </c:pt>
                  <c:pt idx="23">
                    <c:v>WK18</c:v>
                  </c:pt>
                  <c:pt idx="24">
                    <c:v>WK19</c:v>
                  </c:pt>
                  <c:pt idx="25">
                    <c:v>WK20</c:v>
                  </c:pt>
                  <c:pt idx="26">
                    <c:v>WK21</c:v>
                  </c:pt>
                  <c:pt idx="27">
                    <c:v>WK22</c:v>
                  </c:pt>
                  <c:pt idx="28">
                    <c:v>WK23</c:v>
                  </c:pt>
                  <c:pt idx="29">
                    <c:v>WK24</c:v>
                  </c:pt>
                  <c:pt idx="30">
                    <c:v>WK25</c:v>
                  </c:pt>
                  <c:pt idx="31">
                    <c:v>WK26</c:v>
                  </c:pt>
                  <c:pt idx="32">
                    <c:v>WK27</c:v>
                  </c:pt>
                  <c:pt idx="33">
                    <c:v>WK28</c:v>
                  </c:pt>
                  <c:pt idx="34">
                    <c:v>WK29</c:v>
                  </c:pt>
                  <c:pt idx="35">
                    <c:v>WK30</c:v>
                  </c:pt>
                  <c:pt idx="36">
                    <c:v>WK31</c:v>
                  </c:pt>
                  <c:pt idx="37">
                    <c:v>WK32</c:v>
                  </c:pt>
                  <c:pt idx="38">
                    <c:v>WK33</c:v>
                  </c:pt>
                  <c:pt idx="39">
                    <c:v>WK34</c:v>
                  </c:pt>
                  <c:pt idx="40">
                    <c:v>WK35</c:v>
                  </c:pt>
                  <c:pt idx="41">
                    <c:v>WK36</c:v>
                  </c:pt>
                  <c:pt idx="42">
                    <c:v>WK37</c:v>
                  </c:pt>
                  <c:pt idx="43">
                    <c:v>WK38</c:v>
                  </c:pt>
                  <c:pt idx="44">
                    <c:v>WK39</c:v>
                  </c:pt>
                  <c:pt idx="45">
                    <c:v>WK40</c:v>
                  </c:pt>
                  <c:pt idx="46">
                    <c:v>WK41</c:v>
                  </c:pt>
                  <c:pt idx="47">
                    <c:v>WK42</c:v>
                  </c:pt>
                  <c:pt idx="48">
                    <c:v>WK43</c:v>
                  </c:pt>
                  <c:pt idx="49">
                    <c:v>WK44</c:v>
                  </c:pt>
                  <c:pt idx="50">
                    <c:v>WK45</c:v>
                  </c:pt>
                  <c:pt idx="51">
                    <c:v>WK46</c:v>
                  </c:pt>
                  <c:pt idx="52">
                    <c:v>WK47</c:v>
                  </c:pt>
                  <c:pt idx="53">
                    <c:v>WK48</c:v>
                  </c:pt>
                  <c:pt idx="54">
                    <c:v>WK49</c:v>
                  </c:pt>
                </c:lvl>
                <c:lvl>
                  <c:pt idx="0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INFLUENZA!$J$3:$J$57</c:f>
              <c:numCache>
                <c:formatCode>General</c:formatCode>
                <c:ptCount val="55"/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1</c:v>
                </c:pt>
                <c:pt idx="28">
                  <c:v>2</c:v>
                </c:pt>
                <c:pt idx="29">
                  <c:v>2</c:v>
                </c:pt>
                <c:pt idx="30">
                  <c:v>0</c:v>
                </c:pt>
                <c:pt idx="31">
                  <c:v>1</c:v>
                </c:pt>
                <c:pt idx="32">
                  <c:v>0</c:v>
                </c:pt>
                <c:pt idx="33">
                  <c:v>1</c:v>
                </c:pt>
                <c:pt idx="34">
                  <c:v>1</c:v>
                </c:pt>
                <c:pt idx="35">
                  <c:v>4</c:v>
                </c:pt>
                <c:pt idx="3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51F-6B40-BE23-33CEDDE111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44643456"/>
        <c:axId val="344643936"/>
      </c:barChart>
      <c:lineChart>
        <c:grouping val="standard"/>
        <c:varyColors val="0"/>
        <c:ser>
          <c:idx val="3"/>
          <c:order val="3"/>
          <c:tx>
            <c:strRef>
              <c:f>INFLUENZA!$G$2</c:f>
              <c:strCache>
                <c:ptCount val="1"/>
                <c:pt idx="0">
                  <c:v># Positivity Hospital Zimpeto</c:v>
                </c:pt>
              </c:strCache>
            </c:strRef>
          </c:tx>
          <c:spPr>
            <a:ln w="28575" cap="rnd">
              <a:solidFill>
                <a:srgbClr val="FF0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multiLvlStrRef>
              <c:f>INFLUENZA!$B$3:$C$57</c:f>
              <c:multiLvlStrCache>
                <c:ptCount val="55"/>
                <c:lvl>
                  <c:pt idx="0">
                    <c:v>WK47</c:v>
                  </c:pt>
                  <c:pt idx="1">
                    <c:v>WK48</c:v>
                  </c:pt>
                  <c:pt idx="2">
                    <c:v>WK49</c:v>
                  </c:pt>
                  <c:pt idx="3">
                    <c:v>WK50</c:v>
                  </c:pt>
                  <c:pt idx="4">
                    <c:v>WK51</c:v>
                  </c:pt>
                  <c:pt idx="5">
                    <c:v>WK52</c:v>
                  </c:pt>
                  <c:pt idx="6">
                    <c:v>Wk1</c:v>
                  </c:pt>
                  <c:pt idx="7">
                    <c:v>WK2</c:v>
                  </c:pt>
                  <c:pt idx="8">
                    <c:v>WK3</c:v>
                  </c:pt>
                  <c:pt idx="9">
                    <c:v>WK4</c:v>
                  </c:pt>
                  <c:pt idx="10">
                    <c:v>WK5</c:v>
                  </c:pt>
                  <c:pt idx="11">
                    <c:v>WK6</c:v>
                  </c:pt>
                  <c:pt idx="12">
                    <c:v>WK7</c:v>
                  </c:pt>
                  <c:pt idx="13">
                    <c:v>WK8</c:v>
                  </c:pt>
                  <c:pt idx="14">
                    <c:v>WK9</c:v>
                  </c:pt>
                  <c:pt idx="15">
                    <c:v>WK10</c:v>
                  </c:pt>
                  <c:pt idx="16">
                    <c:v>WK11</c:v>
                  </c:pt>
                  <c:pt idx="17">
                    <c:v>WK12</c:v>
                  </c:pt>
                  <c:pt idx="18">
                    <c:v>WK13</c:v>
                  </c:pt>
                  <c:pt idx="19">
                    <c:v>WK14</c:v>
                  </c:pt>
                  <c:pt idx="20">
                    <c:v>WK15</c:v>
                  </c:pt>
                  <c:pt idx="21">
                    <c:v>WK16</c:v>
                  </c:pt>
                  <c:pt idx="22">
                    <c:v>WK17</c:v>
                  </c:pt>
                  <c:pt idx="23">
                    <c:v>WK18</c:v>
                  </c:pt>
                  <c:pt idx="24">
                    <c:v>WK19</c:v>
                  </c:pt>
                  <c:pt idx="25">
                    <c:v>WK20</c:v>
                  </c:pt>
                  <c:pt idx="26">
                    <c:v>WK21</c:v>
                  </c:pt>
                  <c:pt idx="27">
                    <c:v>WK22</c:v>
                  </c:pt>
                  <c:pt idx="28">
                    <c:v>WK23</c:v>
                  </c:pt>
                  <c:pt idx="29">
                    <c:v>WK24</c:v>
                  </c:pt>
                  <c:pt idx="30">
                    <c:v>WK25</c:v>
                  </c:pt>
                  <c:pt idx="31">
                    <c:v>WK26</c:v>
                  </c:pt>
                  <c:pt idx="32">
                    <c:v>WK27</c:v>
                  </c:pt>
                  <c:pt idx="33">
                    <c:v>WK28</c:v>
                  </c:pt>
                  <c:pt idx="34">
                    <c:v>WK29</c:v>
                  </c:pt>
                  <c:pt idx="35">
                    <c:v>WK30</c:v>
                  </c:pt>
                  <c:pt idx="36">
                    <c:v>WK31</c:v>
                  </c:pt>
                  <c:pt idx="37">
                    <c:v>WK32</c:v>
                  </c:pt>
                  <c:pt idx="38">
                    <c:v>WK33</c:v>
                  </c:pt>
                  <c:pt idx="39">
                    <c:v>WK34</c:v>
                  </c:pt>
                  <c:pt idx="40">
                    <c:v>WK35</c:v>
                  </c:pt>
                  <c:pt idx="41">
                    <c:v>WK36</c:v>
                  </c:pt>
                  <c:pt idx="42">
                    <c:v>WK37</c:v>
                  </c:pt>
                  <c:pt idx="43">
                    <c:v>WK38</c:v>
                  </c:pt>
                  <c:pt idx="44">
                    <c:v>WK39</c:v>
                  </c:pt>
                  <c:pt idx="45">
                    <c:v>WK40</c:v>
                  </c:pt>
                  <c:pt idx="46">
                    <c:v>WK41</c:v>
                  </c:pt>
                  <c:pt idx="47">
                    <c:v>WK42</c:v>
                  </c:pt>
                  <c:pt idx="48">
                    <c:v>WK43</c:v>
                  </c:pt>
                  <c:pt idx="49">
                    <c:v>WK44</c:v>
                  </c:pt>
                  <c:pt idx="50">
                    <c:v>WK45</c:v>
                  </c:pt>
                  <c:pt idx="51">
                    <c:v>WK46</c:v>
                  </c:pt>
                  <c:pt idx="52">
                    <c:v>WK47</c:v>
                  </c:pt>
                  <c:pt idx="53">
                    <c:v>WK48</c:v>
                  </c:pt>
                  <c:pt idx="54">
                    <c:v>WK49</c:v>
                  </c:pt>
                </c:lvl>
                <c:lvl>
                  <c:pt idx="0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INFLUENZA!$G$3:$G$57</c:f>
              <c:numCache>
                <c:formatCode>0%</c:formatCode>
                <c:ptCount val="5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7.1428571428571425E-2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8.3333333333333329E-2</c:v>
                </c:pt>
                <c:pt idx="18">
                  <c:v>6.6666666666666666E-2</c:v>
                </c:pt>
                <c:pt idx="19">
                  <c:v>0.16666666666666666</c:v>
                </c:pt>
                <c:pt idx="20">
                  <c:v>0</c:v>
                </c:pt>
                <c:pt idx="21">
                  <c:v>0.2</c:v>
                </c:pt>
                <c:pt idx="22">
                  <c:v>0</c:v>
                </c:pt>
                <c:pt idx="23">
                  <c:v>0.2608695652173913</c:v>
                </c:pt>
                <c:pt idx="24">
                  <c:v>0.26923076923076922</c:v>
                </c:pt>
                <c:pt idx="25">
                  <c:v>0.12</c:v>
                </c:pt>
                <c:pt idx="26">
                  <c:v>8.6956521739130432E-2</c:v>
                </c:pt>
                <c:pt idx="27">
                  <c:v>0.04</c:v>
                </c:pt>
                <c:pt idx="28">
                  <c:v>0.24</c:v>
                </c:pt>
                <c:pt idx="29">
                  <c:v>0</c:v>
                </c:pt>
                <c:pt idx="30">
                  <c:v>0</c:v>
                </c:pt>
                <c:pt idx="31">
                  <c:v>0.1111111111111111</c:v>
                </c:pt>
                <c:pt idx="32">
                  <c:v>0.12</c:v>
                </c:pt>
                <c:pt idx="33">
                  <c:v>0.04</c:v>
                </c:pt>
                <c:pt idx="34">
                  <c:v>8.3333333333333329E-2</c:v>
                </c:pt>
                <c:pt idx="35">
                  <c:v>0.16666666666666666</c:v>
                </c:pt>
                <c:pt idx="36">
                  <c:v>5.8823529411764705E-2</c:v>
                </c:pt>
                <c:pt idx="37">
                  <c:v>0.1875</c:v>
                </c:pt>
                <c:pt idx="38">
                  <c:v>7.6923076923076927E-2</c:v>
                </c:pt>
                <c:pt idx="39">
                  <c:v>6.6666666666666666E-2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0.13333333333333333</c:v>
                </c:pt>
                <c:pt idx="44">
                  <c:v>6.6666666666666666E-2</c:v>
                </c:pt>
                <c:pt idx="45">
                  <c:v>0</c:v>
                </c:pt>
                <c:pt idx="46">
                  <c:v>0</c:v>
                </c:pt>
                <c:pt idx="47">
                  <c:v>0.26666666666666666</c:v>
                </c:pt>
                <c:pt idx="48">
                  <c:v>0.33333333333333331</c:v>
                </c:pt>
                <c:pt idx="49">
                  <c:v>0.53333333333333333</c:v>
                </c:pt>
                <c:pt idx="50">
                  <c:v>0.4</c:v>
                </c:pt>
                <c:pt idx="51">
                  <c:v>0.7857142857142857</c:v>
                </c:pt>
                <c:pt idx="52">
                  <c:v>0.7142857142857143</c:v>
                </c:pt>
                <c:pt idx="53">
                  <c:v>0.83333333333333337</c:v>
                </c:pt>
                <c:pt idx="54">
                  <c:v>0.20833333333333334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251F-6B40-BE23-33CEDDE1115A}"/>
            </c:ext>
          </c:extLst>
        </c:ser>
        <c:ser>
          <c:idx val="7"/>
          <c:order val="7"/>
          <c:tx>
            <c:strRef>
              <c:f>INFLUENZA!$K$2</c:f>
              <c:strCache>
                <c:ptCount val="1"/>
                <c:pt idx="0">
                  <c:v># Positivity Comunidade Zimpeto</c:v>
                </c:pt>
              </c:strCache>
            </c:strRef>
          </c:tx>
          <c:spPr>
            <a:ln w="28575" cap="rnd">
              <a:solidFill>
                <a:srgbClr val="FFC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multiLvlStrRef>
              <c:f>INFLUENZA!$B$3:$C$57</c:f>
              <c:multiLvlStrCache>
                <c:ptCount val="55"/>
                <c:lvl>
                  <c:pt idx="0">
                    <c:v>WK47</c:v>
                  </c:pt>
                  <c:pt idx="1">
                    <c:v>WK48</c:v>
                  </c:pt>
                  <c:pt idx="2">
                    <c:v>WK49</c:v>
                  </c:pt>
                  <c:pt idx="3">
                    <c:v>WK50</c:v>
                  </c:pt>
                  <c:pt idx="4">
                    <c:v>WK51</c:v>
                  </c:pt>
                  <c:pt idx="5">
                    <c:v>WK52</c:v>
                  </c:pt>
                  <c:pt idx="6">
                    <c:v>Wk1</c:v>
                  </c:pt>
                  <c:pt idx="7">
                    <c:v>WK2</c:v>
                  </c:pt>
                  <c:pt idx="8">
                    <c:v>WK3</c:v>
                  </c:pt>
                  <c:pt idx="9">
                    <c:v>WK4</c:v>
                  </c:pt>
                  <c:pt idx="10">
                    <c:v>WK5</c:v>
                  </c:pt>
                  <c:pt idx="11">
                    <c:v>WK6</c:v>
                  </c:pt>
                  <c:pt idx="12">
                    <c:v>WK7</c:v>
                  </c:pt>
                  <c:pt idx="13">
                    <c:v>WK8</c:v>
                  </c:pt>
                  <c:pt idx="14">
                    <c:v>WK9</c:v>
                  </c:pt>
                  <c:pt idx="15">
                    <c:v>WK10</c:v>
                  </c:pt>
                  <c:pt idx="16">
                    <c:v>WK11</c:v>
                  </c:pt>
                  <c:pt idx="17">
                    <c:v>WK12</c:v>
                  </c:pt>
                  <c:pt idx="18">
                    <c:v>WK13</c:v>
                  </c:pt>
                  <c:pt idx="19">
                    <c:v>WK14</c:v>
                  </c:pt>
                  <c:pt idx="20">
                    <c:v>WK15</c:v>
                  </c:pt>
                  <c:pt idx="21">
                    <c:v>WK16</c:v>
                  </c:pt>
                  <c:pt idx="22">
                    <c:v>WK17</c:v>
                  </c:pt>
                  <c:pt idx="23">
                    <c:v>WK18</c:v>
                  </c:pt>
                  <c:pt idx="24">
                    <c:v>WK19</c:v>
                  </c:pt>
                  <c:pt idx="25">
                    <c:v>WK20</c:v>
                  </c:pt>
                  <c:pt idx="26">
                    <c:v>WK21</c:v>
                  </c:pt>
                  <c:pt idx="27">
                    <c:v>WK22</c:v>
                  </c:pt>
                  <c:pt idx="28">
                    <c:v>WK23</c:v>
                  </c:pt>
                  <c:pt idx="29">
                    <c:v>WK24</c:v>
                  </c:pt>
                  <c:pt idx="30">
                    <c:v>WK25</c:v>
                  </c:pt>
                  <c:pt idx="31">
                    <c:v>WK26</c:v>
                  </c:pt>
                  <c:pt idx="32">
                    <c:v>WK27</c:v>
                  </c:pt>
                  <c:pt idx="33">
                    <c:v>WK28</c:v>
                  </c:pt>
                  <c:pt idx="34">
                    <c:v>WK29</c:v>
                  </c:pt>
                  <c:pt idx="35">
                    <c:v>WK30</c:v>
                  </c:pt>
                  <c:pt idx="36">
                    <c:v>WK31</c:v>
                  </c:pt>
                  <c:pt idx="37">
                    <c:v>WK32</c:v>
                  </c:pt>
                  <c:pt idx="38">
                    <c:v>WK33</c:v>
                  </c:pt>
                  <c:pt idx="39">
                    <c:v>WK34</c:v>
                  </c:pt>
                  <c:pt idx="40">
                    <c:v>WK35</c:v>
                  </c:pt>
                  <c:pt idx="41">
                    <c:v>WK36</c:v>
                  </c:pt>
                  <c:pt idx="42">
                    <c:v>WK37</c:v>
                  </c:pt>
                  <c:pt idx="43">
                    <c:v>WK38</c:v>
                  </c:pt>
                  <c:pt idx="44">
                    <c:v>WK39</c:v>
                  </c:pt>
                  <c:pt idx="45">
                    <c:v>WK40</c:v>
                  </c:pt>
                  <c:pt idx="46">
                    <c:v>WK41</c:v>
                  </c:pt>
                  <c:pt idx="47">
                    <c:v>WK42</c:v>
                  </c:pt>
                  <c:pt idx="48">
                    <c:v>WK43</c:v>
                  </c:pt>
                  <c:pt idx="49">
                    <c:v>WK44</c:v>
                  </c:pt>
                  <c:pt idx="50">
                    <c:v>WK45</c:v>
                  </c:pt>
                  <c:pt idx="51">
                    <c:v>WK46</c:v>
                  </c:pt>
                  <c:pt idx="52">
                    <c:v>WK47</c:v>
                  </c:pt>
                  <c:pt idx="53">
                    <c:v>WK48</c:v>
                  </c:pt>
                  <c:pt idx="54">
                    <c:v>WK49</c:v>
                  </c:pt>
                </c:lvl>
                <c:lvl>
                  <c:pt idx="0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INFLUENZA!$K$3:$K$57</c:f>
              <c:numCache>
                <c:formatCode>General</c:formatCode>
                <c:ptCount val="55"/>
                <c:pt idx="13" formatCode="0%">
                  <c:v>0</c:v>
                </c:pt>
                <c:pt idx="14" formatCode="0%">
                  <c:v>0</c:v>
                </c:pt>
                <c:pt idx="15" formatCode="0%">
                  <c:v>0</c:v>
                </c:pt>
                <c:pt idx="16" formatCode="0%">
                  <c:v>0</c:v>
                </c:pt>
                <c:pt idx="17" formatCode="0%">
                  <c:v>0.18181818181818182</c:v>
                </c:pt>
                <c:pt idx="18" formatCode="0%">
                  <c:v>0</c:v>
                </c:pt>
                <c:pt idx="19" formatCode="0%">
                  <c:v>0</c:v>
                </c:pt>
                <c:pt idx="20" formatCode="0%">
                  <c:v>0</c:v>
                </c:pt>
                <c:pt idx="21" formatCode="0%">
                  <c:v>0</c:v>
                </c:pt>
                <c:pt idx="22" formatCode="0%">
                  <c:v>0</c:v>
                </c:pt>
                <c:pt idx="23" formatCode="0%">
                  <c:v>0</c:v>
                </c:pt>
                <c:pt idx="24" formatCode="0%">
                  <c:v>0</c:v>
                </c:pt>
                <c:pt idx="25" formatCode="0%">
                  <c:v>0</c:v>
                </c:pt>
                <c:pt idx="26" formatCode="0%">
                  <c:v>0</c:v>
                </c:pt>
                <c:pt idx="27" formatCode="0%">
                  <c:v>4.3478260869565216E-2</c:v>
                </c:pt>
                <c:pt idx="28" formatCode="0%">
                  <c:v>8.3333333333333329E-2</c:v>
                </c:pt>
                <c:pt idx="29" formatCode="0%">
                  <c:v>8.3333333333333329E-2</c:v>
                </c:pt>
                <c:pt idx="30" formatCode="0%">
                  <c:v>0</c:v>
                </c:pt>
                <c:pt idx="31" formatCode="0%">
                  <c:v>5.2631578947368418E-2</c:v>
                </c:pt>
                <c:pt idx="32" formatCode="0%">
                  <c:v>0</c:v>
                </c:pt>
                <c:pt idx="33" formatCode="0%">
                  <c:v>5.5555555555555552E-2</c:v>
                </c:pt>
                <c:pt idx="34" formatCode="0%">
                  <c:v>4.3478260869565216E-2</c:v>
                </c:pt>
                <c:pt idx="35" formatCode="0%">
                  <c:v>0.16666666666666666</c:v>
                </c:pt>
                <c:pt idx="36" formatCode="0%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251F-6B40-BE23-33CEDDE111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8428320"/>
        <c:axId val="158418720"/>
      </c:lineChart>
      <c:catAx>
        <c:axId val="344643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4643936"/>
        <c:crosses val="autoZero"/>
        <c:auto val="1"/>
        <c:lblAlgn val="ctr"/>
        <c:lblOffset val="100"/>
        <c:noMultiLvlLbl val="0"/>
      </c:catAx>
      <c:valAx>
        <c:axId val="344643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4643456"/>
        <c:crosses val="autoZero"/>
        <c:crossBetween val="between"/>
      </c:valAx>
      <c:valAx>
        <c:axId val="158418720"/>
        <c:scaling>
          <c:orientation val="minMax"/>
          <c:max val="1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428320"/>
        <c:crosses val="max"/>
        <c:crossBetween val="between"/>
      </c:valAx>
      <c:catAx>
        <c:axId val="1584283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84187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1350869375779107E-2"/>
          <c:y val="0.81087942438885174"/>
          <c:w val="0.97517363646103017"/>
          <c:h val="0.1072847872994079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 b="1" dirty="0" err="1">
                <a:solidFill>
                  <a:schemeClr val="tx1"/>
                </a:solidFill>
              </a:rPr>
              <a:t>Mavalane</a:t>
            </a:r>
            <a:r>
              <a:rPr lang="en-GB" b="1" dirty="0">
                <a:solidFill>
                  <a:schemeClr val="tx1"/>
                </a:solidFill>
              </a:rPr>
              <a:t> Health </a:t>
            </a:r>
            <a:r>
              <a:rPr lang="en-GB" b="1" dirty="0" err="1">
                <a:solidFill>
                  <a:schemeClr val="tx1"/>
                </a:solidFill>
              </a:rPr>
              <a:t>Center</a:t>
            </a:r>
            <a:endParaRPr lang="en-GB" b="1" dirty="0">
              <a:solidFill>
                <a:schemeClr val="tx1"/>
              </a:solidFill>
            </a:endParaRPr>
          </a:p>
          <a:p>
            <a:pPr>
              <a:defRPr b="1">
                <a:solidFill>
                  <a:schemeClr val="tx1"/>
                </a:solidFill>
              </a:defRPr>
            </a:pPr>
            <a:r>
              <a:rPr lang="en-GB" b="1" dirty="0">
                <a:solidFill>
                  <a:schemeClr val="tx1"/>
                </a:solidFill>
              </a:rPr>
              <a:t>Influenza</a:t>
            </a:r>
            <a:r>
              <a:rPr lang="en-GB" b="1" baseline="0" dirty="0">
                <a:solidFill>
                  <a:schemeClr val="tx1"/>
                </a:solidFill>
              </a:rPr>
              <a:t> Combined HF &amp; Community</a:t>
            </a:r>
            <a:endParaRPr lang="en-GB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INFLUENZA!$G$33</c:f>
              <c:strCache>
                <c:ptCount val="1"/>
                <c:pt idx="0">
                  <c:v>Cases of Resp. Syndrome Reported   Mavalane HC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INFLUENZA!$F$34:$F$88</c:f>
              <c:strCache>
                <c:ptCount val="55"/>
                <c:pt idx="0">
                  <c:v>WK47</c:v>
                </c:pt>
                <c:pt idx="1">
                  <c:v>WK48</c:v>
                </c:pt>
                <c:pt idx="2">
                  <c:v>WK49</c:v>
                </c:pt>
                <c:pt idx="3">
                  <c:v>WK50</c:v>
                </c:pt>
                <c:pt idx="4">
                  <c:v>WK51</c:v>
                </c:pt>
                <c:pt idx="5">
                  <c:v>WK52</c:v>
                </c:pt>
                <c:pt idx="6">
                  <c:v>Wk1</c:v>
                </c:pt>
                <c:pt idx="7">
                  <c:v>WK2</c:v>
                </c:pt>
                <c:pt idx="8">
                  <c:v>WK3</c:v>
                </c:pt>
                <c:pt idx="9">
                  <c:v>WK4</c:v>
                </c:pt>
                <c:pt idx="10">
                  <c:v>WK5</c:v>
                </c:pt>
                <c:pt idx="11">
                  <c:v>WK6</c:v>
                </c:pt>
                <c:pt idx="12">
                  <c:v>WK7</c:v>
                </c:pt>
                <c:pt idx="13">
                  <c:v>WK8</c:v>
                </c:pt>
                <c:pt idx="14">
                  <c:v>WK9</c:v>
                </c:pt>
                <c:pt idx="15">
                  <c:v>WK10</c:v>
                </c:pt>
                <c:pt idx="16">
                  <c:v>WK11</c:v>
                </c:pt>
                <c:pt idx="17">
                  <c:v>WK12</c:v>
                </c:pt>
                <c:pt idx="18">
                  <c:v>WK13</c:v>
                </c:pt>
                <c:pt idx="19">
                  <c:v>WK14</c:v>
                </c:pt>
                <c:pt idx="20">
                  <c:v>WK15</c:v>
                </c:pt>
                <c:pt idx="21">
                  <c:v>WK16</c:v>
                </c:pt>
                <c:pt idx="22">
                  <c:v>WK17</c:v>
                </c:pt>
                <c:pt idx="23">
                  <c:v>WK18</c:v>
                </c:pt>
                <c:pt idx="24">
                  <c:v>WK19</c:v>
                </c:pt>
                <c:pt idx="25">
                  <c:v>WK20</c:v>
                </c:pt>
                <c:pt idx="26">
                  <c:v>WK21</c:v>
                </c:pt>
                <c:pt idx="27">
                  <c:v>WK22</c:v>
                </c:pt>
                <c:pt idx="28">
                  <c:v>WK23</c:v>
                </c:pt>
                <c:pt idx="29">
                  <c:v>WK24</c:v>
                </c:pt>
                <c:pt idx="30">
                  <c:v>WK25</c:v>
                </c:pt>
                <c:pt idx="31">
                  <c:v>WK26</c:v>
                </c:pt>
                <c:pt idx="32">
                  <c:v>WK27</c:v>
                </c:pt>
                <c:pt idx="33">
                  <c:v>WK28</c:v>
                </c:pt>
                <c:pt idx="34">
                  <c:v>WK29</c:v>
                </c:pt>
                <c:pt idx="35">
                  <c:v>WK30</c:v>
                </c:pt>
                <c:pt idx="36">
                  <c:v>WK31</c:v>
                </c:pt>
                <c:pt idx="37">
                  <c:v>WK32</c:v>
                </c:pt>
                <c:pt idx="38">
                  <c:v>WK33</c:v>
                </c:pt>
                <c:pt idx="39">
                  <c:v>WK34</c:v>
                </c:pt>
                <c:pt idx="40">
                  <c:v>WK35</c:v>
                </c:pt>
                <c:pt idx="41">
                  <c:v>WK36</c:v>
                </c:pt>
                <c:pt idx="42">
                  <c:v>WK37</c:v>
                </c:pt>
                <c:pt idx="43">
                  <c:v>WK38</c:v>
                </c:pt>
                <c:pt idx="44">
                  <c:v>WK39</c:v>
                </c:pt>
                <c:pt idx="45">
                  <c:v>WK40</c:v>
                </c:pt>
                <c:pt idx="46">
                  <c:v>WK41</c:v>
                </c:pt>
                <c:pt idx="47">
                  <c:v>WK42</c:v>
                </c:pt>
                <c:pt idx="48">
                  <c:v>WK43</c:v>
                </c:pt>
                <c:pt idx="49">
                  <c:v>WK44</c:v>
                </c:pt>
                <c:pt idx="50">
                  <c:v>WK45</c:v>
                </c:pt>
                <c:pt idx="51">
                  <c:v>WK46</c:v>
                </c:pt>
                <c:pt idx="52">
                  <c:v>WK47</c:v>
                </c:pt>
                <c:pt idx="53">
                  <c:v>WK48</c:v>
                </c:pt>
                <c:pt idx="54">
                  <c:v>WK49</c:v>
                </c:pt>
              </c:strCache>
            </c:strRef>
          </c:cat>
          <c:val>
            <c:numRef>
              <c:f>INFLUENZA!$G$34:$G$88</c:f>
              <c:numCache>
                <c:formatCode>General</c:formatCode>
                <c:ptCount val="55"/>
                <c:pt idx="31">
                  <c:v>115</c:v>
                </c:pt>
                <c:pt idx="32">
                  <c:v>259</c:v>
                </c:pt>
                <c:pt idx="33">
                  <c:v>291</c:v>
                </c:pt>
                <c:pt idx="34">
                  <c:v>205</c:v>
                </c:pt>
                <c:pt idx="35">
                  <c:v>201</c:v>
                </c:pt>
                <c:pt idx="36">
                  <c:v>152</c:v>
                </c:pt>
                <c:pt idx="37">
                  <c:v>168</c:v>
                </c:pt>
                <c:pt idx="38">
                  <c:v>185</c:v>
                </c:pt>
                <c:pt idx="39">
                  <c:v>204</c:v>
                </c:pt>
                <c:pt idx="40">
                  <c:v>176</c:v>
                </c:pt>
                <c:pt idx="41">
                  <c:v>189</c:v>
                </c:pt>
                <c:pt idx="42">
                  <c:v>136</c:v>
                </c:pt>
                <c:pt idx="43">
                  <c:v>230</c:v>
                </c:pt>
                <c:pt idx="44">
                  <c:v>196</c:v>
                </c:pt>
                <c:pt idx="45">
                  <c:v>214</c:v>
                </c:pt>
                <c:pt idx="46">
                  <c:v>293</c:v>
                </c:pt>
                <c:pt idx="47">
                  <c:v>284</c:v>
                </c:pt>
                <c:pt idx="48">
                  <c:v>354</c:v>
                </c:pt>
                <c:pt idx="49">
                  <c:v>293</c:v>
                </c:pt>
                <c:pt idx="50">
                  <c:v>373</c:v>
                </c:pt>
                <c:pt idx="51">
                  <c:v>354</c:v>
                </c:pt>
                <c:pt idx="52">
                  <c:v>318</c:v>
                </c:pt>
                <c:pt idx="53">
                  <c:v>392</c:v>
                </c:pt>
                <c:pt idx="54">
                  <c:v>330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C2-0D46-96A7-695BA75F36CE}"/>
            </c:ext>
          </c:extLst>
        </c:ser>
        <c:ser>
          <c:idx val="1"/>
          <c:order val="1"/>
          <c:tx>
            <c:strRef>
              <c:f>INFLUENZA!$H$33</c:f>
              <c:strCache>
                <c:ptCount val="1"/>
                <c:pt idx="0">
                  <c:v> Samples Tested  Mavalane HC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INFLUENZA!$F$34:$F$88</c:f>
              <c:strCache>
                <c:ptCount val="55"/>
                <c:pt idx="0">
                  <c:v>WK47</c:v>
                </c:pt>
                <c:pt idx="1">
                  <c:v>WK48</c:v>
                </c:pt>
                <c:pt idx="2">
                  <c:v>WK49</c:v>
                </c:pt>
                <c:pt idx="3">
                  <c:v>WK50</c:v>
                </c:pt>
                <c:pt idx="4">
                  <c:v>WK51</c:v>
                </c:pt>
                <c:pt idx="5">
                  <c:v>WK52</c:v>
                </c:pt>
                <c:pt idx="6">
                  <c:v>Wk1</c:v>
                </c:pt>
                <c:pt idx="7">
                  <c:v>WK2</c:v>
                </c:pt>
                <c:pt idx="8">
                  <c:v>WK3</c:v>
                </c:pt>
                <c:pt idx="9">
                  <c:v>WK4</c:v>
                </c:pt>
                <c:pt idx="10">
                  <c:v>WK5</c:v>
                </c:pt>
                <c:pt idx="11">
                  <c:v>WK6</c:v>
                </c:pt>
                <c:pt idx="12">
                  <c:v>WK7</c:v>
                </c:pt>
                <c:pt idx="13">
                  <c:v>WK8</c:v>
                </c:pt>
                <c:pt idx="14">
                  <c:v>WK9</c:v>
                </c:pt>
                <c:pt idx="15">
                  <c:v>WK10</c:v>
                </c:pt>
                <c:pt idx="16">
                  <c:v>WK11</c:v>
                </c:pt>
                <c:pt idx="17">
                  <c:v>WK12</c:v>
                </c:pt>
                <c:pt idx="18">
                  <c:v>WK13</c:v>
                </c:pt>
                <c:pt idx="19">
                  <c:v>WK14</c:v>
                </c:pt>
                <c:pt idx="20">
                  <c:v>WK15</c:v>
                </c:pt>
                <c:pt idx="21">
                  <c:v>WK16</c:v>
                </c:pt>
                <c:pt idx="22">
                  <c:v>WK17</c:v>
                </c:pt>
                <c:pt idx="23">
                  <c:v>WK18</c:v>
                </c:pt>
                <c:pt idx="24">
                  <c:v>WK19</c:v>
                </c:pt>
                <c:pt idx="25">
                  <c:v>WK20</c:v>
                </c:pt>
                <c:pt idx="26">
                  <c:v>WK21</c:v>
                </c:pt>
                <c:pt idx="27">
                  <c:v>WK22</c:v>
                </c:pt>
                <c:pt idx="28">
                  <c:v>WK23</c:v>
                </c:pt>
                <c:pt idx="29">
                  <c:v>WK24</c:v>
                </c:pt>
                <c:pt idx="30">
                  <c:v>WK25</c:v>
                </c:pt>
                <c:pt idx="31">
                  <c:v>WK26</c:v>
                </c:pt>
                <c:pt idx="32">
                  <c:v>WK27</c:v>
                </c:pt>
                <c:pt idx="33">
                  <c:v>WK28</c:v>
                </c:pt>
                <c:pt idx="34">
                  <c:v>WK29</c:v>
                </c:pt>
                <c:pt idx="35">
                  <c:v>WK30</c:v>
                </c:pt>
                <c:pt idx="36">
                  <c:v>WK31</c:v>
                </c:pt>
                <c:pt idx="37">
                  <c:v>WK32</c:v>
                </c:pt>
                <c:pt idx="38">
                  <c:v>WK33</c:v>
                </c:pt>
                <c:pt idx="39">
                  <c:v>WK34</c:v>
                </c:pt>
                <c:pt idx="40">
                  <c:v>WK35</c:v>
                </c:pt>
                <c:pt idx="41">
                  <c:v>WK36</c:v>
                </c:pt>
                <c:pt idx="42">
                  <c:v>WK37</c:v>
                </c:pt>
                <c:pt idx="43">
                  <c:v>WK38</c:v>
                </c:pt>
                <c:pt idx="44">
                  <c:v>WK39</c:v>
                </c:pt>
                <c:pt idx="45">
                  <c:v>WK40</c:v>
                </c:pt>
                <c:pt idx="46">
                  <c:v>WK41</c:v>
                </c:pt>
                <c:pt idx="47">
                  <c:v>WK42</c:v>
                </c:pt>
                <c:pt idx="48">
                  <c:v>WK43</c:v>
                </c:pt>
                <c:pt idx="49">
                  <c:v>WK44</c:v>
                </c:pt>
                <c:pt idx="50">
                  <c:v>WK45</c:v>
                </c:pt>
                <c:pt idx="51">
                  <c:v>WK46</c:v>
                </c:pt>
                <c:pt idx="52">
                  <c:v>WK47</c:v>
                </c:pt>
                <c:pt idx="53">
                  <c:v>WK48</c:v>
                </c:pt>
                <c:pt idx="54">
                  <c:v>WK49</c:v>
                </c:pt>
              </c:strCache>
            </c:strRef>
          </c:cat>
          <c:val>
            <c:numRef>
              <c:f>INFLUENZA!$H$34:$H$88</c:f>
              <c:numCache>
                <c:formatCode>General</c:formatCode>
                <c:ptCount val="55"/>
                <c:pt idx="31">
                  <c:v>24</c:v>
                </c:pt>
                <c:pt idx="32">
                  <c:v>25</c:v>
                </c:pt>
                <c:pt idx="33">
                  <c:v>25</c:v>
                </c:pt>
                <c:pt idx="34">
                  <c:v>25</c:v>
                </c:pt>
                <c:pt idx="35">
                  <c:v>5</c:v>
                </c:pt>
                <c:pt idx="36">
                  <c:v>21</c:v>
                </c:pt>
                <c:pt idx="37">
                  <c:v>16</c:v>
                </c:pt>
                <c:pt idx="38">
                  <c:v>20</c:v>
                </c:pt>
                <c:pt idx="39">
                  <c:v>13</c:v>
                </c:pt>
                <c:pt idx="40">
                  <c:v>15</c:v>
                </c:pt>
                <c:pt idx="41">
                  <c:v>15</c:v>
                </c:pt>
                <c:pt idx="42">
                  <c:v>16</c:v>
                </c:pt>
                <c:pt idx="43">
                  <c:v>15</c:v>
                </c:pt>
                <c:pt idx="44">
                  <c:v>15</c:v>
                </c:pt>
                <c:pt idx="45">
                  <c:v>12</c:v>
                </c:pt>
                <c:pt idx="46">
                  <c:v>15</c:v>
                </c:pt>
                <c:pt idx="47">
                  <c:v>15</c:v>
                </c:pt>
                <c:pt idx="48">
                  <c:v>15</c:v>
                </c:pt>
                <c:pt idx="49">
                  <c:v>15</c:v>
                </c:pt>
                <c:pt idx="50">
                  <c:v>15</c:v>
                </c:pt>
                <c:pt idx="51">
                  <c:v>15</c:v>
                </c:pt>
                <c:pt idx="52">
                  <c:v>15</c:v>
                </c:pt>
                <c:pt idx="53">
                  <c:v>15</c:v>
                </c:pt>
                <c:pt idx="54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CC2-0D46-96A7-695BA75F36CE}"/>
            </c:ext>
          </c:extLst>
        </c:ser>
        <c:ser>
          <c:idx val="2"/>
          <c:order val="2"/>
          <c:tx>
            <c:strRef>
              <c:f>INFLUENZA!$I$33</c:f>
              <c:strCache>
                <c:ptCount val="1"/>
                <c:pt idx="0">
                  <c:v>Positive cases  Mavalane HC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INFLUENZA!$F$34:$F$88</c:f>
              <c:strCache>
                <c:ptCount val="55"/>
                <c:pt idx="0">
                  <c:v>WK47</c:v>
                </c:pt>
                <c:pt idx="1">
                  <c:v>WK48</c:v>
                </c:pt>
                <c:pt idx="2">
                  <c:v>WK49</c:v>
                </c:pt>
                <c:pt idx="3">
                  <c:v>WK50</c:v>
                </c:pt>
                <c:pt idx="4">
                  <c:v>WK51</c:v>
                </c:pt>
                <c:pt idx="5">
                  <c:v>WK52</c:v>
                </c:pt>
                <c:pt idx="6">
                  <c:v>Wk1</c:v>
                </c:pt>
                <c:pt idx="7">
                  <c:v>WK2</c:v>
                </c:pt>
                <c:pt idx="8">
                  <c:v>WK3</c:v>
                </c:pt>
                <c:pt idx="9">
                  <c:v>WK4</c:v>
                </c:pt>
                <c:pt idx="10">
                  <c:v>WK5</c:v>
                </c:pt>
                <c:pt idx="11">
                  <c:v>WK6</c:v>
                </c:pt>
                <c:pt idx="12">
                  <c:v>WK7</c:v>
                </c:pt>
                <c:pt idx="13">
                  <c:v>WK8</c:v>
                </c:pt>
                <c:pt idx="14">
                  <c:v>WK9</c:v>
                </c:pt>
                <c:pt idx="15">
                  <c:v>WK10</c:v>
                </c:pt>
                <c:pt idx="16">
                  <c:v>WK11</c:v>
                </c:pt>
                <c:pt idx="17">
                  <c:v>WK12</c:v>
                </c:pt>
                <c:pt idx="18">
                  <c:v>WK13</c:v>
                </c:pt>
                <c:pt idx="19">
                  <c:v>WK14</c:v>
                </c:pt>
                <c:pt idx="20">
                  <c:v>WK15</c:v>
                </c:pt>
                <c:pt idx="21">
                  <c:v>WK16</c:v>
                </c:pt>
                <c:pt idx="22">
                  <c:v>WK17</c:v>
                </c:pt>
                <c:pt idx="23">
                  <c:v>WK18</c:v>
                </c:pt>
                <c:pt idx="24">
                  <c:v>WK19</c:v>
                </c:pt>
                <c:pt idx="25">
                  <c:v>WK20</c:v>
                </c:pt>
                <c:pt idx="26">
                  <c:v>WK21</c:v>
                </c:pt>
                <c:pt idx="27">
                  <c:v>WK22</c:v>
                </c:pt>
                <c:pt idx="28">
                  <c:v>WK23</c:v>
                </c:pt>
                <c:pt idx="29">
                  <c:v>WK24</c:v>
                </c:pt>
                <c:pt idx="30">
                  <c:v>WK25</c:v>
                </c:pt>
                <c:pt idx="31">
                  <c:v>WK26</c:v>
                </c:pt>
                <c:pt idx="32">
                  <c:v>WK27</c:v>
                </c:pt>
                <c:pt idx="33">
                  <c:v>WK28</c:v>
                </c:pt>
                <c:pt idx="34">
                  <c:v>WK29</c:v>
                </c:pt>
                <c:pt idx="35">
                  <c:v>WK30</c:v>
                </c:pt>
                <c:pt idx="36">
                  <c:v>WK31</c:v>
                </c:pt>
                <c:pt idx="37">
                  <c:v>WK32</c:v>
                </c:pt>
                <c:pt idx="38">
                  <c:v>WK33</c:v>
                </c:pt>
                <c:pt idx="39">
                  <c:v>WK34</c:v>
                </c:pt>
                <c:pt idx="40">
                  <c:v>WK35</c:v>
                </c:pt>
                <c:pt idx="41">
                  <c:v>WK36</c:v>
                </c:pt>
                <c:pt idx="42">
                  <c:v>WK37</c:v>
                </c:pt>
                <c:pt idx="43">
                  <c:v>WK38</c:v>
                </c:pt>
                <c:pt idx="44">
                  <c:v>WK39</c:v>
                </c:pt>
                <c:pt idx="45">
                  <c:v>WK40</c:v>
                </c:pt>
                <c:pt idx="46">
                  <c:v>WK41</c:v>
                </c:pt>
                <c:pt idx="47">
                  <c:v>WK42</c:v>
                </c:pt>
                <c:pt idx="48">
                  <c:v>WK43</c:v>
                </c:pt>
                <c:pt idx="49">
                  <c:v>WK44</c:v>
                </c:pt>
                <c:pt idx="50">
                  <c:v>WK45</c:v>
                </c:pt>
                <c:pt idx="51">
                  <c:v>WK46</c:v>
                </c:pt>
                <c:pt idx="52">
                  <c:v>WK47</c:v>
                </c:pt>
                <c:pt idx="53">
                  <c:v>WK48</c:v>
                </c:pt>
                <c:pt idx="54">
                  <c:v>WK49</c:v>
                </c:pt>
              </c:strCache>
            </c:strRef>
          </c:cat>
          <c:val>
            <c:numRef>
              <c:f>INFLUENZA!$I$34:$I$88</c:f>
              <c:numCache>
                <c:formatCode>General</c:formatCode>
                <c:ptCount val="55"/>
                <c:pt idx="31">
                  <c:v>0</c:v>
                </c:pt>
                <c:pt idx="32">
                  <c:v>1</c:v>
                </c:pt>
                <c:pt idx="33">
                  <c:v>2</c:v>
                </c:pt>
                <c:pt idx="34">
                  <c:v>1</c:v>
                </c:pt>
                <c:pt idx="35">
                  <c:v>0</c:v>
                </c:pt>
                <c:pt idx="36">
                  <c:v>0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2</c:v>
                </c:pt>
                <c:pt idx="41">
                  <c:v>2</c:v>
                </c:pt>
                <c:pt idx="42">
                  <c:v>1</c:v>
                </c:pt>
                <c:pt idx="43">
                  <c:v>0</c:v>
                </c:pt>
                <c:pt idx="44">
                  <c:v>2</c:v>
                </c:pt>
                <c:pt idx="45">
                  <c:v>0</c:v>
                </c:pt>
                <c:pt idx="46">
                  <c:v>0</c:v>
                </c:pt>
                <c:pt idx="47">
                  <c:v>2</c:v>
                </c:pt>
                <c:pt idx="48">
                  <c:v>6</c:v>
                </c:pt>
                <c:pt idx="49">
                  <c:v>5</c:v>
                </c:pt>
                <c:pt idx="50">
                  <c:v>3</c:v>
                </c:pt>
                <c:pt idx="51">
                  <c:v>5</c:v>
                </c:pt>
                <c:pt idx="52">
                  <c:v>7</c:v>
                </c:pt>
                <c:pt idx="53">
                  <c:v>8</c:v>
                </c:pt>
                <c:pt idx="5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CC2-0D46-96A7-695BA75F36CE}"/>
            </c:ext>
          </c:extLst>
        </c:ser>
        <c:ser>
          <c:idx val="4"/>
          <c:order val="4"/>
          <c:tx>
            <c:strRef>
              <c:f>INFLUENZA!$K$33</c:f>
              <c:strCache>
                <c:ptCount val="1"/>
                <c:pt idx="0">
                  <c:v>Cases reported at Comunidade Mavalene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INFLUENZA!$F$34:$F$88</c:f>
              <c:strCache>
                <c:ptCount val="55"/>
                <c:pt idx="0">
                  <c:v>WK47</c:v>
                </c:pt>
                <c:pt idx="1">
                  <c:v>WK48</c:v>
                </c:pt>
                <c:pt idx="2">
                  <c:v>WK49</c:v>
                </c:pt>
                <c:pt idx="3">
                  <c:v>WK50</c:v>
                </c:pt>
                <c:pt idx="4">
                  <c:v>WK51</c:v>
                </c:pt>
                <c:pt idx="5">
                  <c:v>WK52</c:v>
                </c:pt>
                <c:pt idx="6">
                  <c:v>Wk1</c:v>
                </c:pt>
                <c:pt idx="7">
                  <c:v>WK2</c:v>
                </c:pt>
                <c:pt idx="8">
                  <c:v>WK3</c:v>
                </c:pt>
                <c:pt idx="9">
                  <c:v>WK4</c:v>
                </c:pt>
                <c:pt idx="10">
                  <c:v>WK5</c:v>
                </c:pt>
                <c:pt idx="11">
                  <c:v>WK6</c:v>
                </c:pt>
                <c:pt idx="12">
                  <c:v>WK7</c:v>
                </c:pt>
                <c:pt idx="13">
                  <c:v>WK8</c:v>
                </c:pt>
                <c:pt idx="14">
                  <c:v>WK9</c:v>
                </c:pt>
                <c:pt idx="15">
                  <c:v>WK10</c:v>
                </c:pt>
                <c:pt idx="16">
                  <c:v>WK11</c:v>
                </c:pt>
                <c:pt idx="17">
                  <c:v>WK12</c:v>
                </c:pt>
                <c:pt idx="18">
                  <c:v>WK13</c:v>
                </c:pt>
                <c:pt idx="19">
                  <c:v>WK14</c:v>
                </c:pt>
                <c:pt idx="20">
                  <c:v>WK15</c:v>
                </c:pt>
                <c:pt idx="21">
                  <c:v>WK16</c:v>
                </c:pt>
                <c:pt idx="22">
                  <c:v>WK17</c:v>
                </c:pt>
                <c:pt idx="23">
                  <c:v>WK18</c:v>
                </c:pt>
                <c:pt idx="24">
                  <c:v>WK19</c:v>
                </c:pt>
                <c:pt idx="25">
                  <c:v>WK20</c:v>
                </c:pt>
                <c:pt idx="26">
                  <c:v>WK21</c:v>
                </c:pt>
                <c:pt idx="27">
                  <c:v>WK22</c:v>
                </c:pt>
                <c:pt idx="28">
                  <c:v>WK23</c:v>
                </c:pt>
                <c:pt idx="29">
                  <c:v>WK24</c:v>
                </c:pt>
                <c:pt idx="30">
                  <c:v>WK25</c:v>
                </c:pt>
                <c:pt idx="31">
                  <c:v>WK26</c:v>
                </c:pt>
                <c:pt idx="32">
                  <c:v>WK27</c:v>
                </c:pt>
                <c:pt idx="33">
                  <c:v>WK28</c:v>
                </c:pt>
                <c:pt idx="34">
                  <c:v>WK29</c:v>
                </c:pt>
                <c:pt idx="35">
                  <c:v>WK30</c:v>
                </c:pt>
                <c:pt idx="36">
                  <c:v>WK31</c:v>
                </c:pt>
                <c:pt idx="37">
                  <c:v>WK32</c:v>
                </c:pt>
                <c:pt idx="38">
                  <c:v>WK33</c:v>
                </c:pt>
                <c:pt idx="39">
                  <c:v>WK34</c:v>
                </c:pt>
                <c:pt idx="40">
                  <c:v>WK35</c:v>
                </c:pt>
                <c:pt idx="41">
                  <c:v>WK36</c:v>
                </c:pt>
                <c:pt idx="42">
                  <c:v>WK37</c:v>
                </c:pt>
                <c:pt idx="43">
                  <c:v>WK38</c:v>
                </c:pt>
                <c:pt idx="44">
                  <c:v>WK39</c:v>
                </c:pt>
                <c:pt idx="45">
                  <c:v>WK40</c:v>
                </c:pt>
                <c:pt idx="46">
                  <c:v>WK41</c:v>
                </c:pt>
                <c:pt idx="47">
                  <c:v>WK42</c:v>
                </c:pt>
                <c:pt idx="48">
                  <c:v>WK43</c:v>
                </c:pt>
                <c:pt idx="49">
                  <c:v>WK44</c:v>
                </c:pt>
                <c:pt idx="50">
                  <c:v>WK45</c:v>
                </c:pt>
                <c:pt idx="51">
                  <c:v>WK46</c:v>
                </c:pt>
                <c:pt idx="52">
                  <c:v>WK47</c:v>
                </c:pt>
                <c:pt idx="53">
                  <c:v>WK48</c:v>
                </c:pt>
                <c:pt idx="54">
                  <c:v>WK49</c:v>
                </c:pt>
              </c:strCache>
            </c:strRef>
          </c:cat>
          <c:val>
            <c:numRef>
              <c:f>INFLUENZA!$K$34:$K$88</c:f>
              <c:numCache>
                <c:formatCode>General</c:formatCode>
                <c:ptCount val="55"/>
                <c:pt idx="34">
                  <c:v>29</c:v>
                </c:pt>
                <c:pt idx="35">
                  <c:v>62</c:v>
                </c:pt>
                <c:pt idx="36">
                  <c:v>78</c:v>
                </c:pt>
                <c:pt idx="37">
                  <c:v>73</c:v>
                </c:pt>
                <c:pt idx="38">
                  <c:v>68</c:v>
                </c:pt>
                <c:pt idx="39">
                  <c:v>52</c:v>
                </c:pt>
                <c:pt idx="40">
                  <c:v>44</c:v>
                </c:pt>
                <c:pt idx="41">
                  <c:v>52</c:v>
                </c:pt>
                <c:pt idx="42">
                  <c:v>28</c:v>
                </c:pt>
                <c:pt idx="43">
                  <c:v>49</c:v>
                </c:pt>
                <c:pt idx="44">
                  <c:v>32</c:v>
                </c:pt>
                <c:pt idx="45">
                  <c:v>33</c:v>
                </c:pt>
                <c:pt idx="46">
                  <c:v>40</c:v>
                </c:pt>
                <c:pt idx="47">
                  <c:v>47</c:v>
                </c:pt>
                <c:pt idx="48">
                  <c:v>37</c:v>
                </c:pt>
                <c:pt idx="49">
                  <c:v>29</c:v>
                </c:pt>
                <c:pt idx="50">
                  <c:v>34</c:v>
                </c:pt>
                <c:pt idx="51">
                  <c:v>20</c:v>
                </c:pt>
                <c:pt idx="52">
                  <c:v>25</c:v>
                </c:pt>
                <c:pt idx="53">
                  <c:v>16</c:v>
                </c:pt>
                <c:pt idx="54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CC2-0D46-96A7-695BA75F36CE}"/>
            </c:ext>
          </c:extLst>
        </c:ser>
        <c:ser>
          <c:idx val="5"/>
          <c:order val="5"/>
          <c:tx>
            <c:strRef>
              <c:f>INFLUENZA!$L$33</c:f>
              <c:strCache>
                <c:ptCount val="1"/>
                <c:pt idx="0">
                  <c:v> Samples Tested Comunidade Mavalene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INFLUENZA!$F$34:$F$88</c:f>
              <c:strCache>
                <c:ptCount val="55"/>
                <c:pt idx="0">
                  <c:v>WK47</c:v>
                </c:pt>
                <c:pt idx="1">
                  <c:v>WK48</c:v>
                </c:pt>
                <c:pt idx="2">
                  <c:v>WK49</c:v>
                </c:pt>
                <c:pt idx="3">
                  <c:v>WK50</c:v>
                </c:pt>
                <c:pt idx="4">
                  <c:v>WK51</c:v>
                </c:pt>
                <c:pt idx="5">
                  <c:v>WK52</c:v>
                </c:pt>
                <c:pt idx="6">
                  <c:v>Wk1</c:v>
                </c:pt>
                <c:pt idx="7">
                  <c:v>WK2</c:v>
                </c:pt>
                <c:pt idx="8">
                  <c:v>WK3</c:v>
                </c:pt>
                <c:pt idx="9">
                  <c:v>WK4</c:v>
                </c:pt>
                <c:pt idx="10">
                  <c:v>WK5</c:v>
                </c:pt>
                <c:pt idx="11">
                  <c:v>WK6</c:v>
                </c:pt>
                <c:pt idx="12">
                  <c:v>WK7</c:v>
                </c:pt>
                <c:pt idx="13">
                  <c:v>WK8</c:v>
                </c:pt>
                <c:pt idx="14">
                  <c:v>WK9</c:v>
                </c:pt>
                <c:pt idx="15">
                  <c:v>WK10</c:v>
                </c:pt>
                <c:pt idx="16">
                  <c:v>WK11</c:v>
                </c:pt>
                <c:pt idx="17">
                  <c:v>WK12</c:v>
                </c:pt>
                <c:pt idx="18">
                  <c:v>WK13</c:v>
                </c:pt>
                <c:pt idx="19">
                  <c:v>WK14</c:v>
                </c:pt>
                <c:pt idx="20">
                  <c:v>WK15</c:v>
                </c:pt>
                <c:pt idx="21">
                  <c:v>WK16</c:v>
                </c:pt>
                <c:pt idx="22">
                  <c:v>WK17</c:v>
                </c:pt>
                <c:pt idx="23">
                  <c:v>WK18</c:v>
                </c:pt>
                <c:pt idx="24">
                  <c:v>WK19</c:v>
                </c:pt>
                <c:pt idx="25">
                  <c:v>WK20</c:v>
                </c:pt>
                <c:pt idx="26">
                  <c:v>WK21</c:v>
                </c:pt>
                <c:pt idx="27">
                  <c:v>WK22</c:v>
                </c:pt>
                <c:pt idx="28">
                  <c:v>WK23</c:v>
                </c:pt>
                <c:pt idx="29">
                  <c:v>WK24</c:v>
                </c:pt>
                <c:pt idx="30">
                  <c:v>WK25</c:v>
                </c:pt>
                <c:pt idx="31">
                  <c:v>WK26</c:v>
                </c:pt>
                <c:pt idx="32">
                  <c:v>WK27</c:v>
                </c:pt>
                <c:pt idx="33">
                  <c:v>WK28</c:v>
                </c:pt>
                <c:pt idx="34">
                  <c:v>WK29</c:v>
                </c:pt>
                <c:pt idx="35">
                  <c:v>WK30</c:v>
                </c:pt>
                <c:pt idx="36">
                  <c:v>WK31</c:v>
                </c:pt>
                <c:pt idx="37">
                  <c:v>WK32</c:v>
                </c:pt>
                <c:pt idx="38">
                  <c:v>WK33</c:v>
                </c:pt>
                <c:pt idx="39">
                  <c:v>WK34</c:v>
                </c:pt>
                <c:pt idx="40">
                  <c:v>WK35</c:v>
                </c:pt>
                <c:pt idx="41">
                  <c:v>WK36</c:v>
                </c:pt>
                <c:pt idx="42">
                  <c:v>WK37</c:v>
                </c:pt>
                <c:pt idx="43">
                  <c:v>WK38</c:v>
                </c:pt>
                <c:pt idx="44">
                  <c:v>WK39</c:v>
                </c:pt>
                <c:pt idx="45">
                  <c:v>WK40</c:v>
                </c:pt>
                <c:pt idx="46">
                  <c:v>WK41</c:v>
                </c:pt>
                <c:pt idx="47">
                  <c:v>WK42</c:v>
                </c:pt>
                <c:pt idx="48">
                  <c:v>WK43</c:v>
                </c:pt>
                <c:pt idx="49">
                  <c:v>WK44</c:v>
                </c:pt>
                <c:pt idx="50">
                  <c:v>WK45</c:v>
                </c:pt>
                <c:pt idx="51">
                  <c:v>WK46</c:v>
                </c:pt>
                <c:pt idx="52">
                  <c:v>WK47</c:v>
                </c:pt>
                <c:pt idx="53">
                  <c:v>WK48</c:v>
                </c:pt>
                <c:pt idx="54">
                  <c:v>WK49</c:v>
                </c:pt>
              </c:strCache>
            </c:strRef>
          </c:cat>
          <c:val>
            <c:numRef>
              <c:f>INFLUENZA!$L$34:$L$88</c:f>
              <c:numCache>
                <c:formatCode>General</c:formatCode>
                <c:ptCount val="55"/>
                <c:pt idx="34">
                  <c:v>8</c:v>
                </c:pt>
                <c:pt idx="35">
                  <c:v>23</c:v>
                </c:pt>
                <c:pt idx="36">
                  <c:v>22</c:v>
                </c:pt>
                <c:pt idx="37">
                  <c:v>14</c:v>
                </c:pt>
                <c:pt idx="38">
                  <c:v>32</c:v>
                </c:pt>
                <c:pt idx="39">
                  <c:v>24</c:v>
                </c:pt>
                <c:pt idx="40">
                  <c:v>16</c:v>
                </c:pt>
                <c:pt idx="41">
                  <c:v>19</c:v>
                </c:pt>
                <c:pt idx="42">
                  <c:v>10</c:v>
                </c:pt>
                <c:pt idx="43">
                  <c:v>26</c:v>
                </c:pt>
                <c:pt idx="44">
                  <c:v>21</c:v>
                </c:pt>
                <c:pt idx="45">
                  <c:v>20</c:v>
                </c:pt>
                <c:pt idx="46">
                  <c:v>27</c:v>
                </c:pt>
                <c:pt idx="47">
                  <c:v>19</c:v>
                </c:pt>
                <c:pt idx="48">
                  <c:v>15</c:v>
                </c:pt>
                <c:pt idx="49">
                  <c:v>15</c:v>
                </c:pt>
                <c:pt idx="50">
                  <c:v>15</c:v>
                </c:pt>
                <c:pt idx="51">
                  <c:v>14</c:v>
                </c:pt>
                <c:pt idx="52">
                  <c:v>13</c:v>
                </c:pt>
                <c:pt idx="53">
                  <c:v>18</c:v>
                </c:pt>
                <c:pt idx="54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CC2-0D46-96A7-695BA75F36CE}"/>
            </c:ext>
          </c:extLst>
        </c:ser>
        <c:ser>
          <c:idx val="6"/>
          <c:order val="6"/>
          <c:tx>
            <c:strRef>
              <c:f>INFLUENZA!$M$33</c:f>
              <c:strCache>
                <c:ptCount val="1"/>
                <c:pt idx="0">
                  <c:v>Positive cases Comunidade Mavalene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INFLUENZA!$F$34:$F$88</c:f>
              <c:strCache>
                <c:ptCount val="55"/>
                <c:pt idx="0">
                  <c:v>WK47</c:v>
                </c:pt>
                <c:pt idx="1">
                  <c:v>WK48</c:v>
                </c:pt>
                <c:pt idx="2">
                  <c:v>WK49</c:v>
                </c:pt>
                <c:pt idx="3">
                  <c:v>WK50</c:v>
                </c:pt>
                <c:pt idx="4">
                  <c:v>WK51</c:v>
                </c:pt>
                <c:pt idx="5">
                  <c:v>WK52</c:v>
                </c:pt>
                <c:pt idx="6">
                  <c:v>Wk1</c:v>
                </c:pt>
                <c:pt idx="7">
                  <c:v>WK2</c:v>
                </c:pt>
                <c:pt idx="8">
                  <c:v>WK3</c:v>
                </c:pt>
                <c:pt idx="9">
                  <c:v>WK4</c:v>
                </c:pt>
                <c:pt idx="10">
                  <c:v>WK5</c:v>
                </c:pt>
                <c:pt idx="11">
                  <c:v>WK6</c:v>
                </c:pt>
                <c:pt idx="12">
                  <c:v>WK7</c:v>
                </c:pt>
                <c:pt idx="13">
                  <c:v>WK8</c:v>
                </c:pt>
                <c:pt idx="14">
                  <c:v>WK9</c:v>
                </c:pt>
                <c:pt idx="15">
                  <c:v>WK10</c:v>
                </c:pt>
                <c:pt idx="16">
                  <c:v>WK11</c:v>
                </c:pt>
                <c:pt idx="17">
                  <c:v>WK12</c:v>
                </c:pt>
                <c:pt idx="18">
                  <c:v>WK13</c:v>
                </c:pt>
                <c:pt idx="19">
                  <c:v>WK14</c:v>
                </c:pt>
                <c:pt idx="20">
                  <c:v>WK15</c:v>
                </c:pt>
                <c:pt idx="21">
                  <c:v>WK16</c:v>
                </c:pt>
                <c:pt idx="22">
                  <c:v>WK17</c:v>
                </c:pt>
                <c:pt idx="23">
                  <c:v>WK18</c:v>
                </c:pt>
                <c:pt idx="24">
                  <c:v>WK19</c:v>
                </c:pt>
                <c:pt idx="25">
                  <c:v>WK20</c:v>
                </c:pt>
                <c:pt idx="26">
                  <c:v>WK21</c:v>
                </c:pt>
                <c:pt idx="27">
                  <c:v>WK22</c:v>
                </c:pt>
                <c:pt idx="28">
                  <c:v>WK23</c:v>
                </c:pt>
                <c:pt idx="29">
                  <c:v>WK24</c:v>
                </c:pt>
                <c:pt idx="30">
                  <c:v>WK25</c:v>
                </c:pt>
                <c:pt idx="31">
                  <c:v>WK26</c:v>
                </c:pt>
                <c:pt idx="32">
                  <c:v>WK27</c:v>
                </c:pt>
                <c:pt idx="33">
                  <c:v>WK28</c:v>
                </c:pt>
                <c:pt idx="34">
                  <c:v>WK29</c:v>
                </c:pt>
                <c:pt idx="35">
                  <c:v>WK30</c:v>
                </c:pt>
                <c:pt idx="36">
                  <c:v>WK31</c:v>
                </c:pt>
                <c:pt idx="37">
                  <c:v>WK32</c:v>
                </c:pt>
                <c:pt idx="38">
                  <c:v>WK33</c:v>
                </c:pt>
                <c:pt idx="39">
                  <c:v>WK34</c:v>
                </c:pt>
                <c:pt idx="40">
                  <c:v>WK35</c:v>
                </c:pt>
                <c:pt idx="41">
                  <c:v>WK36</c:v>
                </c:pt>
                <c:pt idx="42">
                  <c:v>WK37</c:v>
                </c:pt>
                <c:pt idx="43">
                  <c:v>WK38</c:v>
                </c:pt>
                <c:pt idx="44">
                  <c:v>WK39</c:v>
                </c:pt>
                <c:pt idx="45">
                  <c:v>WK40</c:v>
                </c:pt>
                <c:pt idx="46">
                  <c:v>WK41</c:v>
                </c:pt>
                <c:pt idx="47">
                  <c:v>WK42</c:v>
                </c:pt>
                <c:pt idx="48">
                  <c:v>WK43</c:v>
                </c:pt>
                <c:pt idx="49">
                  <c:v>WK44</c:v>
                </c:pt>
                <c:pt idx="50">
                  <c:v>WK45</c:v>
                </c:pt>
                <c:pt idx="51">
                  <c:v>WK46</c:v>
                </c:pt>
                <c:pt idx="52">
                  <c:v>WK47</c:v>
                </c:pt>
                <c:pt idx="53">
                  <c:v>WK48</c:v>
                </c:pt>
                <c:pt idx="54">
                  <c:v>WK49</c:v>
                </c:pt>
              </c:strCache>
            </c:strRef>
          </c:cat>
          <c:val>
            <c:numRef>
              <c:f>INFLUENZA!$M$34:$M$88</c:f>
              <c:numCache>
                <c:formatCode>General</c:formatCode>
                <c:ptCount val="55"/>
                <c:pt idx="34">
                  <c:v>3</c:v>
                </c:pt>
                <c:pt idx="35">
                  <c:v>0</c:v>
                </c:pt>
                <c:pt idx="3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CC2-0D46-96A7-695BA75F36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77287200"/>
        <c:axId val="977295360"/>
      </c:barChart>
      <c:lineChart>
        <c:grouping val="standard"/>
        <c:varyColors val="0"/>
        <c:ser>
          <c:idx val="3"/>
          <c:order val="3"/>
          <c:tx>
            <c:strRef>
              <c:f>INFLUENZA!$J$33</c:f>
              <c:strCache>
                <c:ptCount val="1"/>
                <c:pt idx="0">
                  <c:v>#Positivity Mavalane HC</c:v>
                </c:pt>
              </c:strCache>
            </c:strRef>
          </c:tx>
          <c:spPr>
            <a:ln w="28575" cap="rnd">
              <a:solidFill>
                <a:srgbClr val="FF0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INFLUENZA!$F$34:$F$88</c:f>
              <c:strCache>
                <c:ptCount val="55"/>
                <c:pt idx="0">
                  <c:v>WK47</c:v>
                </c:pt>
                <c:pt idx="1">
                  <c:v>WK48</c:v>
                </c:pt>
                <c:pt idx="2">
                  <c:v>WK49</c:v>
                </c:pt>
                <c:pt idx="3">
                  <c:v>WK50</c:v>
                </c:pt>
                <c:pt idx="4">
                  <c:v>WK51</c:v>
                </c:pt>
                <c:pt idx="5">
                  <c:v>WK52</c:v>
                </c:pt>
                <c:pt idx="6">
                  <c:v>Wk1</c:v>
                </c:pt>
                <c:pt idx="7">
                  <c:v>WK2</c:v>
                </c:pt>
                <c:pt idx="8">
                  <c:v>WK3</c:v>
                </c:pt>
                <c:pt idx="9">
                  <c:v>WK4</c:v>
                </c:pt>
                <c:pt idx="10">
                  <c:v>WK5</c:v>
                </c:pt>
                <c:pt idx="11">
                  <c:v>WK6</c:v>
                </c:pt>
                <c:pt idx="12">
                  <c:v>WK7</c:v>
                </c:pt>
                <c:pt idx="13">
                  <c:v>WK8</c:v>
                </c:pt>
                <c:pt idx="14">
                  <c:v>WK9</c:v>
                </c:pt>
                <c:pt idx="15">
                  <c:v>WK10</c:v>
                </c:pt>
                <c:pt idx="16">
                  <c:v>WK11</c:v>
                </c:pt>
                <c:pt idx="17">
                  <c:v>WK12</c:v>
                </c:pt>
                <c:pt idx="18">
                  <c:v>WK13</c:v>
                </c:pt>
                <c:pt idx="19">
                  <c:v>WK14</c:v>
                </c:pt>
                <c:pt idx="20">
                  <c:v>WK15</c:v>
                </c:pt>
                <c:pt idx="21">
                  <c:v>WK16</c:v>
                </c:pt>
                <c:pt idx="22">
                  <c:v>WK17</c:v>
                </c:pt>
                <c:pt idx="23">
                  <c:v>WK18</c:v>
                </c:pt>
                <c:pt idx="24">
                  <c:v>WK19</c:v>
                </c:pt>
                <c:pt idx="25">
                  <c:v>WK20</c:v>
                </c:pt>
                <c:pt idx="26">
                  <c:v>WK21</c:v>
                </c:pt>
                <c:pt idx="27">
                  <c:v>WK22</c:v>
                </c:pt>
                <c:pt idx="28">
                  <c:v>WK23</c:v>
                </c:pt>
                <c:pt idx="29">
                  <c:v>WK24</c:v>
                </c:pt>
                <c:pt idx="30">
                  <c:v>WK25</c:v>
                </c:pt>
                <c:pt idx="31">
                  <c:v>WK26</c:v>
                </c:pt>
                <c:pt idx="32">
                  <c:v>WK27</c:v>
                </c:pt>
                <c:pt idx="33">
                  <c:v>WK28</c:v>
                </c:pt>
                <c:pt idx="34">
                  <c:v>WK29</c:v>
                </c:pt>
                <c:pt idx="35">
                  <c:v>WK30</c:v>
                </c:pt>
                <c:pt idx="36">
                  <c:v>WK31</c:v>
                </c:pt>
                <c:pt idx="37">
                  <c:v>WK32</c:v>
                </c:pt>
                <c:pt idx="38">
                  <c:v>WK33</c:v>
                </c:pt>
                <c:pt idx="39">
                  <c:v>WK34</c:v>
                </c:pt>
                <c:pt idx="40">
                  <c:v>WK35</c:v>
                </c:pt>
                <c:pt idx="41">
                  <c:v>WK36</c:v>
                </c:pt>
                <c:pt idx="42">
                  <c:v>WK37</c:v>
                </c:pt>
                <c:pt idx="43">
                  <c:v>WK38</c:v>
                </c:pt>
                <c:pt idx="44">
                  <c:v>WK39</c:v>
                </c:pt>
                <c:pt idx="45">
                  <c:v>WK40</c:v>
                </c:pt>
                <c:pt idx="46">
                  <c:v>WK41</c:v>
                </c:pt>
                <c:pt idx="47">
                  <c:v>WK42</c:v>
                </c:pt>
                <c:pt idx="48">
                  <c:v>WK43</c:v>
                </c:pt>
                <c:pt idx="49">
                  <c:v>WK44</c:v>
                </c:pt>
                <c:pt idx="50">
                  <c:v>WK45</c:v>
                </c:pt>
                <c:pt idx="51">
                  <c:v>WK46</c:v>
                </c:pt>
                <c:pt idx="52">
                  <c:v>WK47</c:v>
                </c:pt>
                <c:pt idx="53">
                  <c:v>WK48</c:v>
                </c:pt>
                <c:pt idx="54">
                  <c:v>WK49</c:v>
                </c:pt>
              </c:strCache>
            </c:strRef>
          </c:cat>
          <c:val>
            <c:numRef>
              <c:f>INFLUENZA!$J$34:$J$88</c:f>
              <c:numCache>
                <c:formatCode>General</c:formatCode>
                <c:ptCount val="55"/>
                <c:pt idx="31" formatCode="0%">
                  <c:v>0</c:v>
                </c:pt>
                <c:pt idx="32" formatCode="0%">
                  <c:v>0.04</c:v>
                </c:pt>
                <c:pt idx="33" formatCode="0%">
                  <c:v>0.08</c:v>
                </c:pt>
                <c:pt idx="34" formatCode="0%">
                  <c:v>0.04</c:v>
                </c:pt>
                <c:pt idx="35" formatCode="0%">
                  <c:v>0</c:v>
                </c:pt>
                <c:pt idx="36" formatCode="0%">
                  <c:v>0</c:v>
                </c:pt>
                <c:pt idx="37" formatCode="0%">
                  <c:v>6.25E-2</c:v>
                </c:pt>
                <c:pt idx="38" formatCode="0%">
                  <c:v>0.05</c:v>
                </c:pt>
                <c:pt idx="39" formatCode="0%">
                  <c:v>7.6923076923076927E-2</c:v>
                </c:pt>
                <c:pt idx="40" formatCode="0%">
                  <c:v>0.13333333333333333</c:v>
                </c:pt>
                <c:pt idx="41" formatCode="0%">
                  <c:v>0.13333333333333333</c:v>
                </c:pt>
                <c:pt idx="42" formatCode="0%">
                  <c:v>6.25E-2</c:v>
                </c:pt>
                <c:pt idx="43" formatCode="0%">
                  <c:v>0</c:v>
                </c:pt>
                <c:pt idx="44" formatCode="0%">
                  <c:v>0.13333333333333333</c:v>
                </c:pt>
                <c:pt idx="45" formatCode="0%">
                  <c:v>0</c:v>
                </c:pt>
                <c:pt idx="46" formatCode="0%">
                  <c:v>0</c:v>
                </c:pt>
                <c:pt idx="47" formatCode="0%">
                  <c:v>0.13333333333333333</c:v>
                </c:pt>
                <c:pt idx="48" formatCode="0%">
                  <c:v>0.4</c:v>
                </c:pt>
                <c:pt idx="49" formatCode="0%">
                  <c:v>0.33333333333333331</c:v>
                </c:pt>
                <c:pt idx="50" formatCode="0%">
                  <c:v>0.2</c:v>
                </c:pt>
                <c:pt idx="51" formatCode="0%">
                  <c:v>0.33333333333333331</c:v>
                </c:pt>
                <c:pt idx="52" formatCode="0%">
                  <c:v>0.46666666666666667</c:v>
                </c:pt>
                <c:pt idx="53" formatCode="0%">
                  <c:v>0.53333333333333333</c:v>
                </c:pt>
                <c:pt idx="54" formatCode="0%">
                  <c:v>0.72727272727272729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6CC2-0D46-96A7-695BA75F36CE}"/>
            </c:ext>
          </c:extLst>
        </c:ser>
        <c:ser>
          <c:idx val="7"/>
          <c:order val="7"/>
          <c:tx>
            <c:strRef>
              <c:f>INFLUENZA!$N$33</c:f>
              <c:strCache>
                <c:ptCount val="1"/>
                <c:pt idx="0">
                  <c:v># Positivity Comunidade Mavalene</c:v>
                </c:pt>
              </c:strCache>
            </c:strRef>
          </c:tx>
          <c:spPr>
            <a:ln w="28575" cap="rnd">
              <a:solidFill>
                <a:srgbClr val="FFC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INFLUENZA!$F$34:$F$88</c:f>
              <c:strCache>
                <c:ptCount val="55"/>
                <c:pt idx="0">
                  <c:v>WK47</c:v>
                </c:pt>
                <c:pt idx="1">
                  <c:v>WK48</c:v>
                </c:pt>
                <c:pt idx="2">
                  <c:v>WK49</c:v>
                </c:pt>
                <c:pt idx="3">
                  <c:v>WK50</c:v>
                </c:pt>
                <c:pt idx="4">
                  <c:v>WK51</c:v>
                </c:pt>
                <c:pt idx="5">
                  <c:v>WK52</c:v>
                </c:pt>
                <c:pt idx="6">
                  <c:v>Wk1</c:v>
                </c:pt>
                <c:pt idx="7">
                  <c:v>WK2</c:v>
                </c:pt>
                <c:pt idx="8">
                  <c:v>WK3</c:v>
                </c:pt>
                <c:pt idx="9">
                  <c:v>WK4</c:v>
                </c:pt>
                <c:pt idx="10">
                  <c:v>WK5</c:v>
                </c:pt>
                <c:pt idx="11">
                  <c:v>WK6</c:v>
                </c:pt>
                <c:pt idx="12">
                  <c:v>WK7</c:v>
                </c:pt>
                <c:pt idx="13">
                  <c:v>WK8</c:v>
                </c:pt>
                <c:pt idx="14">
                  <c:v>WK9</c:v>
                </c:pt>
                <c:pt idx="15">
                  <c:v>WK10</c:v>
                </c:pt>
                <c:pt idx="16">
                  <c:v>WK11</c:v>
                </c:pt>
                <c:pt idx="17">
                  <c:v>WK12</c:v>
                </c:pt>
                <c:pt idx="18">
                  <c:v>WK13</c:v>
                </c:pt>
                <c:pt idx="19">
                  <c:v>WK14</c:v>
                </c:pt>
                <c:pt idx="20">
                  <c:v>WK15</c:v>
                </c:pt>
                <c:pt idx="21">
                  <c:v>WK16</c:v>
                </c:pt>
                <c:pt idx="22">
                  <c:v>WK17</c:v>
                </c:pt>
                <c:pt idx="23">
                  <c:v>WK18</c:v>
                </c:pt>
                <c:pt idx="24">
                  <c:v>WK19</c:v>
                </c:pt>
                <c:pt idx="25">
                  <c:v>WK20</c:v>
                </c:pt>
                <c:pt idx="26">
                  <c:v>WK21</c:v>
                </c:pt>
                <c:pt idx="27">
                  <c:v>WK22</c:v>
                </c:pt>
                <c:pt idx="28">
                  <c:v>WK23</c:v>
                </c:pt>
                <c:pt idx="29">
                  <c:v>WK24</c:v>
                </c:pt>
                <c:pt idx="30">
                  <c:v>WK25</c:v>
                </c:pt>
                <c:pt idx="31">
                  <c:v>WK26</c:v>
                </c:pt>
                <c:pt idx="32">
                  <c:v>WK27</c:v>
                </c:pt>
                <c:pt idx="33">
                  <c:v>WK28</c:v>
                </c:pt>
                <c:pt idx="34">
                  <c:v>WK29</c:v>
                </c:pt>
                <c:pt idx="35">
                  <c:v>WK30</c:v>
                </c:pt>
                <c:pt idx="36">
                  <c:v>WK31</c:v>
                </c:pt>
                <c:pt idx="37">
                  <c:v>WK32</c:v>
                </c:pt>
                <c:pt idx="38">
                  <c:v>WK33</c:v>
                </c:pt>
                <c:pt idx="39">
                  <c:v>WK34</c:v>
                </c:pt>
                <c:pt idx="40">
                  <c:v>WK35</c:v>
                </c:pt>
                <c:pt idx="41">
                  <c:v>WK36</c:v>
                </c:pt>
                <c:pt idx="42">
                  <c:v>WK37</c:v>
                </c:pt>
                <c:pt idx="43">
                  <c:v>WK38</c:v>
                </c:pt>
                <c:pt idx="44">
                  <c:v>WK39</c:v>
                </c:pt>
                <c:pt idx="45">
                  <c:v>WK40</c:v>
                </c:pt>
                <c:pt idx="46">
                  <c:v>WK41</c:v>
                </c:pt>
                <c:pt idx="47">
                  <c:v>WK42</c:v>
                </c:pt>
                <c:pt idx="48">
                  <c:v>WK43</c:v>
                </c:pt>
                <c:pt idx="49">
                  <c:v>WK44</c:v>
                </c:pt>
                <c:pt idx="50">
                  <c:v>WK45</c:v>
                </c:pt>
                <c:pt idx="51">
                  <c:v>WK46</c:v>
                </c:pt>
                <c:pt idx="52">
                  <c:v>WK47</c:v>
                </c:pt>
                <c:pt idx="53">
                  <c:v>WK48</c:v>
                </c:pt>
                <c:pt idx="54">
                  <c:v>WK49</c:v>
                </c:pt>
              </c:strCache>
            </c:strRef>
          </c:cat>
          <c:val>
            <c:numRef>
              <c:f>INFLUENZA!$N$34:$N$88</c:f>
              <c:numCache>
                <c:formatCode>General</c:formatCode>
                <c:ptCount val="55"/>
                <c:pt idx="34" formatCode="0%">
                  <c:v>0.375</c:v>
                </c:pt>
                <c:pt idx="35" formatCode="0%">
                  <c:v>0</c:v>
                </c:pt>
                <c:pt idx="36" formatCode="0%">
                  <c:v>4.5454545454545456E-2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6CC2-0D46-96A7-695BA75F36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77264160"/>
        <c:axId val="977258880"/>
      </c:lineChart>
      <c:catAx>
        <c:axId val="977287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7295360"/>
        <c:crosses val="autoZero"/>
        <c:auto val="1"/>
        <c:lblAlgn val="ctr"/>
        <c:lblOffset val="100"/>
        <c:noMultiLvlLbl val="0"/>
      </c:catAx>
      <c:valAx>
        <c:axId val="977295360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7287200"/>
        <c:crosses val="autoZero"/>
        <c:crossBetween val="between"/>
      </c:valAx>
      <c:valAx>
        <c:axId val="977258880"/>
        <c:scaling>
          <c:orientation val="minMax"/>
          <c:max val="1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7264160"/>
        <c:crosses val="max"/>
        <c:crossBetween val="between"/>
      </c:valAx>
      <c:catAx>
        <c:axId val="97726416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7725888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6679301748197671E-2"/>
          <c:y val="0.78943653772736011"/>
          <c:w val="0.96243284152476261"/>
          <c:h val="0.1876390469580474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5DAE5E7-B9F8-46AE-536A-A5E37F60E9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9A6029-4E02-F917-62BC-2C4C588228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73F45-F0A1-4A59-9A48-737A79B6B852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496024-3AA5-F446-35AE-711EA918B68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4455E-163D-58A3-0450-E349C293A7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D6968-3151-4772-A4AF-FC3221677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58472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5694E4-AC3D-4C26-9EF2-E84CC29BDB4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8C424C-65C8-427F-B38B-A6F71098A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643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C424C-65C8-427F-B38B-A6F71098A6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149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9144D-A3E4-FF45-835F-7D9081CC1C31}" type="slidenum">
              <a:rPr lang="pt-PT" altLang="en-US" smtClean="0"/>
              <a:pPr/>
              <a:t>2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0727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C424C-65C8-427F-B38B-A6F71098A6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88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5F833-0C31-9AE0-CDA6-79C15451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F18B92-D26E-0FA6-7685-8FCD2B456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DFDE01-3191-0BA3-8A19-5A1480F7D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54BFE-7013-BB52-B042-9C090E837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C424C-65C8-427F-B38B-A6F71098A67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172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</a:t>
            </a:r>
            <a:r>
              <a:rPr lang="en-US" baseline="0" dirty="0" err="1"/>
              <a:t>incidencia</a:t>
            </a:r>
            <a:r>
              <a:rPr lang="en-US" baseline="0" dirty="0"/>
              <a:t> de IRAL </a:t>
            </a:r>
            <a:r>
              <a:rPr lang="en-US" baseline="0" dirty="0" err="1"/>
              <a:t>mostrou</a:t>
            </a:r>
            <a:r>
              <a:rPr lang="en-US" baseline="0" dirty="0"/>
              <a:t> </a:t>
            </a:r>
            <a:r>
              <a:rPr lang="en-US" baseline="0" dirty="0" err="1"/>
              <a:t>uma</a:t>
            </a:r>
            <a:r>
              <a:rPr lang="en-US" baseline="0" dirty="0"/>
              <a:t> </a:t>
            </a:r>
            <a:r>
              <a:rPr lang="en-US" baseline="0" dirty="0" err="1"/>
              <a:t>tendencia</a:t>
            </a:r>
            <a:r>
              <a:rPr lang="en-US" baseline="0" dirty="0"/>
              <a:t> crescent </a:t>
            </a:r>
            <a:r>
              <a:rPr lang="en-US" baseline="0" dirty="0" err="1"/>
              <a:t>atingindo</a:t>
            </a:r>
            <a:r>
              <a:rPr lang="en-US" baseline="0" dirty="0"/>
              <a:t> </a:t>
            </a:r>
            <a:r>
              <a:rPr lang="en-US" baseline="0" dirty="0" err="1"/>
              <a:t>acima</a:t>
            </a:r>
            <a:r>
              <a:rPr lang="en-US" baseline="0" dirty="0"/>
              <a:t> de 300 </a:t>
            </a:r>
            <a:r>
              <a:rPr lang="en-US" baseline="0" dirty="0" err="1"/>
              <a:t>casos</a:t>
            </a:r>
            <a:r>
              <a:rPr lang="en-US" baseline="0" dirty="0"/>
              <a:t> </a:t>
            </a:r>
            <a:r>
              <a:rPr lang="en-US" baseline="0" dirty="0" err="1"/>
              <a:t>por</a:t>
            </a:r>
            <a:r>
              <a:rPr lang="en-US" baseline="0" dirty="0"/>
              <a:t> </a:t>
            </a:r>
            <a:r>
              <a:rPr lang="en-US" baseline="0" dirty="0" err="1"/>
              <a:t>cada</a:t>
            </a:r>
            <a:r>
              <a:rPr lang="en-US" baseline="0" dirty="0"/>
              <a:t> 100 mil habitants </a:t>
            </a:r>
            <a:r>
              <a:rPr lang="en-US" baseline="0" dirty="0" err="1"/>
              <a:t>nas</a:t>
            </a:r>
            <a:r>
              <a:rPr lang="en-US" baseline="0" dirty="0"/>
              <a:t> semanas 45 e 46, </a:t>
            </a:r>
            <a:r>
              <a:rPr lang="en-US" baseline="0" dirty="0" err="1"/>
              <a:t>enquanto</a:t>
            </a:r>
            <a:r>
              <a:rPr lang="en-US" baseline="0" dirty="0"/>
              <a:t> que continua </a:t>
            </a:r>
            <a:r>
              <a:rPr lang="en-US" baseline="0" dirty="0" err="1"/>
              <a:t>dentro</a:t>
            </a:r>
            <a:r>
              <a:rPr lang="en-US" baseline="0" dirty="0"/>
              <a:t> do </a:t>
            </a:r>
            <a:r>
              <a:rPr lang="en-US" baseline="0" dirty="0" err="1"/>
              <a:t>esperado</a:t>
            </a:r>
            <a:r>
              <a:rPr lang="en-US" baseline="0" dirty="0"/>
              <a:t>.</a:t>
            </a:r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2413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93A53C-A720-AB41-81CA-F2C539F0319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33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C424C-65C8-427F-B38B-A6F71098A67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66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C424C-65C8-427F-B38B-A6F71098A67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225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C424C-65C8-427F-B38B-A6F71098A67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74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uilding with a flag on the side&#10;&#10;Description automatically generated">
            <a:extLst>
              <a:ext uri="{FF2B5EF4-FFF2-40B4-BE49-F238E27FC236}">
                <a16:creationId xmlns:a16="http://schemas.microsoft.com/office/drawing/2014/main" id="{37D64C93-74A3-3D06-5679-EAA298E63D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25"/>
            <a:ext cx="12192000" cy="6850863"/>
          </a:xfrm>
          <a:prstGeom prst="rect">
            <a:avLst/>
          </a:prstGeom>
        </p:spPr>
      </p:pic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6D53A60-22AC-8EFD-0CE4-5035536FF0DD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1889A">
                  <a:alpha val="6000"/>
                </a:srgbClr>
              </a:gs>
              <a:gs pos="100000">
                <a:srgbClr val="C00000"/>
              </a:gs>
            </a:gsLst>
            <a:lin ang="0" scaled="1"/>
            <a:tileRect/>
          </a:gradFill>
          <a:ln w="38100"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28700" b="1">
              <a:solidFill>
                <a:schemeClr val="tx1"/>
              </a:solidFill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331B763-C4E7-E4C1-C62C-56B3AF54F6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982" y="4624149"/>
            <a:ext cx="3527467" cy="43398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1">
                <a:solidFill>
                  <a:srgbClr val="428499"/>
                </a:solidFill>
              </a:defRPr>
            </a:lvl1pPr>
          </a:lstStyle>
          <a:p>
            <a:pPr lvl="0"/>
            <a:r>
              <a:rPr lang="en-US" err="1"/>
              <a:t>Insira</a:t>
            </a:r>
            <a:r>
              <a:rPr lang="en-US"/>
              <a:t> o cargo </a:t>
            </a:r>
            <a:r>
              <a:rPr lang="en-US" err="1"/>
              <a:t>aqui</a:t>
            </a:r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5435CDEF-DD53-8691-E2D8-298A569AB6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983" y="1670173"/>
            <a:ext cx="4124862" cy="2096077"/>
          </a:xfrm>
          <a:prstGeom prst="rect">
            <a:avLst/>
          </a:prstGeom>
          <a:ln>
            <a:solidFill>
              <a:srgbClr val="007489"/>
            </a:solidFill>
          </a:ln>
        </p:spPr>
        <p:txBody>
          <a:bodyPr/>
          <a:lstStyle>
            <a:lvl1pPr marL="0" indent="0" algn="l">
              <a:buNone/>
              <a:defRPr sz="3600" b="1">
                <a:solidFill>
                  <a:srgbClr val="007489"/>
                </a:solidFill>
              </a:defRPr>
            </a:lvl1pPr>
          </a:lstStyle>
          <a:p>
            <a:pPr lvl="0"/>
            <a:r>
              <a:rPr lang="en-US" err="1"/>
              <a:t>Insira</a:t>
            </a:r>
            <a:r>
              <a:rPr lang="en-US"/>
              <a:t> o </a:t>
            </a:r>
            <a:r>
              <a:rPr lang="en-US" err="1"/>
              <a:t>tema</a:t>
            </a:r>
            <a:r>
              <a:rPr lang="en-US"/>
              <a:t> da </a:t>
            </a:r>
            <a:r>
              <a:rPr lang="en-US" err="1"/>
              <a:t>apresentação</a:t>
            </a:r>
            <a:r>
              <a:rPr lang="en-US"/>
              <a:t> </a:t>
            </a:r>
            <a:r>
              <a:rPr lang="en-US" err="1"/>
              <a:t>aqui</a:t>
            </a:r>
            <a:endParaRPr lang="en-US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5CEB55EB-C570-579D-22CA-93EFB7989B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9492" y="5397963"/>
            <a:ext cx="5324276" cy="5847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200" b="0">
                <a:solidFill>
                  <a:srgbClr val="428499"/>
                </a:solidFill>
              </a:defRPr>
            </a:lvl1pPr>
          </a:lstStyle>
          <a:p>
            <a:pPr lvl="0"/>
            <a:r>
              <a:rPr lang="en-US" err="1"/>
              <a:t>Insira</a:t>
            </a:r>
            <a:r>
              <a:rPr lang="en-US"/>
              <a:t> a data </a:t>
            </a:r>
            <a:r>
              <a:rPr lang="en-US" err="1"/>
              <a:t>aqui</a:t>
            </a:r>
            <a:r>
              <a:rPr lang="en-US"/>
              <a:t> [Ex: 02 de Janeiro de 2024]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7B8FE87-2DFD-21AD-EEE2-E28F098955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1982" y="4045130"/>
            <a:ext cx="3926177" cy="46301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1" i="1">
                <a:solidFill>
                  <a:srgbClr val="AD2F30"/>
                </a:solidFill>
              </a:defRPr>
            </a:lvl1pPr>
          </a:lstStyle>
          <a:p>
            <a:pPr lvl="0"/>
            <a:r>
              <a:rPr lang="en-US" err="1"/>
              <a:t>Insira</a:t>
            </a:r>
            <a:r>
              <a:rPr lang="en-US"/>
              <a:t> o </a:t>
            </a:r>
            <a:r>
              <a:rPr lang="en-US" err="1"/>
              <a:t>nome</a:t>
            </a:r>
            <a:r>
              <a:rPr lang="en-US"/>
              <a:t> do(a) </a:t>
            </a:r>
            <a:r>
              <a:rPr lang="en-US" err="1"/>
              <a:t>presentador</a:t>
            </a:r>
            <a:r>
              <a:rPr lang="en-US"/>
              <a:t>(a) </a:t>
            </a:r>
            <a:r>
              <a:rPr lang="en-US" err="1"/>
              <a:t>aqui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959044-517A-48D0-CFE7-32824B0C2E40}"/>
              </a:ext>
            </a:extLst>
          </p:cNvPr>
          <p:cNvSpPr txBox="1">
            <a:spLocks/>
          </p:cNvSpPr>
          <p:nvPr userDrawn="1"/>
        </p:nvSpPr>
        <p:spPr>
          <a:xfrm>
            <a:off x="10450286" y="6550417"/>
            <a:ext cx="14028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PT" sz="1100">
                <a:solidFill>
                  <a:schemeClr val="bg1"/>
                </a:solidFill>
                <a:latin typeface="Calibri" panose="020F0502020204030204" pitchFamily="34" charset="0"/>
              </a:rPr>
              <a:t>INS/2024/xyz</a:t>
            </a:r>
            <a:endParaRPr lang="pt-PT" sz="110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839C76-CB01-1B03-1C91-13A83F4F54F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1982" y="92944"/>
            <a:ext cx="27178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468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2F43BD6-DAA0-670D-0C43-826DF992ED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15049" y="250825"/>
            <a:ext cx="10508257" cy="6725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300" b="1">
                <a:solidFill>
                  <a:srgbClr val="007489"/>
                </a:solidFill>
              </a:defRPr>
            </a:lvl1pPr>
          </a:lstStyle>
          <a:p>
            <a:pPr lvl="0"/>
            <a:r>
              <a:rPr lang="en-US" err="1"/>
              <a:t>Insira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</a:t>
            </a:r>
            <a:r>
              <a:rPr lang="en-US" err="1"/>
              <a:t>aqui</a:t>
            </a:r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EE1AAAA-D3F5-85D0-CFF8-698571CF3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3306" y="6374279"/>
            <a:ext cx="484918" cy="365125"/>
          </a:xfrm>
          <a:prstGeom prst="rect">
            <a:avLst/>
          </a:prstGeom>
        </p:spPr>
        <p:txBody>
          <a:bodyPr/>
          <a:lstStyle/>
          <a:p>
            <a:fld id="{B24ECFD5-618A-4511-8858-C8BF20FC633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Slide Number Placeholder 23">
            <a:extLst>
              <a:ext uri="{FF2B5EF4-FFF2-40B4-BE49-F238E27FC236}">
                <a16:creationId xmlns:a16="http://schemas.microsoft.com/office/drawing/2014/main" id="{15D03271-1D41-DB56-BCFC-78AFAD30AD02}"/>
              </a:ext>
            </a:extLst>
          </p:cNvPr>
          <p:cNvSpPr txBox="1">
            <a:spLocks/>
          </p:cNvSpPr>
          <p:nvPr userDrawn="1"/>
        </p:nvSpPr>
        <p:spPr>
          <a:xfrm>
            <a:off x="61921" y="6391257"/>
            <a:ext cx="48491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24ECFD5-618A-4511-8858-C8BF20FC6330}" type="slidenum">
              <a:rPr lang="en-US" sz="1400" smtClean="0"/>
              <a:pPr algn="ctr"/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640971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3">
            <a:extLst>
              <a:ext uri="{FF2B5EF4-FFF2-40B4-BE49-F238E27FC236}">
                <a16:creationId xmlns:a16="http://schemas.microsoft.com/office/drawing/2014/main" id="{D262A90C-1112-0C73-2592-BC82A35B8942}"/>
              </a:ext>
            </a:extLst>
          </p:cNvPr>
          <p:cNvSpPr txBox="1">
            <a:spLocks/>
          </p:cNvSpPr>
          <p:nvPr userDrawn="1"/>
        </p:nvSpPr>
        <p:spPr>
          <a:xfrm>
            <a:off x="61921" y="6391257"/>
            <a:ext cx="48491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24ECFD5-618A-4511-8858-C8BF20FC6330}" type="slidenum">
              <a:rPr lang="en-US" sz="1400" smtClean="0"/>
              <a:pPr algn="ctr"/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788126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rgbClr val="AD2F3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rgbClr val="0074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0497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A8D6C-0DF4-8654-2AAA-4797A6367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3A7A1-F46C-5A14-AE2C-6248385CA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65158-F6B1-8B2B-EFDC-9E304D513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D279A-46BD-8F42-B897-2314DFEB7FA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0CB27-F92D-D470-BDFB-CE6AD8669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203A7-123D-BAE2-72E2-B8DAA31E5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ECC3D-CE92-BB47-BE8E-CAF6BF7B3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562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FABEF0A7-5483-1C72-2FB8-050F8F408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79977"/>
            <a:ext cx="11671558" cy="8092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9" name="Picture 8" descr="A logo with text on it&#10;&#10;Description automatically generated">
            <a:extLst>
              <a:ext uri="{FF2B5EF4-FFF2-40B4-BE49-F238E27FC236}">
                <a16:creationId xmlns:a16="http://schemas.microsoft.com/office/drawing/2014/main" id="{1A8BC7E8-1A00-6865-4954-F881AC8CFF5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164" y="6108034"/>
            <a:ext cx="1056994" cy="569989"/>
          </a:xfrm>
          <a:prstGeom prst="rect">
            <a:avLst/>
          </a:prstGeom>
        </p:spPr>
      </p:pic>
      <p:sp>
        <p:nvSpPr>
          <p:cNvPr id="6" name="Slide Number Placeholder 23">
            <a:extLst>
              <a:ext uri="{FF2B5EF4-FFF2-40B4-BE49-F238E27FC236}">
                <a16:creationId xmlns:a16="http://schemas.microsoft.com/office/drawing/2014/main" id="{A76CCE84-A1A8-78CA-C1DC-95F8A76097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921" y="6391257"/>
            <a:ext cx="484918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algn="ctr"/>
            <a:fld id="{B24ECFD5-618A-4511-8858-C8BF20FC6330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E5F05BC-4C32-EF95-E63B-352FA6E9C1EA}"/>
              </a:ext>
            </a:extLst>
          </p:cNvPr>
          <p:cNvSpPr/>
          <p:nvPr userDrawn="1"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rgbClr val="007489">
              <a:alpha val="5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5" name="Picture 4" descr="A white background with red border&#10;&#10;Description automatically generated">
            <a:extLst>
              <a:ext uri="{FF2B5EF4-FFF2-40B4-BE49-F238E27FC236}">
                <a16:creationId xmlns:a16="http://schemas.microsoft.com/office/drawing/2014/main" id="{58C0DE86-23A5-9034-74D3-8B96452CE12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8"/>
            <a:ext cx="12198352" cy="68544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14768D-D083-4474-B96C-E8F8F7C779DB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659706" y="5968314"/>
            <a:ext cx="1367452" cy="72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360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0" r:id="rId2"/>
    <p:sldLayoutId id="2147483655" r:id="rId3"/>
    <p:sldLayoutId id="2147483658" r:id="rId4"/>
    <p:sldLayoutId id="2147483659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jpe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0D01F2-FACB-E64C-7DAD-453F437BE9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IDS-Moz progress meeting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E55FC-5546-27A5-8F7E-B997CD9CDB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/>
        <p:txBody>
          <a:bodyPr/>
          <a:lstStyle/>
          <a:p>
            <a:pPr algn="l"/>
            <a:r>
              <a:rPr lang="en-US" dirty="0"/>
              <a:t>19 December 2025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777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C56D91C6-E1F0-B0FE-68BC-7EE5C7EFA39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01805" y="156117"/>
            <a:ext cx="10806113" cy="76835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>
                <a:solidFill>
                  <a:srgbClr val="007489"/>
                </a:solidFill>
              </a:rPr>
              <a:t>Outputs and Targeted Completion Dates - </a:t>
            </a:r>
            <a:r>
              <a:rPr lang="en-US" altLang="en-US">
                <a:solidFill>
                  <a:schemeClr val="bg1">
                    <a:lumMod val="50000"/>
                  </a:schemeClr>
                </a:solidFill>
              </a:rPr>
              <a:t>Q2-2025</a:t>
            </a:r>
            <a:endParaRPr lang="en-US" alt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5FC616C-27BB-9629-D513-D47B53829A29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248257516"/>
              </p:ext>
            </p:extLst>
          </p:nvPr>
        </p:nvGraphicFramePr>
        <p:xfrm>
          <a:off x="333633" y="1239958"/>
          <a:ext cx="11331146" cy="480455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940845">
                  <a:extLst>
                    <a:ext uri="{9D8B030D-6E8A-4147-A177-3AD203B41FA5}">
                      <a16:colId xmlns:a16="http://schemas.microsoft.com/office/drawing/2014/main" val="74342857"/>
                    </a:ext>
                  </a:extLst>
                </a:gridCol>
                <a:gridCol w="1216727">
                  <a:extLst>
                    <a:ext uri="{9D8B030D-6E8A-4147-A177-3AD203B41FA5}">
                      <a16:colId xmlns:a16="http://schemas.microsoft.com/office/drawing/2014/main" val="2889923761"/>
                    </a:ext>
                  </a:extLst>
                </a:gridCol>
                <a:gridCol w="2173574">
                  <a:extLst>
                    <a:ext uri="{9D8B030D-6E8A-4147-A177-3AD203B41FA5}">
                      <a16:colId xmlns:a16="http://schemas.microsoft.com/office/drawing/2014/main" val="1660864512"/>
                    </a:ext>
                  </a:extLst>
                </a:gridCol>
              </a:tblGrid>
              <a:tr h="345310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</a:pPr>
                      <a:r>
                        <a:rPr lang="en-MZ" sz="2000" b="1"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/>
                        </a:rPr>
                        <a:t>Output</a:t>
                      </a:r>
                      <a:endParaRPr lang="en-MZ" sz="2000" b="1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</a:pPr>
                      <a:r>
                        <a:rPr lang="en-MZ" sz="2000" b="1"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TCD</a:t>
                      </a:r>
                      <a:endParaRPr lang="en-MZ" sz="2000" b="1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179" marR="48179" marT="25874" marB="25874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</a:pPr>
                      <a:r>
                        <a:rPr lang="en-MZ" sz="2000" b="1"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/>
                        </a:rPr>
                        <a:t>Status</a:t>
                      </a:r>
                      <a:endParaRPr lang="en-MZ" sz="2000" b="1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extLst>
                  <a:ext uri="{0D108BD9-81ED-4DB2-BD59-A6C34878D82A}">
                    <a16:rowId xmlns:a16="http://schemas.microsoft.com/office/drawing/2014/main" val="4097660873"/>
                  </a:ext>
                </a:extLst>
              </a:tr>
              <a:tr h="259531">
                <a:tc>
                  <a:txBody>
                    <a:bodyPr/>
                    <a:lstStyle/>
                    <a:p>
                      <a:pPr algn="just"/>
                      <a:r>
                        <a:rPr lang="en-US" sz="1400"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latin typeface="+mn-lt"/>
                          <a:cs typeface="Times New Roman"/>
                        </a:rPr>
                        <a:t>1. Institute the technical expert advisory group, including IDM to assist with sample site selection</a:t>
                      </a:r>
                      <a:endParaRPr lang="pt-BR" sz="1400">
                        <a:solidFill>
                          <a:schemeClr val="bg2">
                            <a:lumMod val="49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latin typeface="+mn-lt"/>
                          <a:cs typeface="Times New Roman"/>
                        </a:rPr>
                        <a:t>30-01-2024</a:t>
                      </a:r>
                      <a:endParaRPr lang="pt-BR" sz="1400">
                        <a:solidFill>
                          <a:schemeClr val="bg2">
                            <a:lumMod val="49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Completed</a:t>
                      </a:r>
                      <a:endParaRPr lang="pt-BR" sz="1400">
                        <a:solidFill>
                          <a:schemeClr val="bg2">
                            <a:lumMod val="49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extLst>
                  <a:ext uri="{0D108BD9-81ED-4DB2-BD59-A6C34878D82A}">
                    <a16:rowId xmlns:a16="http://schemas.microsoft.com/office/drawing/2014/main" val="1173605906"/>
                  </a:ext>
                </a:extLst>
              </a:tr>
              <a:tr h="330641">
                <a:tc>
                  <a:txBody>
                    <a:bodyPr/>
                    <a:lstStyle/>
                    <a:p>
                      <a:pPr algn="just"/>
                      <a:r>
                        <a:rPr lang="en-US" sz="1400"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latin typeface="+mn-lt"/>
                          <a:cs typeface="Times New Roman"/>
                        </a:rPr>
                        <a:t>2. SIS-COVE areas to be used for this project identified</a:t>
                      </a:r>
                      <a:endParaRPr lang="pt-BR" sz="1400">
                        <a:solidFill>
                          <a:schemeClr val="bg2">
                            <a:lumMod val="49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latin typeface="+mn-lt"/>
                          <a:cs typeface="Times New Roman"/>
                        </a:rPr>
                        <a:t>30-03-2024</a:t>
                      </a:r>
                      <a:endParaRPr lang="pt-BR" sz="1400">
                        <a:solidFill>
                          <a:schemeClr val="bg2">
                            <a:lumMod val="49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Completed</a:t>
                      </a:r>
                      <a:endParaRPr lang="pt-BR" sz="1400">
                        <a:solidFill>
                          <a:schemeClr val="bg2">
                            <a:lumMod val="49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extLst>
                  <a:ext uri="{0D108BD9-81ED-4DB2-BD59-A6C34878D82A}">
                    <a16:rowId xmlns:a16="http://schemas.microsoft.com/office/drawing/2014/main" val="3643957125"/>
                  </a:ext>
                </a:extLst>
              </a:tr>
              <a:tr h="314866">
                <a:tc>
                  <a:txBody>
                    <a:bodyPr/>
                    <a:lstStyle/>
                    <a:p>
                      <a:pPr algn="just"/>
                      <a:r>
                        <a:rPr lang="en-US" sz="1400"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latin typeface="+mn-lt"/>
                          <a:cs typeface="Times New Roman"/>
                        </a:rPr>
                        <a:t>3. Areas for ES sample collection (wastewater points and latrines) selected</a:t>
                      </a:r>
                      <a:endParaRPr lang="pt-BR" sz="1400">
                        <a:solidFill>
                          <a:schemeClr val="bg2">
                            <a:lumMod val="49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latin typeface="+mn-lt"/>
                          <a:cs typeface="Times New Roman"/>
                        </a:rPr>
                        <a:t>30-03-2024</a:t>
                      </a:r>
                      <a:endParaRPr lang="pt-BR" sz="1400">
                        <a:solidFill>
                          <a:schemeClr val="bg2">
                            <a:lumMod val="49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Completed</a:t>
                      </a:r>
                      <a:endParaRPr lang="pt-BR" sz="1400">
                        <a:solidFill>
                          <a:schemeClr val="bg2">
                            <a:lumMod val="49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extLst>
                  <a:ext uri="{0D108BD9-81ED-4DB2-BD59-A6C34878D82A}">
                    <a16:rowId xmlns:a16="http://schemas.microsoft.com/office/drawing/2014/main" val="2898126805"/>
                  </a:ext>
                </a:extLst>
              </a:tr>
              <a:tr h="314866">
                <a:tc>
                  <a:txBody>
                    <a:bodyPr/>
                    <a:lstStyle/>
                    <a:p>
                      <a:pPr algn="just"/>
                      <a:r>
                        <a:rPr lang="en-US" sz="1400"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latin typeface="+mn-lt"/>
                          <a:cs typeface="Times New Roman"/>
                        </a:rPr>
                        <a:t>4. Health facilities to be included in the sentinel and genomic surveillance selected </a:t>
                      </a:r>
                      <a:endParaRPr lang="pt-BR" sz="1400">
                        <a:solidFill>
                          <a:schemeClr val="bg2">
                            <a:lumMod val="49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latin typeface="+mn-lt"/>
                          <a:cs typeface="Times New Roman"/>
                        </a:rPr>
                        <a:t>30-03-2024</a:t>
                      </a:r>
                      <a:endParaRPr lang="pt-BR" sz="1400">
                        <a:solidFill>
                          <a:schemeClr val="bg2">
                            <a:lumMod val="49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Completed</a:t>
                      </a:r>
                      <a:endParaRPr lang="pt-BR" sz="1400">
                        <a:solidFill>
                          <a:schemeClr val="bg2">
                            <a:lumMod val="49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extLst>
                  <a:ext uri="{0D108BD9-81ED-4DB2-BD59-A6C34878D82A}">
                    <a16:rowId xmlns:a16="http://schemas.microsoft.com/office/drawing/2014/main" val="3225177467"/>
                  </a:ext>
                </a:extLst>
              </a:tr>
              <a:tr h="268920">
                <a:tc>
                  <a:txBody>
                    <a:bodyPr/>
                    <a:lstStyle/>
                    <a:p>
                      <a:pPr algn="just"/>
                      <a:r>
                        <a:rPr lang="en-US" sz="1400"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latin typeface="+mn-lt"/>
                          <a:cs typeface="Times New Roman"/>
                        </a:rPr>
                        <a:t>5. Explicit plan on how data streams will be integrated and who will own and manage the data systems</a:t>
                      </a:r>
                      <a:endParaRPr lang="pt-BR" sz="1400">
                        <a:solidFill>
                          <a:schemeClr val="bg2">
                            <a:lumMod val="49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latin typeface="+mn-lt"/>
                          <a:cs typeface="Times New Roman"/>
                        </a:rPr>
                        <a:t>30-03-2024</a:t>
                      </a:r>
                      <a:endParaRPr lang="pt-BR" sz="1400">
                        <a:solidFill>
                          <a:schemeClr val="bg2">
                            <a:lumMod val="49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Completed</a:t>
                      </a:r>
                      <a:endParaRPr lang="pt-BR" sz="1400">
                        <a:solidFill>
                          <a:schemeClr val="bg2">
                            <a:lumMod val="49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extLst>
                  <a:ext uri="{0D108BD9-81ED-4DB2-BD59-A6C34878D82A}">
                    <a16:rowId xmlns:a16="http://schemas.microsoft.com/office/drawing/2014/main" val="3311014956"/>
                  </a:ext>
                </a:extLst>
              </a:tr>
              <a:tr h="314866">
                <a:tc>
                  <a:txBody>
                    <a:bodyPr/>
                    <a:lstStyle/>
                    <a:p>
                      <a:pPr algn="just"/>
                      <a:r>
                        <a:rPr lang="en-US" sz="1400"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latin typeface="+mn-lt"/>
                          <a:cs typeface="Times New Roman"/>
                        </a:rPr>
                        <a:t>6. Draft operational plan for the current project</a:t>
                      </a:r>
                      <a:endParaRPr lang="pt-BR" sz="1400">
                        <a:solidFill>
                          <a:schemeClr val="bg2">
                            <a:lumMod val="49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latin typeface="+mn-lt"/>
                          <a:cs typeface="Times New Roman"/>
                        </a:rPr>
                        <a:t>30-06-2024 </a:t>
                      </a:r>
                      <a:endParaRPr lang="pt-BR" sz="1400">
                        <a:solidFill>
                          <a:schemeClr val="bg2">
                            <a:lumMod val="49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Completed</a:t>
                      </a:r>
                      <a:endParaRPr lang="pt-BR" sz="1400">
                        <a:solidFill>
                          <a:schemeClr val="bg2">
                            <a:lumMod val="49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extLst>
                  <a:ext uri="{0D108BD9-81ED-4DB2-BD59-A6C34878D82A}">
                    <a16:rowId xmlns:a16="http://schemas.microsoft.com/office/drawing/2014/main" val="191844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kumimoji="0" lang="en-US" sz="1400" kern="1200"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/>
                        </a:rPr>
                        <a:t>7. Initial framework for IDS project implementation developed and approved by the stakeholders</a:t>
                      </a:r>
                      <a:endParaRPr kumimoji="0" lang="pt-BR" sz="1400" kern="1200">
                        <a:solidFill>
                          <a:schemeClr val="bg2">
                            <a:lumMod val="49000"/>
                          </a:schemeClr>
                        </a:solidFill>
                        <a:effectLst/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latin typeface="+mn-lt"/>
                          <a:cs typeface="Times New Roman"/>
                        </a:rPr>
                        <a:t>30-06-2024</a:t>
                      </a:r>
                      <a:endParaRPr lang="pt-BR" sz="1400">
                        <a:solidFill>
                          <a:schemeClr val="bg2">
                            <a:lumMod val="49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rgbClr val="FFC000"/>
                          </a:solidFill>
                          <a:effectLst/>
                          <a:latin typeface="+mn-lt"/>
                          <a:cs typeface="Times New Roman"/>
                        </a:rPr>
                        <a:t>Completed not yet approved</a:t>
                      </a:r>
                      <a:endParaRPr lang="pt-BR" sz="1400">
                        <a:solidFill>
                          <a:srgbClr val="FFC000"/>
                        </a:solidFill>
                        <a:effectLst/>
                        <a:latin typeface="+mn-lt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extLst>
                  <a:ext uri="{0D108BD9-81ED-4DB2-BD59-A6C34878D82A}">
                    <a16:rowId xmlns:a16="http://schemas.microsoft.com/office/drawing/2014/main" val="1061711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kern="1200"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/>
                        </a:rPr>
                        <a:t>8. Initial lab training for environmental, sentinel and genomic surveillance completed</a:t>
                      </a:r>
                      <a:r>
                        <a:rPr kumimoji="0" lang="en-PT" sz="1400" kern="1200"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/>
                        </a:rPr>
                        <a:t> </a:t>
                      </a:r>
                      <a:endParaRPr kumimoji="0" lang="pt-BR" sz="1400" kern="1200">
                        <a:solidFill>
                          <a:schemeClr val="bg2">
                            <a:lumMod val="49000"/>
                          </a:schemeClr>
                        </a:solidFill>
                        <a:effectLst/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30-08-2024</a:t>
                      </a:r>
                      <a:endParaRPr lang="pt-BR" sz="1400">
                        <a:solidFill>
                          <a:schemeClr val="bg2">
                            <a:lumMod val="49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Completed</a:t>
                      </a:r>
                      <a:endParaRPr lang="pt-BR" sz="1400">
                        <a:solidFill>
                          <a:schemeClr val="bg2">
                            <a:lumMod val="49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extLst>
                  <a:ext uri="{0D108BD9-81ED-4DB2-BD59-A6C34878D82A}">
                    <a16:rowId xmlns:a16="http://schemas.microsoft.com/office/drawing/2014/main" val="1857754463"/>
                  </a:ext>
                </a:extLst>
              </a:tr>
              <a:tr h="571613">
                <a:tc>
                  <a:txBody>
                    <a:bodyPr/>
                    <a:lstStyle/>
                    <a:p>
                      <a:pPr algn="just"/>
                      <a:r>
                        <a:rPr kumimoji="0" lang="en-US" sz="1400" kern="1200" dirty="0"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/>
                        </a:rPr>
                        <a:t>9. Site training for SIS-COVE, sentinel, and genomic surveillance conducted and sites ready to start the IDS implementation</a:t>
                      </a:r>
                      <a:r>
                        <a:rPr kumimoji="0" lang="en-PT" sz="1400" kern="1200" dirty="0"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/>
                        </a:rPr>
                        <a:t> </a:t>
                      </a:r>
                      <a:endParaRPr kumimoji="0" lang="pt-BR" sz="1400" kern="1200" dirty="0">
                        <a:solidFill>
                          <a:schemeClr val="bg2">
                            <a:lumMod val="49000"/>
                          </a:schemeClr>
                        </a:solidFill>
                        <a:effectLst/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30-09-2024</a:t>
                      </a:r>
                      <a:endParaRPr lang="pt-BR" sz="1400">
                        <a:solidFill>
                          <a:schemeClr val="bg2">
                            <a:lumMod val="49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Completed</a:t>
                      </a:r>
                      <a:endParaRPr lang="pt-BR" sz="1400" dirty="0">
                        <a:solidFill>
                          <a:schemeClr val="bg2">
                            <a:lumMod val="49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extLst>
                  <a:ext uri="{0D108BD9-81ED-4DB2-BD59-A6C34878D82A}">
                    <a16:rowId xmlns:a16="http://schemas.microsoft.com/office/drawing/2014/main" val="3216154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kumimoji="0" lang="en-US" sz="1400" kern="1200" dirty="0"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/>
                        </a:rPr>
                        <a:t>10. Surveillance Reports in the context of IDS finalized and released for policy decision</a:t>
                      </a:r>
                      <a:r>
                        <a:rPr kumimoji="0" lang="en-PT" sz="1400" kern="1200" dirty="0"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/>
                        </a:rPr>
                        <a:t> </a:t>
                      </a:r>
                      <a:endParaRPr kumimoji="0" lang="en-MZ" sz="1400" kern="1200">
                        <a:solidFill>
                          <a:schemeClr val="bg2">
                            <a:lumMod val="49000"/>
                          </a:schemeClr>
                        </a:solidFill>
                        <a:effectLst/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Times New Roman"/>
                        </a:rPr>
                        <a:t>30-04-2025</a:t>
                      </a:r>
                      <a:r>
                        <a:rPr lang="en-PT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Times New Roman"/>
                        </a:rPr>
                        <a:t> </a:t>
                      </a:r>
                      <a:endParaRPr lang="en-MZ" sz="14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49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Completed</a:t>
                      </a:r>
                      <a:endParaRPr kumimoji="0" lang="en-MZ" sz="14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bg2">
                            <a:lumMod val="49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extLst>
                  <a:ext uri="{0D108BD9-81ED-4DB2-BD59-A6C34878D82A}">
                    <a16:rowId xmlns:a16="http://schemas.microsoft.com/office/drawing/2014/main" val="2737969594"/>
                  </a:ext>
                </a:extLst>
              </a:tr>
              <a:tr h="314866">
                <a:tc>
                  <a:txBody>
                    <a:bodyPr/>
                    <a:lstStyle/>
                    <a:p>
                      <a:pPr algn="just"/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Times New Roman"/>
                        </a:rPr>
                        <a:t>11. Decision on adding additional priority pathogens in year 2</a:t>
                      </a:r>
                      <a:r>
                        <a:rPr lang="en-PT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Times New Roman"/>
                        </a:rPr>
                        <a:t> </a:t>
                      </a:r>
                      <a:endParaRPr lang="en-MZ" sz="14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Times New Roman"/>
                        </a:rPr>
                        <a:t>30-06-2025</a:t>
                      </a:r>
                      <a:r>
                        <a:rPr lang="en-PT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Times New Roman"/>
                        </a:rPr>
                        <a:t> </a:t>
                      </a:r>
                      <a:endParaRPr lang="en-MZ" sz="14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Pending</a:t>
                      </a:r>
                      <a:endParaRPr kumimoji="0" lang="en-MZ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179" marR="48179" marT="25874" marB="25874" anchor="ctr"/>
                </a:tc>
                <a:extLst>
                  <a:ext uri="{0D108BD9-81ED-4DB2-BD59-A6C34878D82A}">
                    <a16:rowId xmlns:a16="http://schemas.microsoft.com/office/drawing/2014/main" val="1993797598"/>
                  </a:ext>
                </a:extLst>
              </a:tr>
              <a:tr h="319811">
                <a:tc>
                  <a:txBody>
                    <a:bodyPr/>
                    <a:lstStyle/>
                    <a:p>
                      <a:pPr algn="just"/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Times New Roman"/>
                        </a:rPr>
                        <a:t>12. Preliminary findings on the barriers and facilitators for the implementation of IDS for the 4 components of the project after pilot implementation</a:t>
                      </a:r>
                      <a:r>
                        <a:rPr lang="en-PT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Times New Roman"/>
                        </a:rPr>
                        <a:t> </a:t>
                      </a:r>
                      <a:endParaRPr lang="en-MZ" sz="14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Times New Roman"/>
                        </a:rPr>
                        <a:t>30-06-2025</a:t>
                      </a:r>
                      <a:r>
                        <a:rPr lang="en-PT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Times New Roman"/>
                        </a:rPr>
                        <a:t> </a:t>
                      </a:r>
                      <a:endParaRPr lang="en-MZ" sz="14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Pending</a:t>
                      </a:r>
                      <a:endParaRPr kumimoji="0" lang="en-MZ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179" marR="48179" marT="25874" marB="25874" anchor="ctr"/>
                </a:tc>
                <a:extLst>
                  <a:ext uri="{0D108BD9-81ED-4DB2-BD59-A6C34878D82A}">
                    <a16:rowId xmlns:a16="http://schemas.microsoft.com/office/drawing/2014/main" val="2371962140"/>
                  </a:ext>
                </a:extLst>
              </a:tr>
              <a:tr h="77318">
                <a:tc>
                  <a:txBody>
                    <a:bodyPr/>
                    <a:lstStyle/>
                    <a:p>
                      <a:pPr algn="just"/>
                      <a:r>
                        <a:rPr lang="en-US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Times New Roman"/>
                        </a:rPr>
                        <a:t>13. </a:t>
                      </a:r>
                      <a:r>
                        <a:rPr lang="en-US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Final findings on the barriers and facilitators for the implementation of IDS for the 4 components of the project after pilot implementation</a:t>
                      </a:r>
                      <a:r>
                        <a:rPr lang="en-PT" sz="1400">
                          <a:effectLst/>
                        </a:rPr>
                        <a:t> </a:t>
                      </a:r>
                      <a:endParaRPr lang="en-MZ" sz="14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30-09-2026</a:t>
                      </a:r>
                      <a:r>
                        <a:rPr lang="en-PT" sz="1400">
                          <a:effectLst/>
                        </a:rPr>
                        <a:t> </a:t>
                      </a:r>
                      <a:endParaRPr lang="en-MZ" sz="14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48179" marR="48179" marT="25874" marB="25874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Pending</a:t>
                      </a:r>
                      <a:endParaRPr kumimoji="0" lang="en-MZ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179" marR="48179" marT="25874" marB="25874" anchor="ctr"/>
                </a:tc>
                <a:extLst>
                  <a:ext uri="{0D108BD9-81ED-4DB2-BD59-A6C34878D82A}">
                    <a16:rowId xmlns:a16="http://schemas.microsoft.com/office/drawing/2014/main" val="1561920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672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09564B-1026-D460-E5B4-95D6E6019E11}"/>
              </a:ext>
            </a:extLst>
          </p:cNvPr>
          <p:cNvSpPr txBox="1">
            <a:spLocks/>
          </p:cNvSpPr>
          <p:nvPr/>
        </p:nvSpPr>
        <p:spPr>
          <a:xfrm>
            <a:off x="728870" y="454219"/>
            <a:ext cx="7166666" cy="7101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7489"/>
                </a:solidFill>
              </a:rPr>
              <a:t>Activities implemented (1/2)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26255B-D539-2AC8-3A1F-B919409FE2B9}"/>
              </a:ext>
            </a:extLst>
          </p:cNvPr>
          <p:cNvSpPr txBox="1"/>
          <p:nvPr/>
        </p:nvSpPr>
        <p:spPr>
          <a:xfrm>
            <a:off x="728870" y="1596696"/>
            <a:ext cx="11349919" cy="4201150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200" b="1" dirty="0">
                <a:ea typeface="Calibri"/>
                <a:cs typeface="Calibri"/>
              </a:rPr>
              <a:t>1. Identification of water sources for </a:t>
            </a:r>
          </a:p>
          <a:p>
            <a:r>
              <a:rPr lang="en-US" sz="2200" b="1" dirty="0">
                <a:ea typeface="Calibri"/>
                <a:cs typeface="Calibri"/>
              </a:rPr>
              <a:t>       environmental sampling in Maputo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ea typeface="Calibri"/>
                <a:cs typeface="Calibri"/>
              </a:rPr>
              <a:t>10 sites for collection of groundwater identified and samples tested- all negative</a:t>
            </a:r>
          </a:p>
          <a:p>
            <a:endParaRPr lang="en-US" sz="2200" dirty="0">
              <a:ea typeface="Calibri"/>
              <a:cs typeface="Calibri"/>
            </a:endParaRPr>
          </a:p>
          <a:p>
            <a:r>
              <a:rPr lang="en-US" sz="2200" b="1" dirty="0">
                <a:cs typeface="Calibri"/>
              </a:rPr>
              <a:t>2. TAG meetings</a:t>
            </a:r>
            <a:endParaRPr lang="en-US" sz="2200" b="1" dirty="0">
              <a:solidFill>
                <a:schemeClr val="bg1">
                  <a:lumMod val="65000"/>
                </a:schemeClr>
              </a:solidFill>
              <a:cs typeface="Calibri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cs typeface="Calibri"/>
              </a:rPr>
              <a:t>WES TAG meeting held on 14 Nov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cs typeface="Calibri"/>
              </a:rPr>
              <a:t>Community Surveillance TAG meeting held on 16 Dec</a:t>
            </a:r>
          </a:p>
          <a:p>
            <a:pPr>
              <a:spcAft>
                <a:spcPts val="600"/>
              </a:spcAft>
            </a:pPr>
            <a:endParaRPr lang="en-US" sz="2200" dirty="0">
              <a:ea typeface="Calibri"/>
              <a:cs typeface="Calibri"/>
            </a:endParaRPr>
          </a:p>
          <a:p>
            <a:pPr>
              <a:spcAft>
                <a:spcPts val="600"/>
              </a:spcAft>
            </a:pPr>
            <a:r>
              <a:rPr lang="en-US" sz="2200" b="1" dirty="0">
                <a:cs typeface="Calibri"/>
              </a:rPr>
              <a:t>3. </a:t>
            </a:r>
            <a:r>
              <a:rPr lang="en-US" sz="2200" b="1" dirty="0" err="1">
                <a:cs typeface="Calibri"/>
              </a:rPr>
              <a:t>S.Typhi</a:t>
            </a:r>
            <a:r>
              <a:rPr lang="en-US" sz="2200" b="1" dirty="0">
                <a:cs typeface="Calibri"/>
              </a:rPr>
              <a:t> follow-up meetings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ea typeface="Calibri"/>
                <a:cs typeface="Calibri"/>
              </a:rPr>
              <a:t>Initial post-training follow-up meeting held on 6 Nov</a:t>
            </a:r>
            <a:endParaRPr lang="en-US" sz="2200" dirty="0">
              <a:highlight>
                <a:srgbClr val="FFFF00"/>
              </a:highlight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ea typeface="Calibri"/>
                <a:cs typeface="Calibri"/>
              </a:rPr>
              <a:t>Troubleshooting meeting held on 4 Dec</a:t>
            </a:r>
            <a:endParaRPr lang="en-US" sz="2200" dirty="0">
              <a:highlight>
                <a:srgbClr val="FFFF00"/>
              </a:highlight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00107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A6CB6-0205-CDFB-0C1E-74C13A92A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5378CC5-5555-3B1B-2A02-1BB7942AF36D}"/>
              </a:ext>
            </a:extLst>
          </p:cNvPr>
          <p:cNvSpPr txBox="1">
            <a:spLocks/>
          </p:cNvSpPr>
          <p:nvPr/>
        </p:nvSpPr>
        <p:spPr>
          <a:xfrm>
            <a:off x="728870" y="454219"/>
            <a:ext cx="7166666" cy="7101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7489"/>
                </a:solidFill>
              </a:rPr>
              <a:t>Activities implemented (2/2)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48BF73-459F-2A0F-4E7F-0EED391C2FCC}"/>
              </a:ext>
            </a:extLst>
          </p:cNvPr>
          <p:cNvSpPr txBox="1"/>
          <p:nvPr/>
        </p:nvSpPr>
        <p:spPr>
          <a:xfrm>
            <a:off x="728870" y="1596696"/>
            <a:ext cx="11349919" cy="4093428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b="1" dirty="0">
                <a:ea typeface="Calibri"/>
                <a:cs typeface="Calibri"/>
              </a:rPr>
              <a:t>4. New collaborations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ea typeface="Calibri"/>
                <a:cs typeface="Calibri"/>
              </a:rPr>
              <a:t>Novel-T: sewage network and sample collection site selection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ea typeface="Calibri"/>
                <a:cs typeface="Calibri"/>
              </a:rPr>
              <a:t>University of Virginia: wastewater cholera testing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ea typeface="Calibri"/>
                <a:cs typeface="Calibri"/>
              </a:rPr>
              <a:t>NICD: quantification of INF/SCV, reagents for INFB, Measles detection training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ea typeface="Calibri"/>
                <a:cs typeface="Calibri"/>
              </a:rPr>
              <a:t>Imperial: optimization of Polio protocol for wastewater samples</a:t>
            </a:r>
          </a:p>
          <a:p>
            <a:pPr>
              <a:spcAft>
                <a:spcPts val="600"/>
              </a:spcAft>
            </a:pPr>
            <a:endParaRPr lang="en-US" sz="2200" b="1" dirty="0">
              <a:ea typeface="Calibri"/>
              <a:cs typeface="Calibri"/>
            </a:endParaRPr>
          </a:p>
          <a:p>
            <a:pPr>
              <a:spcAft>
                <a:spcPts val="600"/>
              </a:spcAft>
            </a:pPr>
            <a:r>
              <a:rPr lang="en-US" sz="2200" b="1" dirty="0">
                <a:ea typeface="Calibri"/>
                <a:cs typeface="Calibri"/>
              </a:rPr>
              <a:t>5. Potential exchange visits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>
                <a:cs typeface="Calibri"/>
              </a:rPr>
              <a:t>Icddrd</a:t>
            </a:r>
            <a:r>
              <a:rPr lang="en-US" sz="2200" dirty="0">
                <a:cs typeface="Calibri"/>
              </a:rPr>
              <a:t>: </a:t>
            </a:r>
            <a:r>
              <a:rPr lang="en-GB" sz="2200" dirty="0">
                <a:cs typeface="Calibri"/>
              </a:rPr>
              <a:t>International Centre for Diarrhoeal Disease Research, Bangladesh- wastewater mapping and sampling sites decision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517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E1C4D05C-7F8B-0CF7-97FE-858E93E11917}"/>
              </a:ext>
            </a:extLst>
          </p:cNvPr>
          <p:cNvSpPr txBox="1">
            <a:spLocks/>
          </p:cNvSpPr>
          <p:nvPr/>
        </p:nvSpPr>
        <p:spPr>
          <a:xfrm>
            <a:off x="431877" y="2438400"/>
            <a:ext cx="11357352" cy="158262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GB" sz="5400" dirty="0">
                <a:solidFill>
                  <a:schemeClr val="tx2"/>
                </a:solidFill>
                <a:latin typeface="+mj-lt"/>
              </a:rPr>
              <a:t>SARS-CoV-2 and Influenza Surveillance </a:t>
            </a:r>
            <a:r>
              <a:rPr lang="en-GB" sz="5400" dirty="0">
                <a:solidFill>
                  <a:srgbClr val="C00000"/>
                </a:solidFill>
                <a:latin typeface="+mj-lt"/>
              </a:rPr>
              <a:t>Maputo</a:t>
            </a:r>
            <a:endParaRPr lang="pt-PT" sz="5400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08466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BCE81D-7E1F-703A-20AE-FB6769AE99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534" y="290492"/>
            <a:ext cx="10508257" cy="672543"/>
          </a:xfrm>
        </p:spPr>
        <p:txBody>
          <a:bodyPr/>
          <a:lstStyle/>
          <a:p>
            <a:r>
              <a:rPr lang="en-PT" sz="3000" dirty="0"/>
              <a:t>Significant increase on the positivity rate for INF: </a:t>
            </a:r>
            <a:r>
              <a:rPr lang="en-PT" sz="3000" dirty="0">
                <a:solidFill>
                  <a:srgbClr val="C00000"/>
                </a:solidFill>
              </a:rPr>
              <a:t>Wk42</a:t>
            </a:r>
          </a:p>
          <a:p>
            <a:endParaRPr lang="en-PT" sz="3000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C59E3-2BA1-2112-4FB5-7DC199A64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CFD5-618A-4511-8858-C8BF20FC6330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BD4E894-BD89-128C-373F-658627A886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7421549"/>
              </p:ext>
            </p:extLst>
          </p:nvPr>
        </p:nvGraphicFramePr>
        <p:xfrm>
          <a:off x="88557" y="1109609"/>
          <a:ext cx="12014886" cy="51216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35138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41DC18-09FC-3602-A986-F7F7D83DEE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2337" y="250825"/>
            <a:ext cx="11060969" cy="672543"/>
          </a:xfrm>
        </p:spPr>
        <p:txBody>
          <a:bodyPr/>
          <a:lstStyle/>
          <a:p>
            <a:r>
              <a:rPr lang="en-PT" sz="3000" dirty="0"/>
              <a:t>No significant contribution of SCV2 on the overall Respiratory Infection Cases</a:t>
            </a:r>
            <a:endParaRPr lang="en-PT" sz="3000" dirty="0">
              <a:solidFill>
                <a:srgbClr val="C00000"/>
              </a:solidFill>
            </a:endParaRPr>
          </a:p>
          <a:p>
            <a:endParaRPr lang="en-PT" sz="3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ABB2E6-E2D9-AFF2-7366-F8DB8564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CFD5-618A-4511-8858-C8BF20FC6330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FCBE37D-2A61-A386-4713-A37A09B765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6710668"/>
              </p:ext>
            </p:extLst>
          </p:nvPr>
        </p:nvGraphicFramePr>
        <p:xfrm>
          <a:off x="222594" y="1243173"/>
          <a:ext cx="11969406" cy="50148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13032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660037" y="397498"/>
            <a:ext cx="11671300" cy="809625"/>
          </a:xfrm>
        </p:spPr>
        <p:txBody>
          <a:bodyPr>
            <a:normAutofit/>
          </a:bodyPr>
          <a:lstStyle/>
          <a:p>
            <a:r>
              <a:rPr lang="pt-BR" sz="3200" b="1" dirty="0" err="1">
                <a:solidFill>
                  <a:srgbClr val="007489"/>
                </a:solidFill>
                <a:latin typeface="Calibri" panose="020F0502020204030204" pitchFamily="34" charset="0"/>
                <a:ea typeface="+mn-ea"/>
                <a:cs typeface="+mn-cs"/>
              </a:rPr>
              <a:t>Acute</a:t>
            </a:r>
            <a:r>
              <a:rPr lang="pt-BR" sz="3200" b="1" dirty="0">
                <a:solidFill>
                  <a:srgbClr val="007489"/>
                </a:solidFill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pt-BR" sz="3200" b="1" dirty="0" err="1">
                <a:solidFill>
                  <a:srgbClr val="007489"/>
                </a:solidFill>
                <a:latin typeface="Calibri" panose="020F0502020204030204" pitchFamily="34" charset="0"/>
                <a:ea typeface="+mn-ea"/>
                <a:cs typeface="+mn-cs"/>
              </a:rPr>
              <a:t>Respiratory</a:t>
            </a:r>
            <a:r>
              <a:rPr lang="pt-BR" sz="3200" b="1" dirty="0">
                <a:solidFill>
                  <a:srgbClr val="007489"/>
                </a:solidFill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pt-BR" sz="3200" b="1" dirty="0" err="1">
                <a:solidFill>
                  <a:srgbClr val="007489"/>
                </a:solidFill>
                <a:latin typeface="Calibri" panose="020F0502020204030204" pitchFamily="34" charset="0"/>
                <a:ea typeface="+mn-ea"/>
                <a:cs typeface="+mn-cs"/>
              </a:rPr>
              <a:t>Syndrome</a:t>
            </a:r>
            <a:r>
              <a:rPr lang="pt-BR" sz="3200" b="1" dirty="0">
                <a:solidFill>
                  <a:srgbClr val="007489"/>
                </a:solidFill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pt-BR" sz="3200" b="1" dirty="0" err="1">
                <a:solidFill>
                  <a:srgbClr val="007489"/>
                </a:solidFill>
                <a:latin typeface="Calibri" panose="020F0502020204030204" pitchFamily="34" charset="0"/>
                <a:ea typeface="+mn-ea"/>
                <a:cs typeface="+mn-cs"/>
              </a:rPr>
              <a:t>Incidence</a:t>
            </a:r>
            <a:endParaRPr lang="en-US" sz="3200" b="1" dirty="0">
              <a:solidFill>
                <a:srgbClr val="007489"/>
              </a:solidFill>
              <a:latin typeface="Calibri" panose="020F0502020204030204" pitchFamily="34" charset="0"/>
              <a:ea typeface="+mn-ea"/>
              <a:cs typeface="+mn-cs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198" y="1207123"/>
            <a:ext cx="9679054" cy="41138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9965EF-4C3B-65B0-FE85-8A71676FBF82}"/>
              </a:ext>
            </a:extLst>
          </p:cNvPr>
          <p:cNvSpPr txBox="1"/>
          <p:nvPr/>
        </p:nvSpPr>
        <p:spPr>
          <a:xfrm>
            <a:off x="1788009" y="5384422"/>
            <a:ext cx="8615981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Continuous increase in the number of new cases of acute respiratory syndrome was observed in 2025 with no impact on hospital admissions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95604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A54740E-2CB3-1E11-A223-D25BE77520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871" y="418093"/>
            <a:ext cx="10508257" cy="672543"/>
          </a:xfrm>
        </p:spPr>
        <p:txBody>
          <a:bodyPr/>
          <a:lstStyle/>
          <a:p>
            <a:r>
              <a:rPr lang="en-PT" sz="3200" dirty="0">
                <a:latin typeface="Calibri" panose="020F0502020204030204" pitchFamily="34" charset="0"/>
              </a:rPr>
              <a:t>Positivity rate for INF: </a:t>
            </a:r>
            <a:r>
              <a:rPr lang="en-PT" sz="3200" dirty="0">
                <a:solidFill>
                  <a:srgbClr val="C00000"/>
                </a:solidFill>
                <a:latin typeface="Calibri" panose="020F0502020204030204" pitchFamily="34" charset="0"/>
              </a:rPr>
              <a:t>2022-2025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E56B52-CC54-2F7E-8922-B1E29E066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CFD5-618A-4511-8858-C8BF20FC6330}" type="slidenum">
              <a:rPr lang="en-US" smtClean="0"/>
              <a:t>9</a:t>
            </a:fld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B5189F1-0136-8639-428A-515A9D296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70" y="1408786"/>
            <a:ext cx="10842373" cy="450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951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F71D76-92DE-E10D-370E-315120273F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15049" y="381453"/>
            <a:ext cx="10508257" cy="672543"/>
          </a:xfrm>
        </p:spPr>
        <p:txBody>
          <a:bodyPr/>
          <a:lstStyle/>
          <a:p>
            <a:r>
              <a:rPr lang="en-PT" sz="3200" dirty="0">
                <a:latin typeface="Calibri" panose="020F0502020204030204" pitchFamily="34" charset="0"/>
              </a:rPr>
              <a:t>Distribution of INF Subtypes-</a:t>
            </a:r>
            <a:r>
              <a:rPr lang="en-PT" sz="3200" dirty="0">
                <a:solidFill>
                  <a:srgbClr val="C00000"/>
                </a:solidFill>
                <a:latin typeface="Calibri" panose="020F0502020204030204" pitchFamily="34" charset="0"/>
              </a:rPr>
              <a:t>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CD0545-D120-8D39-1212-055BEF11A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CFD5-618A-4511-8858-C8BF20FC6330}" type="slidenum">
              <a:rPr lang="en-US" smtClean="0"/>
              <a:t>10</a:t>
            </a:fld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00B67BD-2503-DF52-B3D6-ECD1C68E3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211" y="1754463"/>
            <a:ext cx="11078554" cy="4802378"/>
          </a:xfrm>
          <a:prstGeom prst="rect">
            <a:avLst/>
          </a:prstGeom>
        </p:spPr>
      </p:pic>
      <p:sp>
        <p:nvSpPr>
          <p:cNvPr id="5" name="Up Arrow 4">
            <a:extLst>
              <a:ext uri="{FF2B5EF4-FFF2-40B4-BE49-F238E27FC236}">
                <a16:creationId xmlns:a16="http://schemas.microsoft.com/office/drawing/2014/main" id="{F4F00363-27AC-3DAE-EAF7-99E39F926B7F}"/>
              </a:ext>
            </a:extLst>
          </p:cNvPr>
          <p:cNvSpPr/>
          <p:nvPr/>
        </p:nvSpPr>
        <p:spPr>
          <a:xfrm>
            <a:off x="9901646" y="5625738"/>
            <a:ext cx="209006" cy="400594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F24AF3-CF52-EABF-BA43-8CD9AE0B7507}"/>
              </a:ext>
            </a:extLst>
          </p:cNvPr>
          <p:cNvSpPr txBox="1"/>
          <p:nvPr/>
        </p:nvSpPr>
        <p:spPr>
          <a:xfrm>
            <a:off x="9274628" y="6079862"/>
            <a:ext cx="16807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200" dirty="0"/>
              <a:t>INFA (H3N2) Subclade K</a:t>
            </a:r>
          </a:p>
        </p:txBody>
      </p:sp>
    </p:spTree>
    <p:extLst>
      <p:ext uri="{BB962C8B-B14F-4D97-AF65-F5344CB8AC3E}">
        <p14:creationId xmlns:p14="http://schemas.microsoft.com/office/powerpoint/2010/main" val="753299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EBB72B-4309-2627-64CD-477C9C5878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5481" y="250825"/>
            <a:ext cx="10917825" cy="672543"/>
          </a:xfrm>
        </p:spPr>
        <p:txBody>
          <a:bodyPr/>
          <a:lstStyle/>
          <a:p>
            <a:r>
              <a:rPr lang="en-PT" sz="3400" dirty="0"/>
              <a:t>Geografic distribution of INF cases 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E5ED52-2183-B591-D1F0-256C379D9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CFD5-618A-4511-8858-C8BF20FC633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68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5A6E82-862C-BA71-E518-27F3DF65A3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15049" y="372745"/>
            <a:ext cx="10508257" cy="672543"/>
          </a:xfrm>
        </p:spPr>
        <p:txBody>
          <a:bodyPr/>
          <a:lstStyle/>
          <a:p>
            <a:r>
              <a:rPr lang="en-PT" sz="3200" dirty="0">
                <a:latin typeface="Calibri" panose="020F0502020204030204" pitchFamily="34" charset="0"/>
              </a:rPr>
              <a:t>Global distribution of INF Subtypes Globally-</a:t>
            </a:r>
            <a:r>
              <a:rPr lang="en-PT" sz="3400" dirty="0">
                <a:solidFill>
                  <a:srgbClr val="C00000"/>
                </a:solidFill>
              </a:rPr>
              <a:t>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CD0E2D-11A2-E724-DD21-35A40DEB0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CFD5-618A-4511-8858-C8BF20FC6330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 descr="A graph of flu virus&#10;&#10;AI-generated content may be incorrect.">
            <a:extLst>
              <a:ext uri="{FF2B5EF4-FFF2-40B4-BE49-F238E27FC236}">
                <a16:creationId xmlns:a16="http://schemas.microsoft.com/office/drawing/2014/main" id="{CABA9A7A-10B2-1EB4-CD12-30EA7CA048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256"/>
          <a:stretch>
            <a:fillRect/>
          </a:stretch>
        </p:blipFill>
        <p:spPr>
          <a:xfrm>
            <a:off x="897779" y="1722598"/>
            <a:ext cx="10508257" cy="501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807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55915D-2D87-667F-54F1-B6D4EE8AFA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15049" y="407579"/>
            <a:ext cx="10508257" cy="672543"/>
          </a:xfrm>
        </p:spPr>
        <p:txBody>
          <a:bodyPr/>
          <a:lstStyle/>
          <a:p>
            <a:r>
              <a:rPr lang="en-PT" sz="3400" b="0" dirty="0">
                <a:solidFill>
                  <a:schemeClr val="tx1"/>
                </a:solidFill>
              </a:rPr>
              <a:t>Genetic Sequencing INF-A (H3N2) in clinical samples-Subclades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558A49-EEE6-6123-72E4-D2CDFAA27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CFD5-618A-4511-8858-C8BF20FC6330}" type="slidenum">
              <a:rPr lang="en-US" smtClean="0"/>
              <a:t>13</a:t>
            </a:fld>
            <a:endParaRPr lang="en-US"/>
          </a:p>
        </p:txBody>
      </p:sp>
      <p:pic>
        <p:nvPicPr>
          <p:cNvPr id="4" name="Imagem 7">
            <a:extLst>
              <a:ext uri="{FF2B5EF4-FFF2-40B4-BE49-F238E27FC236}">
                <a16:creationId xmlns:a16="http://schemas.microsoft.com/office/drawing/2014/main" id="{8169DB02-A728-CB42-EFA0-1EB71E9FF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13" y="1628503"/>
            <a:ext cx="9951213" cy="431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862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B4F3D-E727-A006-5CDD-00BDBDC6F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C2B804F-0D47-C3B2-804D-C2C02BCE2C76}"/>
              </a:ext>
            </a:extLst>
          </p:cNvPr>
          <p:cNvSpPr txBox="1">
            <a:spLocks/>
          </p:cNvSpPr>
          <p:nvPr/>
        </p:nvSpPr>
        <p:spPr>
          <a:xfrm>
            <a:off x="413225" y="152290"/>
            <a:ext cx="1136554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900" b="1" dirty="0">
                <a:solidFill>
                  <a:srgbClr val="007489"/>
                </a:solidFill>
              </a:rPr>
              <a:t>Influenza Genomic Surveillance - </a:t>
            </a:r>
            <a:r>
              <a:rPr lang="en-US" sz="2900" b="1" dirty="0">
                <a:solidFill>
                  <a:srgbClr val="C00000"/>
                </a:solidFill>
              </a:rPr>
              <a:t>Combined Community, HF, and WW</a:t>
            </a:r>
            <a:r>
              <a:rPr lang="en-US" sz="2900" b="1" dirty="0">
                <a:solidFill>
                  <a:srgbClr val="C00000"/>
                </a:solidFill>
                <a:cs typeface="Calibri"/>
              </a:rPr>
              <a:t> </a:t>
            </a:r>
            <a:r>
              <a:rPr lang="en-US" sz="2900" b="1" dirty="0">
                <a:solidFill>
                  <a:srgbClr val="C00000"/>
                </a:solidFill>
                <a:latin typeface="Calibri" panose="020F0502020204030204" pitchFamily="34" charset="0"/>
              </a:rPr>
              <a:t>Maputo City</a:t>
            </a:r>
            <a:endParaRPr lang="en-US" sz="29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8D9C86-5FEE-1802-FE49-31572AC17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227" y="1295290"/>
            <a:ext cx="8163337" cy="505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583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475A507D-D0A9-F18D-E464-670E8135F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25" y="1826320"/>
            <a:ext cx="9500945" cy="4520743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08AFF2F0-E258-05DD-4C24-EDCB3B5082E3}"/>
              </a:ext>
            </a:extLst>
          </p:cNvPr>
          <p:cNvSpPr/>
          <p:nvPr/>
        </p:nvSpPr>
        <p:spPr>
          <a:xfrm>
            <a:off x="7588333" y="4296887"/>
            <a:ext cx="676893" cy="427512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F75D97-7ECF-8C41-6039-7F89E79CAB2E}"/>
              </a:ext>
            </a:extLst>
          </p:cNvPr>
          <p:cNvSpPr txBox="1"/>
          <p:nvPr/>
        </p:nvSpPr>
        <p:spPr>
          <a:xfrm>
            <a:off x="10185070" y="4356754"/>
            <a:ext cx="1733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Mozambique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FC66E4D-E1D2-3C0E-CA5C-C03FF7F09706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8265226" y="4510643"/>
            <a:ext cx="19198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DA2A43E-C407-71D7-2AEB-25ADE02C191F}"/>
              </a:ext>
            </a:extLst>
          </p:cNvPr>
          <p:cNvSpPr/>
          <p:nvPr/>
        </p:nvSpPr>
        <p:spPr>
          <a:xfrm>
            <a:off x="8633855" y="1926216"/>
            <a:ext cx="1447800" cy="82787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F55F0A8-356E-E4CF-9FE8-038F56EDE5EC}"/>
              </a:ext>
            </a:extLst>
          </p:cNvPr>
          <p:cNvSpPr/>
          <p:nvPr/>
        </p:nvSpPr>
        <p:spPr>
          <a:xfrm>
            <a:off x="1636816" y="2286001"/>
            <a:ext cx="1197428" cy="16328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7B486F-9229-19C6-EE77-088A159A1D0B}"/>
              </a:ext>
            </a:extLst>
          </p:cNvPr>
          <p:cNvSpPr txBox="1"/>
          <p:nvPr/>
        </p:nvSpPr>
        <p:spPr>
          <a:xfrm>
            <a:off x="9956470" y="4669520"/>
            <a:ext cx="206135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</a:rPr>
              <a:t>Retrospective check</a:t>
            </a:r>
            <a:r>
              <a:rPr lang="en-US" sz="1400" dirty="0"/>
              <a:t>: on 84 Mozambicans genomes submitted on GISAID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Our samples fall outside Subclade K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306E7ED-4239-EFEE-439E-D31724851723}"/>
              </a:ext>
            </a:extLst>
          </p:cNvPr>
          <p:cNvSpPr txBox="1">
            <a:spLocks/>
          </p:cNvSpPr>
          <p:nvPr/>
        </p:nvSpPr>
        <p:spPr>
          <a:xfrm>
            <a:off x="455525" y="37234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3500" b="1" dirty="0">
                <a:solidFill>
                  <a:srgbClr val="007489"/>
                </a:solidFill>
              </a:rPr>
              <a:t>Tracking Influenza A H3N2/k</a:t>
            </a:r>
            <a:r>
              <a:rPr lang="en-GB" sz="3600" b="1" dirty="0">
                <a:solidFill>
                  <a:srgbClr val="007489"/>
                </a:solidFill>
              </a:rPr>
              <a:t> Subclade: retrospectively </a:t>
            </a:r>
          </a:p>
          <a:p>
            <a:br>
              <a:rPr lang="en-PT" sz="3500" b="1">
                <a:solidFill>
                  <a:srgbClr val="007489"/>
                </a:solidFill>
              </a:rPr>
            </a:br>
            <a:r>
              <a:rPr lang="en-US" sz="3200" b="1" dirty="0">
                <a:solidFill>
                  <a:schemeClr val="bg1">
                    <a:lumMod val="50000"/>
                  </a:schemeClr>
                </a:solidFill>
              </a:rPr>
              <a:t>P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</a:rPr>
              <a:t>hylogeny</a:t>
            </a:r>
            <a:r>
              <a:rPr lang="en-PT" sz="32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PT" sz="3200" b="1">
                <a:solidFill>
                  <a:schemeClr val="bg1">
                    <a:lumMod val="50000"/>
                  </a:schemeClr>
                </a:solidFill>
              </a:rPr>
              <a:t>p</a:t>
            </a:r>
            <a:r>
              <a:rPr lang="en-PT" sz="3200">
                <a:solidFill>
                  <a:schemeClr val="bg1">
                    <a:lumMod val="50000"/>
                  </a:schemeClr>
                </a:solidFill>
              </a:rPr>
              <a:t>rofile demonstrates 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en-PT" sz="3200">
                <a:solidFill>
                  <a:schemeClr val="bg1">
                    <a:lumMod val="50000"/>
                  </a:schemeClr>
                </a:solidFill>
              </a:rPr>
              <a:t>ll Mozambican H3N2 genomes 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</a:rPr>
              <a:t>f</a:t>
            </a:r>
            <a:r>
              <a:rPr lang="en-PT" sz="3200">
                <a:solidFill>
                  <a:schemeClr val="bg1">
                    <a:lumMod val="50000"/>
                  </a:schemeClr>
                </a:solidFill>
              </a:rPr>
              <a:t>all 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</a:rPr>
              <a:t>o</a:t>
            </a:r>
            <a:r>
              <a:rPr lang="en-PT" sz="3200">
                <a:solidFill>
                  <a:schemeClr val="bg1">
                    <a:lumMod val="50000"/>
                  </a:schemeClr>
                </a:solidFill>
              </a:rPr>
              <a:t>utside 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</a:rPr>
              <a:t>s</a:t>
            </a:r>
            <a:r>
              <a:rPr lang="en-PT" sz="3200">
                <a:solidFill>
                  <a:schemeClr val="bg1">
                    <a:lumMod val="50000"/>
                  </a:schemeClr>
                </a:solidFill>
              </a:rPr>
              <a:t>ubclade K</a:t>
            </a:r>
          </a:p>
        </p:txBody>
      </p:sp>
    </p:spTree>
    <p:extLst>
      <p:ext uri="{BB962C8B-B14F-4D97-AF65-F5344CB8AC3E}">
        <p14:creationId xmlns:p14="http://schemas.microsoft.com/office/powerpoint/2010/main" val="3226363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888124-9D00-1FB2-D1C7-C11643B7D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7181" y="7192885"/>
            <a:ext cx="484918" cy="365125"/>
          </a:xfrm>
        </p:spPr>
        <p:txBody>
          <a:bodyPr/>
          <a:lstStyle/>
          <a:p>
            <a:fld id="{B24ECFD5-618A-4511-8858-C8BF20FC6330}" type="slidenum">
              <a:rPr lang="en-US" smtClean="0"/>
              <a:t>16</a:t>
            </a:fld>
            <a:endParaRPr lang="en-US"/>
          </a:p>
        </p:txBody>
      </p:sp>
      <p:sp>
        <p:nvSpPr>
          <p:cNvPr id="4" name="Rectangle: Rounded Corners 8">
            <a:extLst>
              <a:ext uri="{FF2B5EF4-FFF2-40B4-BE49-F238E27FC236}">
                <a16:creationId xmlns:a16="http://schemas.microsoft.com/office/drawing/2014/main" id="{EC46B25E-E473-C650-2113-AB40B39BCF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1802" y="471934"/>
            <a:ext cx="10863262" cy="484632"/>
          </a:xfrm>
          <a:prstGeom prst="roundRect">
            <a:avLst>
              <a:gd name="adj" fmla="val 15236"/>
            </a:avLst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152400" dist="50800" dir="5400000" sx="99000" sy="99000" algn="ctr" rotWithShape="0">
              <a:srgbClr val="000000">
                <a:alpha val="10000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Aft>
                <a:spcPts val="800"/>
              </a:spcAft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From Data to Action: INF-A Outbreak Response</a:t>
            </a:r>
            <a:endParaRPr lang="pt-PT" sz="2400" b="1" noProof="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825BBBD-9D56-FB55-CF65-443FF22B7C62}"/>
              </a:ext>
            </a:extLst>
          </p:cNvPr>
          <p:cNvSpPr/>
          <p:nvPr/>
        </p:nvSpPr>
        <p:spPr>
          <a:xfrm>
            <a:off x="2135653" y="2768009"/>
            <a:ext cx="1904171" cy="242229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AD2F30"/>
                </a:solidFill>
              </a:rPr>
              <a:t>Evidence Generation Mechanisms</a:t>
            </a:r>
            <a:r>
              <a:rPr lang="pt-BR" sz="1600" b="1" dirty="0">
                <a:solidFill>
                  <a:srgbClr val="AD2F30"/>
                </a:solidFill>
              </a:rPr>
              <a:t> </a:t>
            </a:r>
            <a:endParaRPr lang="pt-PT" sz="1600" b="1" dirty="0">
              <a:solidFill>
                <a:srgbClr val="C00000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/>
              <a:t>Sentinel/Genomic Surveillance (IDS)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/>
              <a:t>Other surveillance platforms</a:t>
            </a:r>
            <a:endParaRPr lang="pt-PT" sz="16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C130064-3906-429C-0BCB-D2A13A50F041}"/>
              </a:ext>
            </a:extLst>
          </p:cNvPr>
          <p:cNvGrpSpPr/>
          <p:nvPr/>
        </p:nvGrpSpPr>
        <p:grpSpPr>
          <a:xfrm>
            <a:off x="339135" y="1446439"/>
            <a:ext cx="11280023" cy="5294170"/>
            <a:chOff x="365260" y="627833"/>
            <a:chExt cx="11280023" cy="529417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A346A65-CB00-A41A-11CD-FE1694A4096A}"/>
                </a:ext>
              </a:extLst>
            </p:cNvPr>
            <p:cNvGrpSpPr/>
            <p:nvPr/>
          </p:nvGrpSpPr>
          <p:grpSpPr>
            <a:xfrm>
              <a:off x="2365165" y="627833"/>
              <a:ext cx="9280118" cy="5294170"/>
              <a:chOff x="3043520" y="842065"/>
              <a:chExt cx="9280118" cy="5294170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7821D373-E955-7275-4849-AC6DD6D7DB7F}"/>
                  </a:ext>
                </a:extLst>
              </p:cNvPr>
              <p:cNvGrpSpPr/>
              <p:nvPr/>
            </p:nvGrpSpPr>
            <p:grpSpPr>
              <a:xfrm>
                <a:off x="10253744" y="842065"/>
                <a:ext cx="2069894" cy="5294170"/>
                <a:chOff x="10253744" y="842065"/>
                <a:chExt cx="2069894" cy="5294170"/>
              </a:xfrm>
            </p:grpSpPr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EC4B9934-D70D-1488-A137-A259CE216287}"/>
                    </a:ext>
                  </a:extLst>
                </p:cNvPr>
                <p:cNvSpPr/>
                <p:nvPr/>
              </p:nvSpPr>
              <p:spPr>
                <a:xfrm>
                  <a:off x="10397086" y="842065"/>
                  <a:ext cx="1767523" cy="1100676"/>
                </a:xfrm>
                <a:prstGeom prst="roundRect">
                  <a:avLst/>
                </a:prstGeom>
                <a:solidFill>
                  <a:srgbClr val="007489"/>
                </a:solidFill>
                <a:ln>
                  <a:noFill/>
                </a:ln>
                <a:effectLst>
                  <a:outerShdw blurRad="190500" dist="228600" dir="2700000" algn="ctr">
                    <a:srgbClr val="000000">
                      <a:alpha val="30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glow" dir="t">
                    <a:rot lat="0" lon="0" rev="4800000"/>
                  </a:lightRig>
                </a:scene3d>
                <a:sp3d prstMaterial="matte">
                  <a:bevelT w="127000" h="63500"/>
                </a:sp3d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PT" sz="1600" b="1" dirty="0">
                      <a:solidFill>
                        <a:schemeClr val="bg1"/>
                      </a:solidFill>
                    </a:rPr>
                    <a:t>ACTION</a:t>
                  </a:r>
                </a:p>
                <a:p>
                  <a:pPr algn="ctr"/>
                  <a:r>
                    <a:rPr lang="pt-PT" sz="1600" b="1" dirty="0">
                      <a:solidFill>
                        <a:schemeClr val="bg2">
                          <a:lumMod val="90000"/>
                        </a:schemeClr>
                      </a:solidFill>
                    </a:rPr>
                    <a:t>[</a:t>
                  </a:r>
                  <a:r>
                    <a:rPr lang="pt-PT" sz="1600" b="1" dirty="0" err="1">
                      <a:solidFill>
                        <a:schemeClr val="bg2">
                          <a:lumMod val="90000"/>
                        </a:schemeClr>
                      </a:solidFill>
                    </a:rPr>
                    <a:t>Decision</a:t>
                  </a:r>
                  <a:r>
                    <a:rPr lang="pt-PT" sz="1600" b="1" dirty="0">
                      <a:solidFill>
                        <a:schemeClr val="bg2">
                          <a:lumMod val="90000"/>
                        </a:schemeClr>
                      </a:solidFill>
                    </a:rPr>
                    <a:t> </a:t>
                  </a:r>
                  <a:r>
                    <a:rPr lang="pt-PT" sz="1600" b="1" dirty="0" err="1">
                      <a:solidFill>
                        <a:schemeClr val="bg2">
                          <a:lumMod val="90000"/>
                        </a:schemeClr>
                      </a:solidFill>
                    </a:rPr>
                    <a:t>and</a:t>
                  </a:r>
                  <a:r>
                    <a:rPr lang="pt-PT" sz="1600" b="1" dirty="0">
                      <a:solidFill>
                        <a:schemeClr val="bg2">
                          <a:lumMod val="90000"/>
                        </a:schemeClr>
                      </a:solidFill>
                    </a:rPr>
                    <a:t> response]</a:t>
                  </a:r>
                </a:p>
              </p:txBody>
            </p:sp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931FCF0F-8B2E-49AC-2AD0-760A359B688D}"/>
                    </a:ext>
                  </a:extLst>
                </p:cNvPr>
                <p:cNvSpPr/>
                <p:nvPr/>
              </p:nvSpPr>
              <p:spPr>
                <a:xfrm>
                  <a:off x="10253744" y="2163634"/>
                  <a:ext cx="2069894" cy="3972601"/>
                </a:xfrm>
                <a:prstGeom prst="roundRect">
                  <a:avLst/>
                </a:prstGeom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solidFill>
                      <a:srgbClr val="C00000"/>
                    </a:solidFill>
                  </a:endParaRPr>
                </a:p>
                <a:p>
                  <a:pPr algn="ctr"/>
                  <a:endParaRPr lang="en-US" b="1" dirty="0">
                    <a:solidFill>
                      <a:srgbClr val="C00000"/>
                    </a:solidFill>
                  </a:endParaRPr>
                </a:p>
                <a:p>
                  <a:pPr algn="ctr"/>
                  <a:r>
                    <a:rPr lang="en-US" sz="1600" b="1" dirty="0">
                      <a:solidFill>
                        <a:srgbClr val="C00000"/>
                      </a:solidFill>
                    </a:rPr>
                    <a:t>Decisions and responses activated</a:t>
                  </a:r>
                  <a:r>
                    <a:rPr lang="pt-PT" sz="1600" b="1" dirty="0">
                      <a:solidFill>
                        <a:srgbClr val="C00000"/>
                      </a:solidFill>
                    </a:rPr>
                    <a:t> </a:t>
                  </a:r>
                  <a:endParaRPr lang="pt-PT" sz="1600" dirty="0"/>
                </a:p>
                <a:p>
                  <a:pPr marL="342900" lvl="0" indent="-342900">
                    <a:buFont typeface="+mj-lt"/>
                    <a:buAutoNum type="arabicPeriod"/>
                  </a:pPr>
                  <a:r>
                    <a:rPr lang="en-US" sz="1600" dirty="0"/>
                    <a:t>Activation of the Situation Room, involving central, provincial, and municipal levels</a:t>
                  </a:r>
                </a:p>
                <a:p>
                  <a:pPr marL="342900" lvl="0" indent="-342900">
                    <a:buFont typeface="+mj-lt"/>
                    <a:buAutoNum type="arabicPeriod"/>
                  </a:pPr>
                  <a:r>
                    <a:rPr lang="en-US" sz="1600" dirty="0"/>
                    <a:t>Coordinated response, including strengthened prevention and control measures</a:t>
                  </a:r>
                </a:p>
                <a:p>
                  <a:r>
                    <a:rPr lang="pt-PT" sz="1600" dirty="0"/>
                    <a:t> 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3D99AE7B-F757-F731-6886-3EAC410B6EFC}"/>
                  </a:ext>
                </a:extLst>
              </p:cNvPr>
              <p:cNvGrpSpPr/>
              <p:nvPr/>
            </p:nvGrpSpPr>
            <p:grpSpPr>
              <a:xfrm>
                <a:off x="7644235" y="867542"/>
                <a:ext cx="2539529" cy="5146597"/>
                <a:chOff x="7644235" y="867542"/>
                <a:chExt cx="2539529" cy="5146597"/>
              </a:xfrm>
            </p:grpSpPr>
            <p:sp>
              <p:nvSpPr>
                <p:cNvPr id="10" name="Rectangle: Rounded Corners 9">
                  <a:extLst>
                    <a:ext uri="{FF2B5EF4-FFF2-40B4-BE49-F238E27FC236}">
                      <a16:creationId xmlns:a16="http://schemas.microsoft.com/office/drawing/2014/main" id="{F4FC09BA-37AD-9D12-D6E2-CABEC94325DA}"/>
                    </a:ext>
                  </a:extLst>
                </p:cNvPr>
                <p:cNvSpPr/>
                <p:nvPr/>
              </p:nvSpPr>
              <p:spPr>
                <a:xfrm>
                  <a:off x="7895156" y="867542"/>
                  <a:ext cx="1762880" cy="1100678"/>
                </a:xfrm>
                <a:prstGeom prst="roundRect">
                  <a:avLst/>
                </a:prstGeom>
                <a:solidFill>
                  <a:srgbClr val="007489"/>
                </a:solidFill>
                <a:ln>
                  <a:noFill/>
                </a:ln>
                <a:effectLst>
                  <a:outerShdw blurRad="190500" dist="228600" dir="2700000" algn="ctr">
                    <a:srgbClr val="000000">
                      <a:alpha val="30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glow" dir="t">
                    <a:rot lat="0" lon="0" rev="4800000"/>
                  </a:lightRig>
                </a:scene3d>
                <a:sp3d prstMaterial="matte">
                  <a:bevelT w="127000" h="63500"/>
                </a:sp3d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PT" sz="1600" b="1" dirty="0">
                      <a:solidFill>
                        <a:schemeClr val="bg1"/>
                      </a:solidFill>
                    </a:rPr>
                    <a:t>COMUNICATION</a:t>
                  </a:r>
                </a:p>
                <a:p>
                  <a:pPr algn="ctr"/>
                  <a:r>
                    <a:rPr lang="pt-PT" sz="1600" b="1" dirty="0">
                      <a:solidFill>
                        <a:schemeClr val="bg2">
                          <a:lumMod val="90000"/>
                        </a:schemeClr>
                      </a:solidFill>
                    </a:rPr>
                    <a:t> [</a:t>
                  </a:r>
                  <a:r>
                    <a:rPr lang="pt-PT" sz="1600" b="1" dirty="0" err="1">
                      <a:solidFill>
                        <a:schemeClr val="bg2">
                          <a:lumMod val="90000"/>
                        </a:schemeClr>
                      </a:solidFill>
                    </a:rPr>
                    <a:t>Evidence</a:t>
                  </a:r>
                  <a:r>
                    <a:rPr lang="pt-PT" sz="1600" b="1" dirty="0">
                      <a:solidFill>
                        <a:schemeClr val="bg2">
                          <a:lumMod val="90000"/>
                        </a:schemeClr>
                      </a:solidFill>
                    </a:rPr>
                    <a:t> </a:t>
                  </a:r>
                  <a:r>
                    <a:rPr lang="pt-PT" sz="1600" b="1" dirty="0" err="1">
                      <a:solidFill>
                        <a:schemeClr val="bg2">
                          <a:lumMod val="90000"/>
                        </a:schemeClr>
                      </a:solidFill>
                    </a:rPr>
                    <a:t>Translation</a:t>
                  </a:r>
                  <a:r>
                    <a:rPr lang="pt-PT" sz="1600" b="1" dirty="0">
                      <a:solidFill>
                        <a:schemeClr val="bg2">
                          <a:lumMod val="90000"/>
                        </a:schemeClr>
                      </a:solidFill>
                    </a:rPr>
                    <a:t>]</a:t>
                  </a:r>
                </a:p>
              </p:txBody>
            </p:sp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593A6F7A-A6F8-4757-803E-EDA198E8A21A}"/>
                    </a:ext>
                  </a:extLst>
                </p:cNvPr>
                <p:cNvSpPr/>
                <p:nvPr/>
              </p:nvSpPr>
              <p:spPr>
                <a:xfrm>
                  <a:off x="7644235" y="2163634"/>
                  <a:ext cx="2539529" cy="3850505"/>
                </a:xfrm>
                <a:prstGeom prst="roundRect">
                  <a:avLst/>
                </a:prstGeom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 dirty="0">
                      <a:solidFill>
                        <a:srgbClr val="AD2F30"/>
                      </a:solidFill>
                    </a:rPr>
                    <a:t>How was the evidence shared</a:t>
                  </a:r>
                  <a:r>
                    <a:rPr lang="pt-PT" sz="1600" b="1" dirty="0">
                      <a:solidFill>
                        <a:srgbClr val="AD2F30"/>
                      </a:solidFill>
                    </a:rPr>
                    <a:t>?</a:t>
                  </a:r>
                </a:p>
                <a:p>
                  <a:pPr marL="342900" lvl="0" indent="-342900">
                    <a:buFont typeface="+mj-lt"/>
                    <a:buAutoNum type="arabicPeriod"/>
                  </a:pPr>
                  <a:r>
                    <a:rPr lang="en-US" sz="1600" dirty="0">
                      <a:solidFill>
                        <a:schemeClr val="tx1"/>
                      </a:solidFill>
                    </a:rPr>
                    <a:t>Operational coordination meetings with MOH</a:t>
                  </a:r>
                </a:p>
                <a:p>
                  <a:pPr marL="342900" lvl="0" indent="-342900">
                    <a:buFont typeface="+mj-lt"/>
                    <a:buAutoNum type="arabicPeriod"/>
                  </a:pPr>
                  <a:r>
                    <a:rPr lang="en-US" sz="1600" dirty="0"/>
                    <a:t>Technical briefings delivered to the MoH</a:t>
                  </a:r>
                </a:p>
                <a:p>
                  <a:pPr marL="342900" lvl="0" indent="-342900">
                    <a:buFont typeface="+mj-lt"/>
                    <a:buAutoNum type="arabicPeriod"/>
                  </a:pPr>
                  <a:r>
                    <a:rPr lang="en-US" sz="1600" dirty="0"/>
                    <a:t>Information sharing with provincial and municipal authorities</a:t>
                  </a:r>
                </a:p>
                <a:p>
                  <a:pPr marL="342900" lvl="0" indent="-342900">
                    <a:buFont typeface="+mj-lt"/>
                    <a:buAutoNum type="arabicPeriod"/>
                  </a:pPr>
                  <a:r>
                    <a:rPr lang="en-US" sz="1600" dirty="0"/>
                    <a:t>Official communication by the MoH through written communication</a:t>
                  </a:r>
                  <a:endParaRPr lang="pt-PT" sz="1600" dirty="0"/>
                </a:p>
              </p:txBody>
            </p:sp>
          </p:grpSp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55723AA0-4E33-C7ED-0005-8E23FAF37266}"/>
                  </a:ext>
                </a:extLst>
              </p:cNvPr>
              <p:cNvSpPr/>
              <p:nvPr/>
            </p:nvSpPr>
            <p:spPr>
              <a:xfrm>
                <a:off x="3043520" y="918882"/>
                <a:ext cx="1654436" cy="1100677"/>
              </a:xfrm>
              <a:prstGeom prst="roundRect">
                <a:avLst/>
              </a:prstGeom>
              <a:solidFill>
                <a:srgbClr val="007489"/>
              </a:solidFill>
              <a:ln>
                <a:noFill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pt-PT" sz="1600" b="1" dirty="0">
                    <a:solidFill>
                      <a:schemeClr val="bg1"/>
                    </a:solidFill>
                  </a:rPr>
                  <a:t>DATA</a:t>
                </a:r>
              </a:p>
              <a:p>
                <a:pPr algn="ctr"/>
                <a:r>
                  <a:rPr lang="pt-PT" b="1" dirty="0">
                    <a:solidFill>
                      <a:schemeClr val="bg2">
                        <a:lumMod val="90000"/>
                      </a:schemeClr>
                    </a:solidFill>
                  </a:rPr>
                  <a:t> </a:t>
                </a:r>
                <a:r>
                  <a:rPr lang="pt-PT" sz="1600" b="1" dirty="0">
                    <a:solidFill>
                      <a:schemeClr val="bg2">
                        <a:lumMod val="90000"/>
                      </a:schemeClr>
                    </a:solidFill>
                  </a:rPr>
                  <a:t>[</a:t>
                </a:r>
                <a:r>
                  <a:rPr lang="pt-PT" sz="1600" b="1" dirty="0" err="1">
                    <a:solidFill>
                      <a:schemeClr val="bg2">
                        <a:lumMod val="90000"/>
                      </a:schemeClr>
                    </a:solidFill>
                  </a:rPr>
                  <a:t>Evidence</a:t>
                </a:r>
                <a:r>
                  <a:rPr lang="pt-PT" sz="1600" b="1" dirty="0">
                    <a:solidFill>
                      <a:schemeClr val="bg2">
                        <a:lumMod val="90000"/>
                      </a:schemeClr>
                    </a:solidFill>
                  </a:rPr>
                  <a:t> </a:t>
                </a:r>
                <a:r>
                  <a:rPr lang="pt-PT" sz="1600" b="1" dirty="0" err="1">
                    <a:solidFill>
                      <a:schemeClr val="bg2">
                        <a:lumMod val="90000"/>
                      </a:schemeClr>
                    </a:solidFill>
                  </a:rPr>
                  <a:t>Generation</a:t>
                </a:r>
                <a:r>
                  <a:rPr lang="pt-PT" sz="1600" b="1" dirty="0">
                    <a:solidFill>
                      <a:schemeClr val="bg2">
                        <a:lumMod val="90000"/>
                      </a:schemeClr>
                    </a:solidFill>
                  </a:rPr>
                  <a:t>] </a:t>
                </a:r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ED41EFC0-57CE-4BE6-E17F-E350E753CA4D}"/>
                  </a:ext>
                </a:extLst>
              </p:cNvPr>
              <p:cNvGrpSpPr/>
              <p:nvPr/>
            </p:nvGrpSpPr>
            <p:grpSpPr>
              <a:xfrm>
                <a:off x="4883906" y="897117"/>
                <a:ext cx="2664595" cy="4965756"/>
                <a:chOff x="4883906" y="897117"/>
                <a:chExt cx="2664595" cy="4965756"/>
              </a:xfrm>
            </p:grpSpPr>
            <p:sp>
              <p:nvSpPr>
                <p:cNvPr id="8" name="Rectangle: Rounded Corners 7">
                  <a:extLst>
                    <a:ext uri="{FF2B5EF4-FFF2-40B4-BE49-F238E27FC236}">
                      <a16:creationId xmlns:a16="http://schemas.microsoft.com/office/drawing/2014/main" id="{D064BA20-44DD-B605-61F3-C64F22497011}"/>
                    </a:ext>
                  </a:extLst>
                </p:cNvPr>
                <p:cNvSpPr/>
                <p:nvPr/>
              </p:nvSpPr>
              <p:spPr>
                <a:xfrm>
                  <a:off x="5357860" y="897117"/>
                  <a:ext cx="1900986" cy="1162137"/>
                </a:xfrm>
                <a:prstGeom prst="roundRect">
                  <a:avLst/>
                </a:prstGeom>
                <a:solidFill>
                  <a:srgbClr val="007489"/>
                </a:solidFill>
                <a:ln>
                  <a:noFill/>
                </a:ln>
                <a:effectLst>
                  <a:outerShdw blurRad="190500" dist="228600" dir="2700000" algn="ctr">
                    <a:srgbClr val="000000">
                      <a:alpha val="30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glow" dir="t">
                    <a:rot lat="0" lon="0" rev="4800000"/>
                  </a:lightRig>
                </a:scene3d>
                <a:sp3d prstMaterial="matte">
                  <a:bevelT w="127000" h="63500"/>
                </a:sp3d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PT" sz="1600" b="1" dirty="0">
                      <a:solidFill>
                        <a:schemeClr val="bg1"/>
                      </a:solidFill>
                    </a:rPr>
                    <a:t>INTERPRETATION </a:t>
                  </a:r>
                </a:p>
                <a:p>
                  <a:pPr algn="ctr"/>
                  <a:r>
                    <a:rPr lang="pt-PT" sz="1600" b="1" dirty="0">
                      <a:solidFill>
                        <a:schemeClr val="bg2">
                          <a:lumMod val="90000"/>
                        </a:schemeClr>
                      </a:solidFill>
                    </a:rPr>
                    <a:t>[</a:t>
                  </a:r>
                  <a:r>
                    <a:rPr lang="pt-PT" sz="1600" b="1" dirty="0" err="1">
                      <a:solidFill>
                        <a:schemeClr val="bg2">
                          <a:lumMod val="90000"/>
                        </a:schemeClr>
                      </a:solidFill>
                    </a:rPr>
                    <a:t>Risk</a:t>
                  </a:r>
                  <a:r>
                    <a:rPr lang="pt-PT" sz="1600" b="1" dirty="0">
                      <a:solidFill>
                        <a:schemeClr val="bg2">
                          <a:lumMod val="90000"/>
                        </a:schemeClr>
                      </a:solidFill>
                    </a:rPr>
                    <a:t> </a:t>
                  </a:r>
                  <a:r>
                    <a:rPr lang="en-US" sz="1600" b="1" dirty="0">
                      <a:solidFill>
                        <a:schemeClr val="bg2">
                          <a:lumMod val="90000"/>
                        </a:schemeClr>
                      </a:solidFill>
                    </a:rPr>
                    <a:t>Analysis]</a:t>
                  </a:r>
                  <a:endParaRPr lang="pt-PT" sz="1600" b="1" dirty="0">
                    <a:solidFill>
                      <a:schemeClr val="bg2">
                        <a:lumMod val="90000"/>
                      </a:schemeClr>
                    </a:solidFill>
                  </a:endParaRPr>
                </a:p>
              </p:txBody>
            </p:sp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F384F7C9-BD2E-F2E9-41E1-340F3B9C6C1B}"/>
                    </a:ext>
                  </a:extLst>
                </p:cNvPr>
                <p:cNvSpPr/>
                <p:nvPr/>
              </p:nvSpPr>
              <p:spPr>
                <a:xfrm>
                  <a:off x="4883906" y="2163636"/>
                  <a:ext cx="2664595" cy="3699237"/>
                </a:xfrm>
                <a:prstGeom prst="roundRect">
                  <a:avLst/>
                </a:prstGeom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 dirty="0">
                      <a:solidFill>
                        <a:srgbClr val="AD2F30"/>
                      </a:solidFill>
                    </a:rPr>
                    <a:t>How were the data analyzed</a:t>
                  </a:r>
                  <a:r>
                    <a:rPr lang="pt-PT" sz="1600" b="1" dirty="0">
                      <a:solidFill>
                        <a:srgbClr val="AD2F30"/>
                      </a:solidFill>
                    </a:rPr>
                    <a:t>? </a:t>
                  </a:r>
                  <a:endParaRPr lang="pt-PT" sz="1600" b="1" dirty="0">
                    <a:solidFill>
                      <a:srgbClr val="C00000"/>
                    </a:solidFill>
                  </a:endParaRPr>
                </a:p>
                <a:p>
                  <a:pPr marL="342900" indent="-342900">
                    <a:buFont typeface="+mj-lt"/>
                    <a:buAutoNum type="arabicPeriod"/>
                  </a:pPr>
                  <a:r>
                    <a:rPr lang="en-US" sz="1600" dirty="0"/>
                    <a:t>Integrated trend analysis </a:t>
                  </a:r>
                </a:p>
                <a:p>
                  <a:pPr marL="342900" indent="-342900">
                    <a:buFont typeface="+mj-lt"/>
                    <a:buAutoNum type="arabicPeriod"/>
                  </a:pPr>
                  <a:r>
                    <a:rPr lang="en-US" sz="1600" dirty="0"/>
                    <a:t>Identification of spatial patterns and clusters, indicating areas of higher transmission</a:t>
                  </a:r>
                </a:p>
                <a:p>
                  <a:pPr marL="342900" lvl="0" indent="-342900">
                    <a:buFont typeface="+mj-lt"/>
                    <a:buAutoNum type="arabicPeriod"/>
                  </a:pPr>
                  <a:r>
                    <a:rPr lang="en-US" sz="1600" dirty="0"/>
                    <a:t>Public health risk assessment to inform decision-making</a:t>
                  </a:r>
                </a:p>
                <a:p>
                  <a:pPr marL="342900" lvl="0" indent="-342900">
                    <a:buFont typeface="+mj-lt"/>
                    <a:buAutoNum type="arabicPeriod"/>
                  </a:pPr>
                  <a:r>
                    <a:rPr lang="en-US" sz="1600" dirty="0"/>
                    <a:t>Global, regional data </a:t>
                  </a:r>
                </a:p>
                <a:p>
                  <a:pPr marL="342900" indent="-342900">
                    <a:buFont typeface="+mj-lt"/>
                    <a:buAutoNum type="arabicPeriod"/>
                  </a:pPr>
                  <a:endParaRPr lang="pt-PT" sz="1600" dirty="0"/>
                </a:p>
              </p:txBody>
            </p:sp>
          </p:grpSp>
          <p:sp>
            <p:nvSpPr>
              <p:cNvPr id="19" name="Arrow: Right 18">
                <a:extLst>
                  <a:ext uri="{FF2B5EF4-FFF2-40B4-BE49-F238E27FC236}">
                    <a16:creationId xmlns:a16="http://schemas.microsoft.com/office/drawing/2014/main" id="{0667D289-AD6D-8702-0FFF-AD59E210376A}"/>
                  </a:ext>
                </a:extLst>
              </p:cNvPr>
              <p:cNvSpPr/>
              <p:nvPr/>
            </p:nvSpPr>
            <p:spPr>
              <a:xfrm>
                <a:off x="4769617" y="1244955"/>
                <a:ext cx="566736" cy="484632"/>
              </a:xfrm>
              <a:prstGeom prst="rightArrow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" name="Arrow: Right 19">
                <a:extLst>
                  <a:ext uri="{FF2B5EF4-FFF2-40B4-BE49-F238E27FC236}">
                    <a16:creationId xmlns:a16="http://schemas.microsoft.com/office/drawing/2014/main" id="{15F7A841-F971-5DB1-1830-24829B6E9FCB}"/>
                  </a:ext>
                </a:extLst>
              </p:cNvPr>
              <p:cNvSpPr/>
              <p:nvPr/>
            </p:nvSpPr>
            <p:spPr>
              <a:xfrm>
                <a:off x="7328420" y="1233938"/>
                <a:ext cx="566736" cy="484632"/>
              </a:xfrm>
              <a:prstGeom prst="rightArrow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1" name="Arrow: Right 20">
                <a:extLst>
                  <a:ext uri="{FF2B5EF4-FFF2-40B4-BE49-F238E27FC236}">
                    <a16:creationId xmlns:a16="http://schemas.microsoft.com/office/drawing/2014/main" id="{6FD95C4B-CBE5-E8BD-DB93-5C21A7EBCD62}"/>
                  </a:ext>
                </a:extLst>
              </p:cNvPr>
              <p:cNvSpPr/>
              <p:nvPr/>
            </p:nvSpPr>
            <p:spPr>
              <a:xfrm>
                <a:off x="9715474" y="1199042"/>
                <a:ext cx="566736" cy="484632"/>
              </a:xfrm>
              <a:prstGeom prst="rightArrow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28FD8ED6-FC99-99C6-9436-898CA78006A6}"/>
                </a:ext>
              </a:extLst>
            </p:cNvPr>
            <p:cNvSpPr/>
            <p:nvPr/>
          </p:nvSpPr>
          <p:spPr>
            <a:xfrm>
              <a:off x="420155" y="689326"/>
              <a:ext cx="1366561" cy="1100676"/>
            </a:xfrm>
            <a:prstGeom prst="roundRect">
              <a:avLst/>
            </a:prstGeom>
            <a:solidFill>
              <a:srgbClr val="007489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PT" sz="1600" b="1" dirty="0">
                <a:solidFill>
                  <a:schemeClr val="bg1"/>
                </a:solidFill>
              </a:endParaRPr>
            </a:p>
            <a:p>
              <a:pPr algn="ctr"/>
              <a:r>
                <a:rPr lang="pt-PT" sz="1600" b="1" dirty="0">
                  <a:solidFill>
                    <a:schemeClr val="bg1"/>
                  </a:solidFill>
                </a:rPr>
                <a:t>CONTEXT</a:t>
              </a:r>
            </a:p>
            <a:p>
              <a:pPr algn="ctr"/>
              <a:r>
                <a:rPr lang="pt-PT" sz="1600" b="1" dirty="0">
                  <a:solidFill>
                    <a:schemeClr val="bg1">
                      <a:lumMod val="85000"/>
                    </a:schemeClr>
                  </a:solidFill>
                </a:rPr>
                <a:t> </a:t>
              </a:r>
            </a:p>
          </p:txBody>
        </p: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C19B19AF-E1D2-901A-FE44-4C9AE028D1EF}"/>
                </a:ext>
              </a:extLst>
            </p:cNvPr>
            <p:cNvSpPr/>
            <p:nvPr/>
          </p:nvSpPr>
          <p:spPr>
            <a:xfrm>
              <a:off x="1810301" y="1005157"/>
              <a:ext cx="566736" cy="484632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C200900-7471-92D8-D894-B51D1288BC33}"/>
                </a:ext>
              </a:extLst>
            </p:cNvPr>
            <p:cNvSpPr/>
            <p:nvPr/>
          </p:nvSpPr>
          <p:spPr>
            <a:xfrm>
              <a:off x="365260" y="1922021"/>
              <a:ext cx="1700784" cy="1458161"/>
            </a:xfrm>
            <a:prstGeom prst="round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PT" sz="1600" b="1" dirty="0">
                <a:solidFill>
                  <a:srgbClr val="C00000"/>
                </a:solidFill>
              </a:endParaRPr>
            </a:p>
            <a:p>
              <a:pPr marL="342900" lvl="0" indent="-342900">
                <a:buFont typeface="+mj-lt"/>
                <a:buAutoNum type="arabicPeriod"/>
              </a:pPr>
              <a:r>
                <a:rPr lang="pt-PT" sz="1600" b="1" dirty="0">
                  <a:solidFill>
                    <a:schemeClr val="tx1"/>
                  </a:solidFill>
                </a:rPr>
                <a:t>I</a:t>
              </a:r>
              <a:r>
                <a:rPr lang="en-US" sz="1600" dirty="0" err="1">
                  <a:solidFill>
                    <a:schemeClr val="tx1"/>
                  </a:solidFill>
                </a:rPr>
                <a:t>ncrease</a:t>
              </a:r>
              <a:r>
                <a:rPr lang="en-US" sz="1600" dirty="0">
                  <a:solidFill>
                    <a:schemeClr val="tx1"/>
                  </a:solidFill>
                </a:rPr>
                <a:t> in Influenza cases</a:t>
              </a:r>
            </a:p>
            <a:p>
              <a:pPr marL="342900" lvl="0" indent="-342900">
                <a:buFont typeface="+mj-lt"/>
                <a:buAutoNum type="arabicPeriod"/>
              </a:pPr>
              <a:r>
                <a:rPr lang="en-US" sz="1600" dirty="0">
                  <a:solidFill>
                    <a:schemeClr val="tx1"/>
                  </a:solidFill>
                </a:rPr>
                <a:t>From Week 42</a:t>
              </a:r>
              <a:endParaRPr lang="pt-PT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3" name="Picture 12" descr="A document with text on it&#10;&#10;AI-generated content may be incorrect.">
            <a:extLst>
              <a:ext uri="{FF2B5EF4-FFF2-40B4-BE49-F238E27FC236}">
                <a16:creationId xmlns:a16="http://schemas.microsoft.com/office/drawing/2014/main" id="{0506FEDE-CEFB-45A5-E296-A2DF6E27AF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" t="19809" r="2102" b="20128"/>
          <a:stretch>
            <a:fillRect/>
          </a:stretch>
        </p:blipFill>
        <p:spPr>
          <a:xfrm>
            <a:off x="9532220" y="2654770"/>
            <a:ext cx="2659780" cy="407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463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AECF5-12ED-A8A8-4C25-21E954C08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2DCB3444-167C-68A8-6ECB-D0E3B9F4FFE1}"/>
              </a:ext>
            </a:extLst>
          </p:cNvPr>
          <p:cNvSpPr txBox="1">
            <a:spLocks/>
          </p:cNvSpPr>
          <p:nvPr/>
        </p:nvSpPr>
        <p:spPr>
          <a:xfrm>
            <a:off x="431877" y="2438400"/>
            <a:ext cx="11357352" cy="158262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GB" sz="5400" dirty="0">
                <a:solidFill>
                  <a:schemeClr val="tx2"/>
                </a:solidFill>
                <a:latin typeface="+mj-lt"/>
              </a:rPr>
              <a:t>Cholera Surveillance </a:t>
            </a:r>
          </a:p>
          <a:p>
            <a:pPr algn="ctr"/>
            <a:r>
              <a:rPr lang="en-GB" sz="5400" dirty="0">
                <a:solidFill>
                  <a:srgbClr val="C00000"/>
                </a:solidFill>
                <a:latin typeface="+mj-lt"/>
              </a:rPr>
              <a:t>Tete</a:t>
            </a:r>
            <a:endParaRPr lang="pt-PT" sz="5400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22339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2BA614-5EBD-0A62-4656-52E57F00CE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8805" y="250825"/>
            <a:ext cx="11124501" cy="672543"/>
          </a:xfrm>
        </p:spPr>
        <p:txBody>
          <a:bodyPr/>
          <a:lstStyle/>
          <a:p>
            <a:r>
              <a:rPr lang="en-PT" sz="3400" dirty="0"/>
              <a:t>Cholera Outbreak declared on Sep 22 in Tete City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4CF114-1589-0B78-729F-0E9AE2425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CFD5-618A-4511-8858-C8BF20FC6330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3CE2C0B-233B-4D66-EAA9-67C6905D0E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1408675"/>
              </p:ext>
            </p:extLst>
          </p:nvPr>
        </p:nvGraphicFramePr>
        <p:xfrm>
          <a:off x="533749" y="2018370"/>
          <a:ext cx="11124501" cy="37714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Up Arrow 4">
            <a:extLst>
              <a:ext uri="{FF2B5EF4-FFF2-40B4-BE49-F238E27FC236}">
                <a16:creationId xmlns:a16="http://schemas.microsoft.com/office/drawing/2014/main" id="{C2BE9AC6-2DD8-B827-0705-51C5944F31A4}"/>
              </a:ext>
            </a:extLst>
          </p:cNvPr>
          <p:cNvSpPr/>
          <p:nvPr/>
        </p:nvSpPr>
        <p:spPr>
          <a:xfrm>
            <a:off x="1015049" y="5476388"/>
            <a:ext cx="217714" cy="400594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953FBD-FA96-32A0-49D0-E55B5346E665}"/>
              </a:ext>
            </a:extLst>
          </p:cNvPr>
          <p:cNvSpPr txBox="1"/>
          <p:nvPr/>
        </p:nvSpPr>
        <p:spPr>
          <a:xfrm>
            <a:off x="1200994" y="5695491"/>
            <a:ext cx="1802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200" dirty="0"/>
              <a:t>Outbreak Declaration</a:t>
            </a:r>
          </a:p>
        </p:txBody>
      </p:sp>
    </p:spTree>
    <p:extLst>
      <p:ext uri="{BB962C8B-B14F-4D97-AF65-F5344CB8AC3E}">
        <p14:creationId xmlns:p14="http://schemas.microsoft.com/office/powerpoint/2010/main" val="12564800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08977-0529-3280-F6FB-C73D341EF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4C198227-D90C-9EA9-ED38-D87E50742928}"/>
              </a:ext>
            </a:extLst>
          </p:cNvPr>
          <p:cNvSpPr txBox="1">
            <a:spLocks/>
          </p:cNvSpPr>
          <p:nvPr/>
        </p:nvSpPr>
        <p:spPr>
          <a:xfrm>
            <a:off x="431877" y="2438400"/>
            <a:ext cx="11357352" cy="158262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GB" sz="5400" dirty="0">
                <a:solidFill>
                  <a:schemeClr val="tx2"/>
                </a:solidFill>
                <a:latin typeface="+mj-lt"/>
              </a:rPr>
              <a:t>S. Typhi Surveillance </a:t>
            </a:r>
          </a:p>
          <a:p>
            <a:pPr algn="ctr"/>
            <a:r>
              <a:rPr lang="en-GB" sz="5400" dirty="0">
                <a:solidFill>
                  <a:srgbClr val="C00000"/>
                </a:solidFill>
                <a:latin typeface="+mj-lt"/>
              </a:rPr>
              <a:t>Maputo</a:t>
            </a:r>
            <a:endParaRPr lang="pt-PT" sz="5400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78943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showing the number of samples&#10;&#10;AI-generated content may be incorrect.">
            <a:extLst>
              <a:ext uri="{FF2B5EF4-FFF2-40B4-BE49-F238E27FC236}">
                <a16:creationId xmlns:a16="http://schemas.microsoft.com/office/drawing/2014/main" id="{FF9CF9BE-96C1-45D8-A6D3-C1A27AE11F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704" y="1545300"/>
            <a:ext cx="7772400" cy="48941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97A5C0-A9D1-9FAB-FF54-E315E09D9CB7}"/>
              </a:ext>
            </a:extLst>
          </p:cNvPr>
          <p:cNvSpPr txBox="1"/>
          <p:nvPr/>
        </p:nvSpPr>
        <p:spPr>
          <a:xfrm>
            <a:off x="8113645" y="1845651"/>
            <a:ext cx="3548269" cy="42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300" b="1" dirty="0"/>
              <a:t>Sampling sites</a:t>
            </a:r>
            <a:r>
              <a:rPr lang="en-US" sz="13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C00000"/>
                </a:solidFill>
              </a:rPr>
              <a:t>Weak 34 </a:t>
            </a:r>
            <a:r>
              <a:rPr lang="en-US" sz="1300" dirty="0"/>
              <a:t>– ETAR (</a:t>
            </a:r>
            <a:r>
              <a:rPr lang="en-GB" sz="1300" dirty="0"/>
              <a:t>tanker truck)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C00000"/>
                </a:solidFill>
              </a:rPr>
              <a:t>Weak 43 </a:t>
            </a:r>
            <a:r>
              <a:rPr lang="en-US" sz="1300" dirty="0"/>
              <a:t>– ETAR (sewage inlet</a:t>
            </a:r>
            <a:r>
              <a:rPr lang="en-GB" sz="1300" dirty="0"/>
              <a:t>),</a:t>
            </a:r>
            <a:r>
              <a:rPr lang="en-US" sz="1300" dirty="0"/>
              <a:t> Tempestade (outfall)</a:t>
            </a:r>
            <a:endParaRPr lang="en-GB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C00000"/>
                </a:solidFill>
              </a:rPr>
              <a:t>Weak 44 </a:t>
            </a:r>
            <a:r>
              <a:rPr lang="en-US" sz="1300" dirty="0"/>
              <a:t>–  ETAR (sewage inlet</a:t>
            </a:r>
            <a:r>
              <a:rPr lang="en-GB" sz="1300" dirty="0"/>
              <a:t>),</a:t>
            </a:r>
            <a:r>
              <a:rPr lang="en-US" sz="1300" dirty="0"/>
              <a:t> Tempestade (outfall)</a:t>
            </a:r>
            <a:endParaRPr lang="en-GB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C00000"/>
                </a:solidFill>
              </a:rPr>
              <a:t>Weak 45 </a:t>
            </a:r>
            <a:r>
              <a:rPr lang="en-US" sz="1300" dirty="0"/>
              <a:t>– ETAR (</a:t>
            </a:r>
            <a:r>
              <a:rPr lang="en-GB" sz="1300" dirty="0"/>
              <a:t>tanker truck)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C00000"/>
                </a:solidFill>
              </a:rPr>
              <a:t>Weak 46 </a:t>
            </a:r>
            <a:r>
              <a:rPr lang="en-US" sz="1300" dirty="0"/>
              <a:t>– Tempestade (outfall), ETAR (sewage inlet</a:t>
            </a:r>
            <a:r>
              <a:rPr lang="en-GB" sz="13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C00000"/>
                </a:solidFill>
              </a:rPr>
              <a:t>Weak 47 </a:t>
            </a:r>
            <a:r>
              <a:rPr lang="en-US" sz="1300" dirty="0"/>
              <a:t>– ETAR (sewage inlet,</a:t>
            </a:r>
            <a:r>
              <a:rPr lang="en-GB" sz="1300" dirty="0"/>
              <a:t> tanker truck, sewage ditch)</a:t>
            </a:r>
          </a:p>
          <a:p>
            <a:endParaRPr lang="en-GB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C00000"/>
                </a:solidFill>
              </a:rPr>
              <a:t>Weak 49 </a:t>
            </a:r>
            <a:r>
              <a:rPr lang="en-US" sz="1300" dirty="0"/>
              <a:t>– ETAR (sewage inlet and </a:t>
            </a:r>
            <a:r>
              <a:rPr lang="en-GB" sz="1300" dirty="0"/>
              <a:t>sewage ditch)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4A6068-5C80-BC5E-EE67-5B864F5E778C}"/>
              </a:ext>
            </a:extLst>
          </p:cNvPr>
          <p:cNvSpPr txBox="1"/>
          <p:nvPr/>
        </p:nvSpPr>
        <p:spPr>
          <a:xfrm>
            <a:off x="742949" y="372574"/>
            <a:ext cx="1030936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dirty="0">
                <a:solidFill>
                  <a:srgbClr val="007489"/>
                </a:solidFill>
                <a:effectLst/>
                <a:latin typeface="Calibri" panose="020F0502020204030204" pitchFamily="34" charset="0"/>
              </a:rPr>
              <a:t>Salmonella typhi- </a:t>
            </a:r>
            <a:r>
              <a:rPr lang="en-US" sz="3200" b="1" i="0" u="none" strike="noStrike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Wastewater surveillance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br>
              <a:rPr lang="en-US" sz="3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3200" b="0" i="0" u="none" strike="noStrike" dirty="0">
                <a:solidFill>
                  <a:srgbClr val="828282"/>
                </a:solidFill>
                <a:effectLst/>
                <a:latin typeface="Calibri" panose="020F0502020204030204" pitchFamily="34" charset="0"/>
              </a:rPr>
              <a:t>qPCR results </a:t>
            </a:r>
            <a:r>
              <a:rPr lang="en-US" sz="3200" b="0" i="0" u="none" strike="noStrike" dirty="0">
                <a:solidFill>
                  <a:srgbClr val="7F7F7F"/>
                </a:solidFill>
                <a:effectLst/>
                <a:latin typeface="Calibri" panose="020F0502020204030204" pitchFamily="34" charset="0"/>
              </a:rPr>
              <a:t>week </a:t>
            </a:r>
            <a:r>
              <a:rPr lang="en-US" sz="3200" dirty="0">
                <a:solidFill>
                  <a:srgbClr val="7F7F7F"/>
                </a:solidFill>
                <a:latin typeface="Calibri" panose="020F0502020204030204" pitchFamily="34" charset="0"/>
              </a:rPr>
              <a:t>34 - 49 </a:t>
            </a:r>
            <a:r>
              <a:rPr lang="en-US" sz="3200" b="0" i="0" u="none" strike="noStrike" dirty="0">
                <a:solidFill>
                  <a:srgbClr val="7F7F7F"/>
                </a:solidFill>
                <a:effectLst/>
                <a:latin typeface="Calibri" panose="020F0502020204030204" pitchFamily="34" charset="0"/>
              </a:rPr>
              <a:t>–</a:t>
            </a:r>
            <a:r>
              <a:rPr lang="en-US" sz="3200" b="0" i="0" u="none" strike="noStrike" dirty="0">
                <a:solidFill>
                  <a:srgbClr val="828282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3200" b="1" i="0" u="none" strike="noStrike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Maputo City</a:t>
            </a:r>
            <a:endParaRPr lang="en-US" sz="3200" dirty="0"/>
          </a:p>
        </p:txBody>
      </p:sp>
      <p:sp>
        <p:nvSpPr>
          <p:cNvPr id="2" name="Up Arrow 1">
            <a:extLst>
              <a:ext uri="{FF2B5EF4-FFF2-40B4-BE49-F238E27FC236}">
                <a16:creationId xmlns:a16="http://schemas.microsoft.com/office/drawing/2014/main" id="{26F44622-12DA-CB57-6440-83DBDFF4E095}"/>
              </a:ext>
            </a:extLst>
          </p:cNvPr>
          <p:cNvSpPr/>
          <p:nvPr/>
        </p:nvSpPr>
        <p:spPr>
          <a:xfrm>
            <a:off x="4896958" y="5547360"/>
            <a:ext cx="217714" cy="400594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8C2141-47CF-0805-C5B8-332BE5960F2F}"/>
              </a:ext>
            </a:extLst>
          </p:cNvPr>
          <p:cNvSpPr txBox="1"/>
          <p:nvPr/>
        </p:nvSpPr>
        <p:spPr>
          <a:xfrm>
            <a:off x="5082903" y="5766463"/>
            <a:ext cx="1802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200" dirty="0"/>
              <a:t>Troubleshooting</a:t>
            </a:r>
          </a:p>
        </p:txBody>
      </p:sp>
    </p:spTree>
    <p:extLst>
      <p:ext uri="{BB962C8B-B14F-4D97-AF65-F5344CB8AC3E}">
        <p14:creationId xmlns:p14="http://schemas.microsoft.com/office/powerpoint/2010/main" val="1198390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8195E7-DBE5-063E-5998-090C90B8C0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PT" dirty="0"/>
              <a:t>Genomic and AMR monitoring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687F87-909B-B4B5-31D4-D8DA3692A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CFD5-618A-4511-8858-C8BF20FC633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72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97497-6839-EDEF-96F2-BD60BE301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8875B42C-2A4C-B7DE-B2B6-CF6B79DB15D1}"/>
              </a:ext>
            </a:extLst>
          </p:cNvPr>
          <p:cNvSpPr txBox="1">
            <a:spLocks/>
          </p:cNvSpPr>
          <p:nvPr/>
        </p:nvSpPr>
        <p:spPr>
          <a:xfrm>
            <a:off x="431877" y="2438400"/>
            <a:ext cx="11357352" cy="158262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GB" sz="5400" dirty="0">
                <a:solidFill>
                  <a:schemeClr val="tx2"/>
                </a:solidFill>
                <a:latin typeface="+mj-lt"/>
              </a:rPr>
              <a:t>Serosurvey Updates</a:t>
            </a:r>
          </a:p>
        </p:txBody>
      </p:sp>
    </p:spTree>
    <p:extLst>
      <p:ext uri="{BB962C8B-B14F-4D97-AF65-F5344CB8AC3E}">
        <p14:creationId xmlns:p14="http://schemas.microsoft.com/office/powerpoint/2010/main" val="37318864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people sitting in a room&#10;&#10;AI-generated content may be incorrect.">
            <a:extLst>
              <a:ext uri="{FF2B5EF4-FFF2-40B4-BE49-F238E27FC236}">
                <a16:creationId xmlns:a16="http://schemas.microsoft.com/office/drawing/2014/main" id="{4CC4CF90-6A8D-332E-F54F-12F396BDDD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/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21FAC6D-1070-EC88-8DC8-D0D63F12193E}"/>
              </a:ext>
            </a:extLst>
          </p:cNvPr>
          <p:cNvSpPr txBox="1">
            <a:spLocks/>
          </p:cNvSpPr>
          <p:nvPr/>
        </p:nvSpPr>
        <p:spPr>
          <a:xfrm>
            <a:off x="609600" y="1487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3500" b="1" dirty="0">
                <a:solidFill>
                  <a:srgbClr val="007489"/>
                </a:solidFill>
              </a:rPr>
              <a:t>Serosurvey progress Timeline</a:t>
            </a:r>
            <a:endParaRPr lang="en-PT" sz="3500" dirty="0">
              <a:solidFill>
                <a:srgbClr val="007489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353AF03-48C3-55DE-641F-2B791175F11D}"/>
              </a:ext>
            </a:extLst>
          </p:cNvPr>
          <p:cNvGrpSpPr>
            <a:grpSpLocks noChangeAspect="1"/>
          </p:cNvGrpSpPr>
          <p:nvPr/>
        </p:nvGrpSpPr>
        <p:grpSpPr>
          <a:xfrm>
            <a:off x="480446" y="2030278"/>
            <a:ext cx="10972799" cy="4427711"/>
            <a:chOff x="555199" y="681265"/>
            <a:chExt cx="17378533" cy="848221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9EA8952-0CA4-E47E-C294-B36F3C787749}"/>
                </a:ext>
              </a:extLst>
            </p:cNvPr>
            <p:cNvGrpSpPr/>
            <p:nvPr/>
          </p:nvGrpSpPr>
          <p:grpSpPr>
            <a:xfrm>
              <a:off x="555199" y="4280704"/>
              <a:ext cx="4457961" cy="1099756"/>
              <a:chOff x="0" y="-242163"/>
              <a:chExt cx="5943947" cy="1466340"/>
            </a:xfrm>
          </p:grpSpPr>
          <p:grpSp>
            <p:nvGrpSpPr>
              <p:cNvPr id="80" name="Group 3">
                <a:extLst>
                  <a:ext uri="{FF2B5EF4-FFF2-40B4-BE49-F238E27FC236}">
                    <a16:creationId xmlns:a16="http://schemas.microsoft.com/office/drawing/2014/main" id="{0230AA9A-B4F2-E3DE-E32A-EC0467AB2EAD}"/>
                  </a:ext>
                </a:extLst>
              </p:cNvPr>
              <p:cNvGrpSpPr/>
              <p:nvPr/>
            </p:nvGrpSpPr>
            <p:grpSpPr>
              <a:xfrm>
                <a:off x="528453" y="-242163"/>
                <a:ext cx="4652429" cy="1466340"/>
                <a:chOff x="0" y="-38100"/>
                <a:chExt cx="731977" cy="230702"/>
              </a:xfrm>
            </p:grpSpPr>
            <p:sp>
              <p:nvSpPr>
                <p:cNvPr id="87" name="Freeform 4">
                  <a:extLst>
                    <a:ext uri="{FF2B5EF4-FFF2-40B4-BE49-F238E27FC236}">
                      <a16:creationId xmlns:a16="http://schemas.microsoft.com/office/drawing/2014/main" id="{9FAB3FDC-3C67-4EFE-F1C1-DB1EC88A23C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731977" cy="192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977" h="192602">
                      <a:moveTo>
                        <a:pt x="0" y="0"/>
                      </a:moveTo>
                      <a:lnTo>
                        <a:pt x="731977" y="0"/>
                      </a:lnTo>
                      <a:lnTo>
                        <a:pt x="731977" y="192602"/>
                      </a:lnTo>
                      <a:lnTo>
                        <a:pt x="0" y="192602"/>
                      </a:lnTo>
                      <a:close/>
                    </a:path>
                  </a:pathLst>
                </a:custGeom>
                <a:solidFill>
                  <a:srgbClr val="25608A"/>
                </a:solidFill>
              </p:spPr>
              <p:txBody>
                <a:bodyPr/>
                <a:lstStyle/>
                <a:p>
                  <a:endParaRPr lang="pt-PT" sz="1050"/>
                </a:p>
              </p:txBody>
            </p:sp>
            <p:sp>
              <p:nvSpPr>
                <p:cNvPr id="88" name="TextBox 5">
                  <a:extLst>
                    <a:ext uri="{FF2B5EF4-FFF2-40B4-BE49-F238E27FC236}">
                      <a16:creationId xmlns:a16="http://schemas.microsoft.com/office/drawing/2014/main" id="{2AEE3ABA-5F75-B7A8-4BD0-CCB1FBCB882F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731977" cy="230702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1773"/>
                    </a:lnSpc>
                    <a:spcBef>
                      <a:spcPct val="0"/>
                    </a:spcBef>
                  </a:pPr>
                  <a:endParaRPr sz="1050"/>
                </a:p>
              </p:txBody>
            </p:sp>
          </p:grpSp>
          <p:grpSp>
            <p:nvGrpSpPr>
              <p:cNvPr id="81" name="Group 6">
                <a:extLst>
                  <a:ext uri="{FF2B5EF4-FFF2-40B4-BE49-F238E27FC236}">
                    <a16:creationId xmlns:a16="http://schemas.microsoft.com/office/drawing/2014/main" id="{7AA3285E-CB6A-37E0-6F7B-3B7347574D33}"/>
                  </a:ext>
                </a:extLst>
              </p:cNvPr>
              <p:cNvGrpSpPr/>
              <p:nvPr/>
            </p:nvGrpSpPr>
            <p:grpSpPr>
              <a:xfrm>
                <a:off x="4015681" y="-135581"/>
                <a:ext cx="1928266" cy="1359758"/>
                <a:chOff x="0" y="-57150"/>
                <a:chExt cx="812800" cy="573163"/>
              </a:xfrm>
            </p:grpSpPr>
            <p:sp>
              <p:nvSpPr>
                <p:cNvPr id="85" name="Freeform 7">
                  <a:extLst>
                    <a:ext uri="{FF2B5EF4-FFF2-40B4-BE49-F238E27FC236}">
                      <a16:creationId xmlns:a16="http://schemas.microsoft.com/office/drawing/2014/main" id="{36DA1BF7-FA86-DE74-A4F4-0D2C216E111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516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516013">
                      <a:moveTo>
                        <a:pt x="0" y="0"/>
                      </a:moveTo>
                      <a:lnTo>
                        <a:pt x="609600" y="0"/>
                      </a:lnTo>
                      <a:lnTo>
                        <a:pt x="812800" y="258007"/>
                      </a:lnTo>
                      <a:lnTo>
                        <a:pt x="609600" y="516013"/>
                      </a:lnTo>
                      <a:lnTo>
                        <a:pt x="0" y="516013"/>
                      </a:lnTo>
                      <a:lnTo>
                        <a:pt x="203200" y="2580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5608A"/>
                </a:solidFill>
              </p:spPr>
              <p:txBody>
                <a:bodyPr/>
                <a:lstStyle/>
                <a:p>
                  <a:endParaRPr lang="pt-PT" sz="1050" dirty="0"/>
                </a:p>
              </p:txBody>
            </p:sp>
            <p:sp>
              <p:nvSpPr>
                <p:cNvPr id="86" name="TextBox 8">
                  <a:extLst>
                    <a:ext uri="{FF2B5EF4-FFF2-40B4-BE49-F238E27FC236}">
                      <a16:creationId xmlns:a16="http://schemas.microsoft.com/office/drawing/2014/main" id="{F9DF943D-C06A-E871-50FF-B2F994BD4185}"/>
                    </a:ext>
                  </a:extLst>
                </p:cNvPr>
                <p:cNvSpPr txBox="1"/>
                <p:nvPr/>
              </p:nvSpPr>
              <p:spPr>
                <a:xfrm>
                  <a:off x="177800" y="-57150"/>
                  <a:ext cx="558800" cy="573163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2426"/>
                    </a:lnSpc>
                  </a:pPr>
                  <a:endParaRPr sz="1050"/>
                </a:p>
              </p:txBody>
            </p:sp>
          </p:grpSp>
          <p:grpSp>
            <p:nvGrpSpPr>
              <p:cNvPr id="82" name="Group 9">
                <a:extLst>
                  <a:ext uri="{FF2B5EF4-FFF2-40B4-BE49-F238E27FC236}">
                    <a16:creationId xmlns:a16="http://schemas.microsoft.com/office/drawing/2014/main" id="{319F66F9-7D58-2609-34DC-DBC602E11DEA}"/>
                  </a:ext>
                </a:extLst>
              </p:cNvPr>
              <p:cNvGrpSpPr/>
              <p:nvPr/>
            </p:nvGrpSpPr>
            <p:grpSpPr>
              <a:xfrm>
                <a:off x="0" y="-135581"/>
                <a:ext cx="1928266" cy="1359758"/>
                <a:chOff x="0" y="-57150"/>
                <a:chExt cx="812800" cy="573163"/>
              </a:xfrm>
            </p:grpSpPr>
            <p:sp>
              <p:nvSpPr>
                <p:cNvPr id="83" name="Freeform 10">
                  <a:extLst>
                    <a:ext uri="{FF2B5EF4-FFF2-40B4-BE49-F238E27FC236}">
                      <a16:creationId xmlns:a16="http://schemas.microsoft.com/office/drawing/2014/main" id="{FE86367D-D1E7-ECF3-4F9B-9730E5F8655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516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516013">
                      <a:moveTo>
                        <a:pt x="0" y="0"/>
                      </a:moveTo>
                      <a:lnTo>
                        <a:pt x="609600" y="0"/>
                      </a:lnTo>
                      <a:lnTo>
                        <a:pt x="812800" y="258007"/>
                      </a:lnTo>
                      <a:lnTo>
                        <a:pt x="609600" y="516013"/>
                      </a:lnTo>
                      <a:lnTo>
                        <a:pt x="0" y="516013"/>
                      </a:lnTo>
                      <a:lnTo>
                        <a:pt x="203200" y="2580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5608A"/>
                </a:solidFill>
              </p:spPr>
              <p:txBody>
                <a:bodyPr/>
                <a:lstStyle/>
                <a:p>
                  <a:endParaRPr lang="pt-PT" sz="1050"/>
                </a:p>
              </p:txBody>
            </p:sp>
            <p:sp>
              <p:nvSpPr>
                <p:cNvPr id="84" name="TextBox 11">
                  <a:extLst>
                    <a:ext uri="{FF2B5EF4-FFF2-40B4-BE49-F238E27FC236}">
                      <a16:creationId xmlns:a16="http://schemas.microsoft.com/office/drawing/2014/main" id="{87F90798-6B33-DCC1-503C-09F7D7D508D8}"/>
                    </a:ext>
                  </a:extLst>
                </p:cNvPr>
                <p:cNvSpPr txBox="1"/>
                <p:nvPr/>
              </p:nvSpPr>
              <p:spPr>
                <a:xfrm>
                  <a:off x="177800" y="-57150"/>
                  <a:ext cx="558800" cy="573163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2426"/>
                    </a:lnSpc>
                  </a:pPr>
                  <a:endParaRPr sz="1050"/>
                </a:p>
              </p:txBody>
            </p:sp>
          </p:grpSp>
        </p:grpSp>
        <p:grpSp>
          <p:nvGrpSpPr>
            <p:cNvPr id="6" name="Group 12">
              <a:extLst>
                <a:ext uri="{FF2B5EF4-FFF2-40B4-BE49-F238E27FC236}">
                  <a16:creationId xmlns:a16="http://schemas.microsoft.com/office/drawing/2014/main" id="{59A52998-C5FF-E895-16C8-583713616BD5}"/>
                </a:ext>
              </a:extLst>
            </p:cNvPr>
            <p:cNvGrpSpPr/>
            <p:nvPr/>
          </p:nvGrpSpPr>
          <p:grpSpPr>
            <a:xfrm>
              <a:off x="4862056" y="4280704"/>
              <a:ext cx="4457961" cy="1099756"/>
              <a:chOff x="0" y="-242163"/>
              <a:chExt cx="5943947" cy="1466340"/>
            </a:xfrm>
          </p:grpSpPr>
          <p:grpSp>
            <p:nvGrpSpPr>
              <p:cNvPr id="71" name="Group 13">
                <a:extLst>
                  <a:ext uri="{FF2B5EF4-FFF2-40B4-BE49-F238E27FC236}">
                    <a16:creationId xmlns:a16="http://schemas.microsoft.com/office/drawing/2014/main" id="{F083A306-5EC8-C454-F2F4-A5AF7C3A7F33}"/>
                  </a:ext>
                </a:extLst>
              </p:cNvPr>
              <p:cNvGrpSpPr/>
              <p:nvPr/>
            </p:nvGrpSpPr>
            <p:grpSpPr>
              <a:xfrm>
                <a:off x="528453" y="-242163"/>
                <a:ext cx="4652429" cy="1466340"/>
                <a:chOff x="0" y="-38100"/>
                <a:chExt cx="731977" cy="230702"/>
              </a:xfrm>
            </p:grpSpPr>
            <p:sp>
              <p:nvSpPr>
                <p:cNvPr id="78" name="Freeform 14">
                  <a:extLst>
                    <a:ext uri="{FF2B5EF4-FFF2-40B4-BE49-F238E27FC236}">
                      <a16:creationId xmlns:a16="http://schemas.microsoft.com/office/drawing/2014/main" id="{F2094635-337C-0377-9C97-2379226828C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731977" cy="192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977" h="192602">
                      <a:moveTo>
                        <a:pt x="0" y="0"/>
                      </a:moveTo>
                      <a:lnTo>
                        <a:pt x="731977" y="0"/>
                      </a:lnTo>
                      <a:lnTo>
                        <a:pt x="731977" y="192602"/>
                      </a:lnTo>
                      <a:lnTo>
                        <a:pt x="0" y="192602"/>
                      </a:lnTo>
                      <a:close/>
                    </a:path>
                  </a:pathLst>
                </a:custGeom>
                <a:solidFill>
                  <a:srgbClr val="03B5BD"/>
                </a:solidFill>
              </p:spPr>
              <p:txBody>
                <a:bodyPr/>
                <a:lstStyle/>
                <a:p>
                  <a:endParaRPr lang="pt-PT" sz="1050"/>
                </a:p>
              </p:txBody>
            </p:sp>
            <p:sp>
              <p:nvSpPr>
                <p:cNvPr id="79" name="TextBox 15">
                  <a:extLst>
                    <a:ext uri="{FF2B5EF4-FFF2-40B4-BE49-F238E27FC236}">
                      <a16:creationId xmlns:a16="http://schemas.microsoft.com/office/drawing/2014/main" id="{9CC31198-CBC9-1864-FD33-C9EBB25E965E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731977" cy="230702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1773"/>
                    </a:lnSpc>
                    <a:spcBef>
                      <a:spcPct val="0"/>
                    </a:spcBef>
                  </a:pPr>
                  <a:endParaRPr sz="1050"/>
                </a:p>
              </p:txBody>
            </p:sp>
          </p:grpSp>
          <p:grpSp>
            <p:nvGrpSpPr>
              <p:cNvPr id="72" name="Group 16">
                <a:extLst>
                  <a:ext uri="{FF2B5EF4-FFF2-40B4-BE49-F238E27FC236}">
                    <a16:creationId xmlns:a16="http://schemas.microsoft.com/office/drawing/2014/main" id="{F47C62D9-2587-E12B-9CBA-AEF9E1D74B32}"/>
                  </a:ext>
                </a:extLst>
              </p:cNvPr>
              <p:cNvGrpSpPr/>
              <p:nvPr/>
            </p:nvGrpSpPr>
            <p:grpSpPr>
              <a:xfrm>
                <a:off x="4015681" y="-135581"/>
                <a:ext cx="1928266" cy="1359758"/>
                <a:chOff x="0" y="-57150"/>
                <a:chExt cx="812800" cy="573163"/>
              </a:xfrm>
            </p:grpSpPr>
            <p:sp>
              <p:nvSpPr>
                <p:cNvPr id="76" name="Freeform 17">
                  <a:extLst>
                    <a:ext uri="{FF2B5EF4-FFF2-40B4-BE49-F238E27FC236}">
                      <a16:creationId xmlns:a16="http://schemas.microsoft.com/office/drawing/2014/main" id="{922825D8-9975-AD64-95E7-D2BB02CC37E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516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516013">
                      <a:moveTo>
                        <a:pt x="0" y="0"/>
                      </a:moveTo>
                      <a:lnTo>
                        <a:pt x="609600" y="0"/>
                      </a:lnTo>
                      <a:lnTo>
                        <a:pt x="812800" y="258007"/>
                      </a:lnTo>
                      <a:lnTo>
                        <a:pt x="609600" y="516013"/>
                      </a:lnTo>
                      <a:lnTo>
                        <a:pt x="0" y="516013"/>
                      </a:lnTo>
                      <a:lnTo>
                        <a:pt x="203200" y="2580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3B5BD"/>
                </a:solidFill>
              </p:spPr>
              <p:txBody>
                <a:bodyPr/>
                <a:lstStyle/>
                <a:p>
                  <a:endParaRPr lang="pt-PT" sz="1050"/>
                </a:p>
              </p:txBody>
            </p:sp>
            <p:sp>
              <p:nvSpPr>
                <p:cNvPr id="77" name="TextBox 18">
                  <a:extLst>
                    <a:ext uri="{FF2B5EF4-FFF2-40B4-BE49-F238E27FC236}">
                      <a16:creationId xmlns:a16="http://schemas.microsoft.com/office/drawing/2014/main" id="{466B0711-BA48-93C2-7D88-F1B782B1C958}"/>
                    </a:ext>
                  </a:extLst>
                </p:cNvPr>
                <p:cNvSpPr txBox="1"/>
                <p:nvPr/>
              </p:nvSpPr>
              <p:spPr>
                <a:xfrm>
                  <a:off x="177800" y="-57150"/>
                  <a:ext cx="558800" cy="573163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2426"/>
                    </a:lnSpc>
                  </a:pPr>
                  <a:endParaRPr sz="1050"/>
                </a:p>
              </p:txBody>
            </p:sp>
          </p:grpSp>
          <p:grpSp>
            <p:nvGrpSpPr>
              <p:cNvPr id="73" name="Group 19">
                <a:extLst>
                  <a:ext uri="{FF2B5EF4-FFF2-40B4-BE49-F238E27FC236}">
                    <a16:creationId xmlns:a16="http://schemas.microsoft.com/office/drawing/2014/main" id="{4A5E6E9D-C07E-F7E9-DFC2-040960879B16}"/>
                  </a:ext>
                </a:extLst>
              </p:cNvPr>
              <p:cNvGrpSpPr/>
              <p:nvPr/>
            </p:nvGrpSpPr>
            <p:grpSpPr>
              <a:xfrm>
                <a:off x="0" y="-135581"/>
                <a:ext cx="1928266" cy="1359758"/>
                <a:chOff x="0" y="-57150"/>
                <a:chExt cx="812800" cy="573163"/>
              </a:xfrm>
            </p:grpSpPr>
            <p:sp>
              <p:nvSpPr>
                <p:cNvPr id="74" name="Freeform 20">
                  <a:extLst>
                    <a:ext uri="{FF2B5EF4-FFF2-40B4-BE49-F238E27FC236}">
                      <a16:creationId xmlns:a16="http://schemas.microsoft.com/office/drawing/2014/main" id="{32441329-4ADE-288C-E367-C01183682B6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516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516013">
                      <a:moveTo>
                        <a:pt x="0" y="0"/>
                      </a:moveTo>
                      <a:lnTo>
                        <a:pt x="609600" y="0"/>
                      </a:lnTo>
                      <a:lnTo>
                        <a:pt x="812800" y="258007"/>
                      </a:lnTo>
                      <a:lnTo>
                        <a:pt x="609600" y="516013"/>
                      </a:lnTo>
                      <a:lnTo>
                        <a:pt x="0" y="516013"/>
                      </a:lnTo>
                      <a:lnTo>
                        <a:pt x="203200" y="2580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3B5BD"/>
                </a:solidFill>
              </p:spPr>
              <p:txBody>
                <a:bodyPr/>
                <a:lstStyle/>
                <a:p>
                  <a:endParaRPr lang="pt-PT" sz="1050"/>
                </a:p>
              </p:txBody>
            </p:sp>
            <p:sp>
              <p:nvSpPr>
                <p:cNvPr id="75" name="TextBox 21">
                  <a:extLst>
                    <a:ext uri="{FF2B5EF4-FFF2-40B4-BE49-F238E27FC236}">
                      <a16:creationId xmlns:a16="http://schemas.microsoft.com/office/drawing/2014/main" id="{87FAC1C2-3BB0-9C4A-5BC1-484155F32D48}"/>
                    </a:ext>
                  </a:extLst>
                </p:cNvPr>
                <p:cNvSpPr txBox="1"/>
                <p:nvPr/>
              </p:nvSpPr>
              <p:spPr>
                <a:xfrm>
                  <a:off x="177800" y="-57150"/>
                  <a:ext cx="558800" cy="573163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2426"/>
                    </a:lnSpc>
                  </a:pPr>
                  <a:endParaRPr sz="1050"/>
                </a:p>
              </p:txBody>
            </p:sp>
          </p:grpSp>
        </p:grpSp>
        <p:grpSp>
          <p:nvGrpSpPr>
            <p:cNvPr id="8" name="Group 22">
              <a:extLst>
                <a:ext uri="{FF2B5EF4-FFF2-40B4-BE49-F238E27FC236}">
                  <a16:creationId xmlns:a16="http://schemas.microsoft.com/office/drawing/2014/main" id="{B2D9674E-2B9C-F991-637D-72AAF8F4DD64}"/>
                </a:ext>
              </a:extLst>
            </p:cNvPr>
            <p:cNvGrpSpPr/>
            <p:nvPr/>
          </p:nvGrpSpPr>
          <p:grpSpPr>
            <a:xfrm>
              <a:off x="9168914" y="4280704"/>
              <a:ext cx="4457961" cy="1099756"/>
              <a:chOff x="0" y="-242163"/>
              <a:chExt cx="5943947" cy="1466340"/>
            </a:xfrm>
          </p:grpSpPr>
          <p:grpSp>
            <p:nvGrpSpPr>
              <p:cNvPr id="62" name="Group 23">
                <a:extLst>
                  <a:ext uri="{FF2B5EF4-FFF2-40B4-BE49-F238E27FC236}">
                    <a16:creationId xmlns:a16="http://schemas.microsoft.com/office/drawing/2014/main" id="{B9B1808C-A85A-200A-7DFF-5E6F01D3C5E9}"/>
                  </a:ext>
                </a:extLst>
              </p:cNvPr>
              <p:cNvGrpSpPr/>
              <p:nvPr/>
            </p:nvGrpSpPr>
            <p:grpSpPr>
              <a:xfrm>
                <a:off x="528453" y="-242163"/>
                <a:ext cx="4652429" cy="1466340"/>
                <a:chOff x="0" y="-38100"/>
                <a:chExt cx="731977" cy="230702"/>
              </a:xfrm>
            </p:grpSpPr>
            <p:sp>
              <p:nvSpPr>
                <p:cNvPr id="69" name="Freeform 24">
                  <a:extLst>
                    <a:ext uri="{FF2B5EF4-FFF2-40B4-BE49-F238E27FC236}">
                      <a16:creationId xmlns:a16="http://schemas.microsoft.com/office/drawing/2014/main" id="{C1BF47EC-702A-5CA5-35F9-7B784DDD692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731977" cy="192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977" h="192602">
                      <a:moveTo>
                        <a:pt x="0" y="0"/>
                      </a:moveTo>
                      <a:lnTo>
                        <a:pt x="731977" y="0"/>
                      </a:lnTo>
                      <a:lnTo>
                        <a:pt x="731977" y="192602"/>
                      </a:lnTo>
                      <a:lnTo>
                        <a:pt x="0" y="192602"/>
                      </a:lnTo>
                      <a:close/>
                    </a:path>
                  </a:pathLst>
                </a:custGeom>
                <a:solidFill>
                  <a:srgbClr val="2F9D9F"/>
                </a:solidFill>
              </p:spPr>
              <p:txBody>
                <a:bodyPr/>
                <a:lstStyle/>
                <a:p>
                  <a:endParaRPr lang="pt-PT" sz="1050"/>
                </a:p>
              </p:txBody>
            </p:sp>
            <p:sp>
              <p:nvSpPr>
                <p:cNvPr id="70" name="TextBox 25">
                  <a:extLst>
                    <a:ext uri="{FF2B5EF4-FFF2-40B4-BE49-F238E27FC236}">
                      <a16:creationId xmlns:a16="http://schemas.microsoft.com/office/drawing/2014/main" id="{C390CAFE-4117-5B9F-FECB-E862BD296054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731977" cy="230702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1773"/>
                    </a:lnSpc>
                    <a:spcBef>
                      <a:spcPct val="0"/>
                    </a:spcBef>
                  </a:pPr>
                  <a:endParaRPr sz="1050"/>
                </a:p>
              </p:txBody>
            </p:sp>
          </p:grpSp>
          <p:grpSp>
            <p:nvGrpSpPr>
              <p:cNvPr id="63" name="Group 26">
                <a:extLst>
                  <a:ext uri="{FF2B5EF4-FFF2-40B4-BE49-F238E27FC236}">
                    <a16:creationId xmlns:a16="http://schemas.microsoft.com/office/drawing/2014/main" id="{BCE68393-7ED4-58BA-6F5F-225A3B8B6B18}"/>
                  </a:ext>
                </a:extLst>
              </p:cNvPr>
              <p:cNvGrpSpPr/>
              <p:nvPr/>
            </p:nvGrpSpPr>
            <p:grpSpPr>
              <a:xfrm>
                <a:off x="4015681" y="-135581"/>
                <a:ext cx="1928266" cy="1359758"/>
                <a:chOff x="0" y="-57150"/>
                <a:chExt cx="812800" cy="573163"/>
              </a:xfrm>
            </p:grpSpPr>
            <p:sp>
              <p:nvSpPr>
                <p:cNvPr id="67" name="Freeform 27">
                  <a:extLst>
                    <a:ext uri="{FF2B5EF4-FFF2-40B4-BE49-F238E27FC236}">
                      <a16:creationId xmlns:a16="http://schemas.microsoft.com/office/drawing/2014/main" id="{A1383935-1044-CCBA-91B4-0286A78323E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516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516013">
                      <a:moveTo>
                        <a:pt x="0" y="0"/>
                      </a:moveTo>
                      <a:lnTo>
                        <a:pt x="609600" y="0"/>
                      </a:lnTo>
                      <a:lnTo>
                        <a:pt x="812800" y="258007"/>
                      </a:lnTo>
                      <a:lnTo>
                        <a:pt x="609600" y="516013"/>
                      </a:lnTo>
                      <a:lnTo>
                        <a:pt x="0" y="516013"/>
                      </a:lnTo>
                      <a:lnTo>
                        <a:pt x="203200" y="2580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F9D9F"/>
                </a:solidFill>
              </p:spPr>
              <p:txBody>
                <a:bodyPr/>
                <a:lstStyle/>
                <a:p>
                  <a:endParaRPr lang="pt-PT" sz="1050"/>
                </a:p>
              </p:txBody>
            </p:sp>
            <p:sp>
              <p:nvSpPr>
                <p:cNvPr id="68" name="TextBox 28">
                  <a:extLst>
                    <a:ext uri="{FF2B5EF4-FFF2-40B4-BE49-F238E27FC236}">
                      <a16:creationId xmlns:a16="http://schemas.microsoft.com/office/drawing/2014/main" id="{FDE8F8D9-D0FD-22A9-0853-7572B0AE9D67}"/>
                    </a:ext>
                  </a:extLst>
                </p:cNvPr>
                <p:cNvSpPr txBox="1"/>
                <p:nvPr/>
              </p:nvSpPr>
              <p:spPr>
                <a:xfrm>
                  <a:off x="177800" y="-57150"/>
                  <a:ext cx="558800" cy="573163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2426"/>
                    </a:lnSpc>
                  </a:pPr>
                  <a:endParaRPr sz="1050"/>
                </a:p>
              </p:txBody>
            </p:sp>
          </p:grpSp>
          <p:grpSp>
            <p:nvGrpSpPr>
              <p:cNvPr id="64" name="Group 29">
                <a:extLst>
                  <a:ext uri="{FF2B5EF4-FFF2-40B4-BE49-F238E27FC236}">
                    <a16:creationId xmlns:a16="http://schemas.microsoft.com/office/drawing/2014/main" id="{FA153196-D866-F00C-9A11-C54A0B17CF6B}"/>
                  </a:ext>
                </a:extLst>
              </p:cNvPr>
              <p:cNvGrpSpPr/>
              <p:nvPr/>
            </p:nvGrpSpPr>
            <p:grpSpPr>
              <a:xfrm>
                <a:off x="0" y="-135581"/>
                <a:ext cx="1928266" cy="1359758"/>
                <a:chOff x="0" y="-57150"/>
                <a:chExt cx="812800" cy="573163"/>
              </a:xfrm>
            </p:grpSpPr>
            <p:sp>
              <p:nvSpPr>
                <p:cNvPr id="65" name="Freeform 30">
                  <a:extLst>
                    <a:ext uri="{FF2B5EF4-FFF2-40B4-BE49-F238E27FC236}">
                      <a16:creationId xmlns:a16="http://schemas.microsoft.com/office/drawing/2014/main" id="{9A6D1D99-828E-39FE-9A7F-E3A9179D98C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516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516013">
                      <a:moveTo>
                        <a:pt x="0" y="0"/>
                      </a:moveTo>
                      <a:lnTo>
                        <a:pt x="609600" y="0"/>
                      </a:lnTo>
                      <a:lnTo>
                        <a:pt x="812800" y="258007"/>
                      </a:lnTo>
                      <a:lnTo>
                        <a:pt x="609600" y="516013"/>
                      </a:lnTo>
                      <a:lnTo>
                        <a:pt x="0" y="516013"/>
                      </a:lnTo>
                      <a:lnTo>
                        <a:pt x="203200" y="2580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F9D9F"/>
                </a:solidFill>
              </p:spPr>
              <p:txBody>
                <a:bodyPr/>
                <a:lstStyle/>
                <a:p>
                  <a:endParaRPr lang="pt-PT" sz="1050"/>
                </a:p>
              </p:txBody>
            </p:sp>
            <p:sp>
              <p:nvSpPr>
                <p:cNvPr id="66" name="TextBox 31">
                  <a:extLst>
                    <a:ext uri="{FF2B5EF4-FFF2-40B4-BE49-F238E27FC236}">
                      <a16:creationId xmlns:a16="http://schemas.microsoft.com/office/drawing/2014/main" id="{43FB44F4-0649-82F4-E80C-745CE0469E2D}"/>
                    </a:ext>
                  </a:extLst>
                </p:cNvPr>
                <p:cNvSpPr txBox="1"/>
                <p:nvPr/>
              </p:nvSpPr>
              <p:spPr>
                <a:xfrm>
                  <a:off x="177800" y="-57150"/>
                  <a:ext cx="558800" cy="573163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2426"/>
                    </a:lnSpc>
                  </a:pPr>
                  <a:endParaRPr sz="1050"/>
                </a:p>
              </p:txBody>
            </p:sp>
          </p:grpSp>
        </p:grpSp>
        <p:grpSp>
          <p:nvGrpSpPr>
            <p:cNvPr id="10" name="Group 32">
              <a:extLst>
                <a:ext uri="{FF2B5EF4-FFF2-40B4-BE49-F238E27FC236}">
                  <a16:creationId xmlns:a16="http://schemas.microsoft.com/office/drawing/2014/main" id="{D4C34A0F-93D7-9E9B-693E-9093D4388E54}"/>
                </a:ext>
              </a:extLst>
            </p:cNvPr>
            <p:cNvGrpSpPr/>
            <p:nvPr/>
          </p:nvGrpSpPr>
          <p:grpSpPr>
            <a:xfrm>
              <a:off x="13475771" y="4280704"/>
              <a:ext cx="4457961" cy="1099756"/>
              <a:chOff x="0" y="-242163"/>
              <a:chExt cx="5943947" cy="1466340"/>
            </a:xfrm>
          </p:grpSpPr>
          <p:grpSp>
            <p:nvGrpSpPr>
              <p:cNvPr id="53" name="Group 33">
                <a:extLst>
                  <a:ext uri="{FF2B5EF4-FFF2-40B4-BE49-F238E27FC236}">
                    <a16:creationId xmlns:a16="http://schemas.microsoft.com/office/drawing/2014/main" id="{673051CC-4DEC-3FA8-3156-5428E81ADE0E}"/>
                  </a:ext>
                </a:extLst>
              </p:cNvPr>
              <p:cNvGrpSpPr/>
              <p:nvPr/>
            </p:nvGrpSpPr>
            <p:grpSpPr>
              <a:xfrm>
                <a:off x="528453" y="-242163"/>
                <a:ext cx="4652429" cy="1466340"/>
                <a:chOff x="0" y="-38100"/>
                <a:chExt cx="731977" cy="230702"/>
              </a:xfrm>
            </p:grpSpPr>
            <p:sp>
              <p:nvSpPr>
                <p:cNvPr id="60" name="Freeform 34">
                  <a:extLst>
                    <a:ext uri="{FF2B5EF4-FFF2-40B4-BE49-F238E27FC236}">
                      <a16:creationId xmlns:a16="http://schemas.microsoft.com/office/drawing/2014/main" id="{FC9FB202-816F-4AFA-0D57-A3AE0E93F34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731977" cy="192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977" h="192602">
                      <a:moveTo>
                        <a:pt x="0" y="0"/>
                      </a:moveTo>
                      <a:lnTo>
                        <a:pt x="731977" y="0"/>
                      </a:lnTo>
                      <a:lnTo>
                        <a:pt x="731977" y="192602"/>
                      </a:lnTo>
                      <a:lnTo>
                        <a:pt x="0" y="192602"/>
                      </a:lnTo>
                      <a:close/>
                    </a:path>
                  </a:pathLst>
                </a:custGeom>
                <a:solidFill>
                  <a:srgbClr val="4FC496"/>
                </a:solidFill>
              </p:spPr>
              <p:txBody>
                <a:bodyPr/>
                <a:lstStyle/>
                <a:p>
                  <a:endParaRPr lang="pt-PT" sz="1050"/>
                </a:p>
              </p:txBody>
            </p:sp>
            <p:sp>
              <p:nvSpPr>
                <p:cNvPr id="61" name="TextBox 35">
                  <a:extLst>
                    <a:ext uri="{FF2B5EF4-FFF2-40B4-BE49-F238E27FC236}">
                      <a16:creationId xmlns:a16="http://schemas.microsoft.com/office/drawing/2014/main" id="{AE6EF6F5-C165-A282-0C95-4FEBE82CFD45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731977" cy="230702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1773"/>
                    </a:lnSpc>
                    <a:spcBef>
                      <a:spcPct val="0"/>
                    </a:spcBef>
                  </a:pPr>
                  <a:endParaRPr sz="1050"/>
                </a:p>
              </p:txBody>
            </p:sp>
          </p:grpSp>
          <p:grpSp>
            <p:nvGrpSpPr>
              <p:cNvPr id="54" name="Group 36">
                <a:extLst>
                  <a:ext uri="{FF2B5EF4-FFF2-40B4-BE49-F238E27FC236}">
                    <a16:creationId xmlns:a16="http://schemas.microsoft.com/office/drawing/2014/main" id="{36D166B8-5FCC-45B2-247D-0F77CC896D43}"/>
                  </a:ext>
                </a:extLst>
              </p:cNvPr>
              <p:cNvGrpSpPr/>
              <p:nvPr/>
            </p:nvGrpSpPr>
            <p:grpSpPr>
              <a:xfrm>
                <a:off x="4015681" y="-135581"/>
                <a:ext cx="1928266" cy="1359758"/>
                <a:chOff x="0" y="-57150"/>
                <a:chExt cx="812800" cy="573163"/>
              </a:xfrm>
            </p:grpSpPr>
            <p:sp>
              <p:nvSpPr>
                <p:cNvPr id="58" name="Freeform 37">
                  <a:extLst>
                    <a:ext uri="{FF2B5EF4-FFF2-40B4-BE49-F238E27FC236}">
                      <a16:creationId xmlns:a16="http://schemas.microsoft.com/office/drawing/2014/main" id="{CD17D976-742C-C737-099C-A4C7BF677C0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516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516013">
                      <a:moveTo>
                        <a:pt x="0" y="0"/>
                      </a:moveTo>
                      <a:lnTo>
                        <a:pt x="609600" y="0"/>
                      </a:lnTo>
                      <a:lnTo>
                        <a:pt x="812800" y="258007"/>
                      </a:lnTo>
                      <a:lnTo>
                        <a:pt x="609600" y="516013"/>
                      </a:lnTo>
                      <a:lnTo>
                        <a:pt x="0" y="516013"/>
                      </a:lnTo>
                      <a:lnTo>
                        <a:pt x="203200" y="2580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FC496"/>
                </a:solidFill>
              </p:spPr>
              <p:txBody>
                <a:bodyPr/>
                <a:lstStyle/>
                <a:p>
                  <a:endParaRPr lang="pt-PT" sz="1050"/>
                </a:p>
              </p:txBody>
            </p:sp>
            <p:sp>
              <p:nvSpPr>
                <p:cNvPr id="59" name="TextBox 38">
                  <a:extLst>
                    <a:ext uri="{FF2B5EF4-FFF2-40B4-BE49-F238E27FC236}">
                      <a16:creationId xmlns:a16="http://schemas.microsoft.com/office/drawing/2014/main" id="{94BE4845-99C5-1077-69DA-D0110ED38B5E}"/>
                    </a:ext>
                  </a:extLst>
                </p:cNvPr>
                <p:cNvSpPr txBox="1"/>
                <p:nvPr/>
              </p:nvSpPr>
              <p:spPr>
                <a:xfrm>
                  <a:off x="177800" y="-57150"/>
                  <a:ext cx="558800" cy="573163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2426"/>
                    </a:lnSpc>
                  </a:pPr>
                  <a:endParaRPr sz="1050"/>
                </a:p>
              </p:txBody>
            </p:sp>
          </p:grpSp>
          <p:grpSp>
            <p:nvGrpSpPr>
              <p:cNvPr id="55" name="Group 39">
                <a:extLst>
                  <a:ext uri="{FF2B5EF4-FFF2-40B4-BE49-F238E27FC236}">
                    <a16:creationId xmlns:a16="http://schemas.microsoft.com/office/drawing/2014/main" id="{48809CA5-604E-FED1-0B11-5FA281210CB0}"/>
                  </a:ext>
                </a:extLst>
              </p:cNvPr>
              <p:cNvGrpSpPr/>
              <p:nvPr/>
            </p:nvGrpSpPr>
            <p:grpSpPr>
              <a:xfrm>
                <a:off x="0" y="-135581"/>
                <a:ext cx="1928266" cy="1359758"/>
                <a:chOff x="0" y="-57150"/>
                <a:chExt cx="812800" cy="573163"/>
              </a:xfrm>
            </p:grpSpPr>
            <p:sp>
              <p:nvSpPr>
                <p:cNvPr id="56" name="Freeform 40">
                  <a:extLst>
                    <a:ext uri="{FF2B5EF4-FFF2-40B4-BE49-F238E27FC236}">
                      <a16:creationId xmlns:a16="http://schemas.microsoft.com/office/drawing/2014/main" id="{C9CA237C-3151-87DE-AF91-49AEC105C50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516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516013">
                      <a:moveTo>
                        <a:pt x="0" y="0"/>
                      </a:moveTo>
                      <a:lnTo>
                        <a:pt x="609600" y="0"/>
                      </a:lnTo>
                      <a:lnTo>
                        <a:pt x="812800" y="258007"/>
                      </a:lnTo>
                      <a:lnTo>
                        <a:pt x="609600" y="516013"/>
                      </a:lnTo>
                      <a:lnTo>
                        <a:pt x="0" y="516013"/>
                      </a:lnTo>
                      <a:lnTo>
                        <a:pt x="203200" y="2580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FC496"/>
                </a:solidFill>
              </p:spPr>
              <p:txBody>
                <a:bodyPr/>
                <a:lstStyle/>
                <a:p>
                  <a:endParaRPr lang="pt-PT" sz="1050"/>
                </a:p>
              </p:txBody>
            </p:sp>
            <p:sp>
              <p:nvSpPr>
                <p:cNvPr id="57" name="TextBox 41">
                  <a:extLst>
                    <a:ext uri="{FF2B5EF4-FFF2-40B4-BE49-F238E27FC236}">
                      <a16:creationId xmlns:a16="http://schemas.microsoft.com/office/drawing/2014/main" id="{855E68B1-BEC9-5A12-A76B-8F99F6827C06}"/>
                    </a:ext>
                  </a:extLst>
                </p:cNvPr>
                <p:cNvSpPr txBox="1"/>
                <p:nvPr/>
              </p:nvSpPr>
              <p:spPr>
                <a:xfrm>
                  <a:off x="177800" y="-57150"/>
                  <a:ext cx="558800" cy="573163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2426"/>
                    </a:lnSpc>
                  </a:pPr>
                  <a:endParaRPr sz="1050"/>
                </a:p>
              </p:txBody>
            </p:sp>
          </p:grpSp>
        </p:grpSp>
        <p:grpSp>
          <p:nvGrpSpPr>
            <p:cNvPr id="12" name="Group 42">
              <a:extLst>
                <a:ext uri="{FF2B5EF4-FFF2-40B4-BE49-F238E27FC236}">
                  <a16:creationId xmlns:a16="http://schemas.microsoft.com/office/drawing/2014/main" id="{21B26011-F071-F516-E200-9014C9190825}"/>
                </a:ext>
              </a:extLst>
            </p:cNvPr>
            <p:cNvGrpSpPr/>
            <p:nvPr/>
          </p:nvGrpSpPr>
          <p:grpSpPr>
            <a:xfrm>
              <a:off x="2404623" y="4117654"/>
              <a:ext cx="745142" cy="406428"/>
              <a:chOff x="0" y="0"/>
              <a:chExt cx="812800" cy="443331"/>
            </a:xfrm>
          </p:grpSpPr>
          <p:sp>
            <p:nvSpPr>
              <p:cNvPr id="51" name="Freeform 43">
                <a:extLst>
                  <a:ext uri="{FF2B5EF4-FFF2-40B4-BE49-F238E27FC236}">
                    <a16:creationId xmlns:a16="http://schemas.microsoft.com/office/drawing/2014/main" id="{721A08C8-A233-9CC2-988D-BEFC216642D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44333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43331">
                    <a:moveTo>
                      <a:pt x="406400" y="0"/>
                    </a:moveTo>
                    <a:lnTo>
                      <a:pt x="812800" y="443331"/>
                    </a:lnTo>
                    <a:lnTo>
                      <a:pt x="0" y="443331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25608A"/>
              </a:solidFill>
            </p:spPr>
            <p:txBody>
              <a:bodyPr/>
              <a:lstStyle/>
              <a:p>
                <a:endParaRPr lang="pt-PT" sz="1050"/>
              </a:p>
            </p:txBody>
          </p:sp>
          <p:sp>
            <p:nvSpPr>
              <p:cNvPr id="52" name="TextBox 44">
                <a:extLst>
                  <a:ext uri="{FF2B5EF4-FFF2-40B4-BE49-F238E27FC236}">
                    <a16:creationId xmlns:a16="http://schemas.microsoft.com/office/drawing/2014/main" id="{44EF65ED-CE45-8DC3-9E58-A6A35A31DB08}"/>
                  </a:ext>
                </a:extLst>
              </p:cNvPr>
              <p:cNvSpPr txBox="1"/>
              <p:nvPr/>
            </p:nvSpPr>
            <p:spPr>
              <a:xfrm>
                <a:off x="127000" y="148682"/>
                <a:ext cx="558800" cy="262982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426"/>
                  </a:lnSpc>
                </a:pPr>
                <a:endParaRPr sz="1050"/>
              </a:p>
            </p:txBody>
          </p:sp>
        </p:grpSp>
        <p:grpSp>
          <p:nvGrpSpPr>
            <p:cNvPr id="14" name="Group 45">
              <a:extLst>
                <a:ext uri="{FF2B5EF4-FFF2-40B4-BE49-F238E27FC236}">
                  <a16:creationId xmlns:a16="http://schemas.microsoft.com/office/drawing/2014/main" id="{74AF7CAB-7BFC-110A-92DF-F59CAD478831}"/>
                </a:ext>
              </a:extLst>
            </p:cNvPr>
            <p:cNvGrpSpPr/>
            <p:nvPr/>
          </p:nvGrpSpPr>
          <p:grpSpPr>
            <a:xfrm>
              <a:off x="11025323" y="4117654"/>
              <a:ext cx="745142" cy="406428"/>
              <a:chOff x="0" y="0"/>
              <a:chExt cx="812800" cy="443331"/>
            </a:xfrm>
          </p:grpSpPr>
          <p:sp>
            <p:nvSpPr>
              <p:cNvPr id="49" name="Freeform 46">
                <a:extLst>
                  <a:ext uri="{FF2B5EF4-FFF2-40B4-BE49-F238E27FC236}">
                    <a16:creationId xmlns:a16="http://schemas.microsoft.com/office/drawing/2014/main" id="{A2E6442C-F687-F4B8-0ACD-7446A40A2EF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44333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43331">
                    <a:moveTo>
                      <a:pt x="406400" y="0"/>
                    </a:moveTo>
                    <a:lnTo>
                      <a:pt x="812800" y="443331"/>
                    </a:lnTo>
                    <a:lnTo>
                      <a:pt x="0" y="443331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2F9D9F"/>
              </a:solidFill>
            </p:spPr>
            <p:txBody>
              <a:bodyPr/>
              <a:lstStyle/>
              <a:p>
                <a:endParaRPr lang="pt-PT" sz="1050"/>
              </a:p>
            </p:txBody>
          </p:sp>
          <p:sp>
            <p:nvSpPr>
              <p:cNvPr id="50" name="TextBox 47">
                <a:extLst>
                  <a:ext uri="{FF2B5EF4-FFF2-40B4-BE49-F238E27FC236}">
                    <a16:creationId xmlns:a16="http://schemas.microsoft.com/office/drawing/2014/main" id="{E0490A4B-2075-14AC-4F02-341474A33FB0}"/>
                  </a:ext>
                </a:extLst>
              </p:cNvPr>
              <p:cNvSpPr txBox="1"/>
              <p:nvPr/>
            </p:nvSpPr>
            <p:spPr>
              <a:xfrm>
                <a:off x="127000" y="148682"/>
                <a:ext cx="558800" cy="262982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426"/>
                  </a:lnSpc>
                </a:pPr>
                <a:endParaRPr sz="1050"/>
              </a:p>
            </p:txBody>
          </p:sp>
        </p:grpSp>
        <p:grpSp>
          <p:nvGrpSpPr>
            <p:cNvPr id="15" name="Group 48">
              <a:extLst>
                <a:ext uri="{FF2B5EF4-FFF2-40B4-BE49-F238E27FC236}">
                  <a16:creationId xmlns:a16="http://schemas.microsoft.com/office/drawing/2014/main" id="{6F4F2647-3CB1-5BED-44A5-B299E8BE3100}"/>
                </a:ext>
              </a:extLst>
            </p:cNvPr>
            <p:cNvGrpSpPr/>
            <p:nvPr/>
          </p:nvGrpSpPr>
          <p:grpSpPr>
            <a:xfrm rot="-10800000">
              <a:off x="6718466" y="5320666"/>
              <a:ext cx="745142" cy="406428"/>
              <a:chOff x="0" y="0"/>
              <a:chExt cx="812800" cy="443331"/>
            </a:xfrm>
          </p:grpSpPr>
          <p:sp>
            <p:nvSpPr>
              <p:cNvPr id="47" name="Freeform 49">
                <a:extLst>
                  <a:ext uri="{FF2B5EF4-FFF2-40B4-BE49-F238E27FC236}">
                    <a16:creationId xmlns:a16="http://schemas.microsoft.com/office/drawing/2014/main" id="{A5327D9F-E9C5-7C9A-593E-1446C07C42C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44333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43331">
                    <a:moveTo>
                      <a:pt x="406400" y="0"/>
                    </a:moveTo>
                    <a:lnTo>
                      <a:pt x="812800" y="443331"/>
                    </a:lnTo>
                    <a:lnTo>
                      <a:pt x="0" y="443331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3B5BD"/>
              </a:solidFill>
            </p:spPr>
            <p:txBody>
              <a:bodyPr/>
              <a:lstStyle/>
              <a:p>
                <a:endParaRPr lang="pt-PT" sz="1050"/>
              </a:p>
            </p:txBody>
          </p:sp>
          <p:sp>
            <p:nvSpPr>
              <p:cNvPr id="48" name="TextBox 50">
                <a:extLst>
                  <a:ext uri="{FF2B5EF4-FFF2-40B4-BE49-F238E27FC236}">
                    <a16:creationId xmlns:a16="http://schemas.microsoft.com/office/drawing/2014/main" id="{AF82C62E-78CB-74A9-5850-4DC46025034E}"/>
                  </a:ext>
                </a:extLst>
              </p:cNvPr>
              <p:cNvSpPr txBox="1"/>
              <p:nvPr/>
            </p:nvSpPr>
            <p:spPr>
              <a:xfrm>
                <a:off x="127000" y="148682"/>
                <a:ext cx="558800" cy="262982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426"/>
                  </a:lnSpc>
                </a:pPr>
                <a:endParaRPr sz="1050"/>
              </a:p>
            </p:txBody>
          </p:sp>
        </p:grpSp>
        <p:grpSp>
          <p:nvGrpSpPr>
            <p:cNvPr id="16" name="Group 51">
              <a:extLst>
                <a:ext uri="{FF2B5EF4-FFF2-40B4-BE49-F238E27FC236}">
                  <a16:creationId xmlns:a16="http://schemas.microsoft.com/office/drawing/2014/main" id="{7778CF5E-5193-C736-18A8-3A027ED8326B}"/>
                </a:ext>
              </a:extLst>
            </p:cNvPr>
            <p:cNvGrpSpPr/>
            <p:nvPr/>
          </p:nvGrpSpPr>
          <p:grpSpPr>
            <a:xfrm rot="-10800000">
              <a:off x="15336962" y="5320666"/>
              <a:ext cx="745142" cy="406428"/>
              <a:chOff x="0" y="0"/>
              <a:chExt cx="812800" cy="443331"/>
            </a:xfrm>
          </p:grpSpPr>
          <p:sp>
            <p:nvSpPr>
              <p:cNvPr id="45" name="Freeform 52">
                <a:extLst>
                  <a:ext uri="{FF2B5EF4-FFF2-40B4-BE49-F238E27FC236}">
                    <a16:creationId xmlns:a16="http://schemas.microsoft.com/office/drawing/2014/main" id="{A3833636-42D2-0BF9-D145-462842CB942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44333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43331">
                    <a:moveTo>
                      <a:pt x="406400" y="0"/>
                    </a:moveTo>
                    <a:lnTo>
                      <a:pt x="812800" y="443331"/>
                    </a:lnTo>
                    <a:lnTo>
                      <a:pt x="0" y="443331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4FC496"/>
              </a:solidFill>
            </p:spPr>
            <p:txBody>
              <a:bodyPr/>
              <a:lstStyle/>
              <a:p>
                <a:endParaRPr lang="pt-PT" sz="1050"/>
              </a:p>
            </p:txBody>
          </p:sp>
          <p:sp>
            <p:nvSpPr>
              <p:cNvPr id="46" name="TextBox 53">
                <a:extLst>
                  <a:ext uri="{FF2B5EF4-FFF2-40B4-BE49-F238E27FC236}">
                    <a16:creationId xmlns:a16="http://schemas.microsoft.com/office/drawing/2014/main" id="{6BFE2F15-8527-2F64-A33E-DE0563859B02}"/>
                  </a:ext>
                </a:extLst>
              </p:cNvPr>
              <p:cNvSpPr txBox="1"/>
              <p:nvPr/>
            </p:nvSpPr>
            <p:spPr>
              <a:xfrm>
                <a:off x="127000" y="148682"/>
                <a:ext cx="558800" cy="262982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426"/>
                  </a:lnSpc>
                </a:pPr>
                <a:endParaRPr sz="1050"/>
              </a:p>
            </p:txBody>
          </p:sp>
        </p:grpSp>
        <p:sp>
          <p:nvSpPr>
            <p:cNvPr id="17" name="AutoShape 54">
              <a:extLst>
                <a:ext uri="{FF2B5EF4-FFF2-40B4-BE49-F238E27FC236}">
                  <a16:creationId xmlns:a16="http://schemas.microsoft.com/office/drawing/2014/main" id="{1886A550-CB6A-BFFC-3974-5CD561612BD0}"/>
                </a:ext>
              </a:extLst>
            </p:cNvPr>
            <p:cNvSpPr/>
            <p:nvPr/>
          </p:nvSpPr>
          <p:spPr>
            <a:xfrm>
              <a:off x="2784179" y="2129063"/>
              <a:ext cx="0" cy="1669416"/>
            </a:xfrm>
            <a:prstGeom prst="line">
              <a:avLst/>
            </a:prstGeom>
            <a:ln w="85725" cap="flat">
              <a:solidFill>
                <a:srgbClr val="25608A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PT" sz="1050"/>
            </a:p>
          </p:txBody>
        </p:sp>
        <p:grpSp>
          <p:nvGrpSpPr>
            <p:cNvPr id="18" name="Group 55">
              <a:extLst>
                <a:ext uri="{FF2B5EF4-FFF2-40B4-BE49-F238E27FC236}">
                  <a16:creationId xmlns:a16="http://schemas.microsoft.com/office/drawing/2014/main" id="{402F14BF-126C-755F-AE06-A5B8971C94D6}"/>
                </a:ext>
              </a:extLst>
            </p:cNvPr>
            <p:cNvGrpSpPr/>
            <p:nvPr/>
          </p:nvGrpSpPr>
          <p:grpSpPr>
            <a:xfrm>
              <a:off x="10546702" y="681265"/>
              <a:ext cx="1702383" cy="1702383"/>
              <a:chOff x="0" y="0"/>
              <a:chExt cx="812800" cy="812800"/>
            </a:xfrm>
          </p:grpSpPr>
          <p:sp>
            <p:nvSpPr>
              <p:cNvPr id="43" name="Freeform 56">
                <a:extLst>
                  <a:ext uri="{FF2B5EF4-FFF2-40B4-BE49-F238E27FC236}">
                    <a16:creationId xmlns:a16="http://schemas.microsoft.com/office/drawing/2014/main" id="{0E87BC04-5B7C-D352-A474-D4188692F18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F9D9F"/>
              </a:solidFill>
            </p:spPr>
            <p:txBody>
              <a:bodyPr/>
              <a:lstStyle/>
              <a:p>
                <a:endParaRPr lang="pt-PT" sz="1050"/>
              </a:p>
            </p:txBody>
          </p:sp>
          <p:sp>
            <p:nvSpPr>
              <p:cNvPr id="44" name="TextBox 57">
                <a:extLst>
                  <a:ext uri="{FF2B5EF4-FFF2-40B4-BE49-F238E27FC236}">
                    <a16:creationId xmlns:a16="http://schemas.microsoft.com/office/drawing/2014/main" id="{15AE1B7D-3D9D-F0CC-C329-6BE2BE37A0BF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426"/>
                  </a:lnSpc>
                </a:pPr>
                <a:endParaRPr sz="1050"/>
              </a:p>
            </p:txBody>
          </p:sp>
        </p:grpSp>
        <p:sp>
          <p:nvSpPr>
            <p:cNvPr id="19" name="AutoShape 58">
              <a:extLst>
                <a:ext uri="{FF2B5EF4-FFF2-40B4-BE49-F238E27FC236}">
                  <a16:creationId xmlns:a16="http://schemas.microsoft.com/office/drawing/2014/main" id="{10C7D109-6345-607D-E1B9-F2E0D304F6F2}"/>
                </a:ext>
              </a:extLst>
            </p:cNvPr>
            <p:cNvSpPr/>
            <p:nvPr/>
          </p:nvSpPr>
          <p:spPr>
            <a:xfrm>
              <a:off x="11404879" y="2129063"/>
              <a:ext cx="0" cy="1669416"/>
            </a:xfrm>
            <a:prstGeom prst="line">
              <a:avLst/>
            </a:prstGeom>
            <a:ln w="85725" cap="flat">
              <a:solidFill>
                <a:srgbClr val="2F9D9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PT" sz="1050"/>
            </a:p>
          </p:txBody>
        </p:sp>
        <p:grpSp>
          <p:nvGrpSpPr>
            <p:cNvPr id="20" name="Group 59">
              <a:extLst>
                <a:ext uri="{FF2B5EF4-FFF2-40B4-BE49-F238E27FC236}">
                  <a16:creationId xmlns:a16="http://schemas.microsoft.com/office/drawing/2014/main" id="{E8B6DD8D-8E96-40D4-B462-3591538576D9}"/>
                </a:ext>
              </a:extLst>
            </p:cNvPr>
            <p:cNvGrpSpPr/>
            <p:nvPr/>
          </p:nvGrpSpPr>
          <p:grpSpPr>
            <a:xfrm>
              <a:off x="1932987" y="681265"/>
              <a:ext cx="1702383" cy="1702383"/>
              <a:chOff x="0" y="0"/>
              <a:chExt cx="812800" cy="812800"/>
            </a:xfrm>
          </p:grpSpPr>
          <p:sp>
            <p:nvSpPr>
              <p:cNvPr id="41" name="Freeform 60">
                <a:extLst>
                  <a:ext uri="{FF2B5EF4-FFF2-40B4-BE49-F238E27FC236}">
                    <a16:creationId xmlns:a16="http://schemas.microsoft.com/office/drawing/2014/main" id="{61F834C8-73E7-119B-9D2C-05377F07C0F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08A"/>
              </a:solidFill>
            </p:spPr>
            <p:txBody>
              <a:bodyPr/>
              <a:lstStyle/>
              <a:p>
                <a:endParaRPr lang="pt-PT" sz="1050"/>
              </a:p>
            </p:txBody>
          </p:sp>
          <p:sp>
            <p:nvSpPr>
              <p:cNvPr id="42" name="TextBox 61">
                <a:extLst>
                  <a:ext uri="{FF2B5EF4-FFF2-40B4-BE49-F238E27FC236}">
                    <a16:creationId xmlns:a16="http://schemas.microsoft.com/office/drawing/2014/main" id="{DFE8AB85-A463-2DBE-0FBC-0E1B62D77600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426"/>
                  </a:lnSpc>
                </a:pPr>
                <a:endParaRPr sz="1050"/>
              </a:p>
            </p:txBody>
          </p:sp>
        </p:grpSp>
        <p:grpSp>
          <p:nvGrpSpPr>
            <p:cNvPr id="21" name="Group 62">
              <a:extLst>
                <a:ext uri="{FF2B5EF4-FFF2-40B4-BE49-F238E27FC236}">
                  <a16:creationId xmlns:a16="http://schemas.microsoft.com/office/drawing/2014/main" id="{738E418D-A556-1948-2A02-431D68EAF373}"/>
                </a:ext>
              </a:extLst>
            </p:cNvPr>
            <p:cNvGrpSpPr/>
            <p:nvPr/>
          </p:nvGrpSpPr>
          <p:grpSpPr>
            <a:xfrm>
              <a:off x="6239845" y="7461099"/>
              <a:ext cx="1702383" cy="1702383"/>
              <a:chOff x="0" y="0"/>
              <a:chExt cx="812800" cy="812800"/>
            </a:xfrm>
          </p:grpSpPr>
          <p:sp>
            <p:nvSpPr>
              <p:cNvPr id="39" name="Freeform 63">
                <a:extLst>
                  <a:ext uri="{FF2B5EF4-FFF2-40B4-BE49-F238E27FC236}">
                    <a16:creationId xmlns:a16="http://schemas.microsoft.com/office/drawing/2014/main" id="{032401AA-67D9-BABA-4AE8-A24B6385F43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3B5BD"/>
              </a:solidFill>
            </p:spPr>
            <p:txBody>
              <a:bodyPr/>
              <a:lstStyle/>
              <a:p>
                <a:endParaRPr lang="pt-PT" sz="1050"/>
              </a:p>
            </p:txBody>
          </p:sp>
          <p:sp>
            <p:nvSpPr>
              <p:cNvPr id="40" name="TextBox 64">
                <a:extLst>
                  <a:ext uri="{FF2B5EF4-FFF2-40B4-BE49-F238E27FC236}">
                    <a16:creationId xmlns:a16="http://schemas.microsoft.com/office/drawing/2014/main" id="{36D8DFBF-39DC-8850-8A2A-1D5DBD5288C2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426"/>
                  </a:lnSpc>
                </a:pPr>
                <a:endParaRPr sz="1050"/>
              </a:p>
            </p:txBody>
          </p:sp>
        </p:grpSp>
        <p:grpSp>
          <p:nvGrpSpPr>
            <p:cNvPr id="22" name="Group 65">
              <a:extLst>
                <a:ext uri="{FF2B5EF4-FFF2-40B4-BE49-F238E27FC236}">
                  <a16:creationId xmlns:a16="http://schemas.microsoft.com/office/drawing/2014/main" id="{12D78003-0766-CA5D-F8B7-620933AE3802}"/>
                </a:ext>
              </a:extLst>
            </p:cNvPr>
            <p:cNvGrpSpPr/>
            <p:nvPr/>
          </p:nvGrpSpPr>
          <p:grpSpPr>
            <a:xfrm>
              <a:off x="14867530" y="7461099"/>
              <a:ext cx="1702383" cy="1702383"/>
              <a:chOff x="0" y="0"/>
              <a:chExt cx="812800" cy="812800"/>
            </a:xfrm>
          </p:grpSpPr>
          <p:sp>
            <p:nvSpPr>
              <p:cNvPr id="37" name="Freeform 66">
                <a:extLst>
                  <a:ext uri="{FF2B5EF4-FFF2-40B4-BE49-F238E27FC236}">
                    <a16:creationId xmlns:a16="http://schemas.microsoft.com/office/drawing/2014/main" id="{B9515594-8641-1ADB-F43F-587E30FBF48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FC496"/>
              </a:solidFill>
            </p:spPr>
            <p:txBody>
              <a:bodyPr/>
              <a:lstStyle/>
              <a:p>
                <a:endParaRPr lang="pt-PT" sz="1050"/>
              </a:p>
            </p:txBody>
          </p:sp>
          <p:sp>
            <p:nvSpPr>
              <p:cNvPr id="38" name="TextBox 67">
                <a:extLst>
                  <a:ext uri="{FF2B5EF4-FFF2-40B4-BE49-F238E27FC236}">
                    <a16:creationId xmlns:a16="http://schemas.microsoft.com/office/drawing/2014/main" id="{CAC6D8FA-E346-66DE-E8D2-CDD30C42A4A0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426"/>
                  </a:lnSpc>
                </a:pPr>
                <a:endParaRPr sz="1050"/>
              </a:p>
            </p:txBody>
          </p:sp>
        </p:grpSp>
        <p:sp>
          <p:nvSpPr>
            <p:cNvPr id="23" name="AutoShape 68">
              <a:extLst>
                <a:ext uri="{FF2B5EF4-FFF2-40B4-BE49-F238E27FC236}">
                  <a16:creationId xmlns:a16="http://schemas.microsoft.com/office/drawing/2014/main" id="{E79D16E7-F60E-8536-C0DB-DFD43C52EE50}"/>
                </a:ext>
              </a:extLst>
            </p:cNvPr>
            <p:cNvSpPr/>
            <p:nvPr/>
          </p:nvSpPr>
          <p:spPr>
            <a:xfrm flipV="1">
              <a:off x="7091036" y="6046269"/>
              <a:ext cx="0" cy="1669416"/>
            </a:xfrm>
            <a:prstGeom prst="line">
              <a:avLst/>
            </a:prstGeom>
            <a:ln w="85725" cap="flat">
              <a:solidFill>
                <a:srgbClr val="03B5B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PT" sz="1050"/>
            </a:p>
          </p:txBody>
        </p:sp>
        <p:sp>
          <p:nvSpPr>
            <p:cNvPr id="24" name="AutoShape 69">
              <a:extLst>
                <a:ext uri="{FF2B5EF4-FFF2-40B4-BE49-F238E27FC236}">
                  <a16:creationId xmlns:a16="http://schemas.microsoft.com/office/drawing/2014/main" id="{8E7C34EA-40D5-89CE-75A4-B9449C2D1D25}"/>
                </a:ext>
              </a:extLst>
            </p:cNvPr>
            <p:cNvSpPr/>
            <p:nvPr/>
          </p:nvSpPr>
          <p:spPr>
            <a:xfrm flipV="1">
              <a:off x="15718722" y="6046269"/>
              <a:ext cx="0" cy="1669416"/>
            </a:xfrm>
            <a:prstGeom prst="line">
              <a:avLst/>
            </a:prstGeom>
            <a:ln w="85725" cap="flat">
              <a:solidFill>
                <a:srgbClr val="4FC49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PT" sz="1050"/>
            </a:p>
          </p:txBody>
        </p:sp>
        <p:sp>
          <p:nvSpPr>
            <p:cNvPr id="25" name="Freeform 70">
              <a:extLst>
                <a:ext uri="{FF2B5EF4-FFF2-40B4-BE49-F238E27FC236}">
                  <a16:creationId xmlns:a16="http://schemas.microsoft.com/office/drawing/2014/main" id="{7F22708A-8AED-1329-F6DD-A0E6B028C4D2}"/>
                </a:ext>
              </a:extLst>
            </p:cNvPr>
            <p:cNvSpPr/>
            <p:nvPr/>
          </p:nvSpPr>
          <p:spPr>
            <a:xfrm>
              <a:off x="2272479" y="977529"/>
              <a:ext cx="1023400" cy="1050989"/>
            </a:xfrm>
            <a:custGeom>
              <a:avLst/>
              <a:gdLst/>
              <a:ahLst/>
              <a:cxnLst/>
              <a:rect l="l" t="t" r="r" b="b"/>
              <a:pathLst>
                <a:path w="1023400" h="1050989">
                  <a:moveTo>
                    <a:pt x="0" y="0"/>
                  </a:moveTo>
                  <a:lnTo>
                    <a:pt x="1023400" y="0"/>
                  </a:lnTo>
                  <a:lnTo>
                    <a:pt x="1023400" y="1050989"/>
                  </a:lnTo>
                  <a:lnTo>
                    <a:pt x="0" y="1050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 sz="1050"/>
            </a:p>
          </p:txBody>
        </p:sp>
        <p:sp>
          <p:nvSpPr>
            <p:cNvPr id="26" name="Freeform 71">
              <a:extLst>
                <a:ext uri="{FF2B5EF4-FFF2-40B4-BE49-F238E27FC236}">
                  <a16:creationId xmlns:a16="http://schemas.microsoft.com/office/drawing/2014/main" id="{9448CFEB-3736-431C-8358-9001AEFBC0C9}"/>
                </a:ext>
              </a:extLst>
            </p:cNvPr>
            <p:cNvSpPr/>
            <p:nvPr/>
          </p:nvSpPr>
          <p:spPr>
            <a:xfrm>
              <a:off x="6704871" y="7837867"/>
              <a:ext cx="891917" cy="948848"/>
            </a:xfrm>
            <a:custGeom>
              <a:avLst/>
              <a:gdLst/>
              <a:ahLst/>
              <a:cxnLst/>
              <a:rect l="l" t="t" r="r" b="b"/>
              <a:pathLst>
                <a:path w="891917" h="948848">
                  <a:moveTo>
                    <a:pt x="0" y="0"/>
                  </a:moveTo>
                  <a:lnTo>
                    <a:pt x="891917" y="0"/>
                  </a:lnTo>
                  <a:lnTo>
                    <a:pt x="891917" y="948848"/>
                  </a:lnTo>
                  <a:lnTo>
                    <a:pt x="0" y="948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 sz="1050"/>
            </a:p>
          </p:txBody>
        </p:sp>
        <p:sp>
          <p:nvSpPr>
            <p:cNvPr id="27" name="Freeform 72">
              <a:extLst>
                <a:ext uri="{FF2B5EF4-FFF2-40B4-BE49-F238E27FC236}">
                  <a16:creationId xmlns:a16="http://schemas.microsoft.com/office/drawing/2014/main" id="{0B461D73-9C79-DE63-96D7-09A5E23E1794}"/>
                </a:ext>
              </a:extLst>
            </p:cNvPr>
            <p:cNvSpPr/>
            <p:nvPr/>
          </p:nvSpPr>
          <p:spPr>
            <a:xfrm>
              <a:off x="10825748" y="952601"/>
              <a:ext cx="1158262" cy="1159712"/>
            </a:xfrm>
            <a:custGeom>
              <a:avLst/>
              <a:gdLst/>
              <a:ahLst/>
              <a:cxnLst/>
              <a:rect l="l" t="t" r="r" b="b"/>
              <a:pathLst>
                <a:path w="1158262" h="1159712">
                  <a:moveTo>
                    <a:pt x="0" y="0"/>
                  </a:moveTo>
                  <a:lnTo>
                    <a:pt x="1158262" y="0"/>
                  </a:lnTo>
                  <a:lnTo>
                    <a:pt x="1158262" y="1159712"/>
                  </a:lnTo>
                  <a:lnTo>
                    <a:pt x="0" y="1159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 sz="1050"/>
            </a:p>
          </p:txBody>
        </p:sp>
        <p:sp>
          <p:nvSpPr>
            <p:cNvPr id="28" name="Freeform 73">
              <a:extLst>
                <a:ext uri="{FF2B5EF4-FFF2-40B4-BE49-F238E27FC236}">
                  <a16:creationId xmlns:a16="http://schemas.microsoft.com/office/drawing/2014/main" id="{F78380E2-8F2A-7B4C-67B9-32BB62E65850}"/>
                </a:ext>
              </a:extLst>
            </p:cNvPr>
            <p:cNvSpPr/>
            <p:nvPr/>
          </p:nvSpPr>
          <p:spPr>
            <a:xfrm>
              <a:off x="15213533" y="7879747"/>
              <a:ext cx="1058212" cy="865089"/>
            </a:xfrm>
            <a:custGeom>
              <a:avLst/>
              <a:gdLst/>
              <a:ahLst/>
              <a:cxnLst/>
              <a:rect l="l" t="t" r="r" b="b"/>
              <a:pathLst>
                <a:path w="1058212" h="865089">
                  <a:moveTo>
                    <a:pt x="0" y="0"/>
                  </a:moveTo>
                  <a:lnTo>
                    <a:pt x="1058212" y="0"/>
                  </a:lnTo>
                  <a:lnTo>
                    <a:pt x="1058212" y="865088"/>
                  </a:lnTo>
                  <a:lnTo>
                    <a:pt x="0" y="865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 sz="1050"/>
            </a:p>
          </p:txBody>
        </p:sp>
        <p:sp>
          <p:nvSpPr>
            <p:cNvPr id="29" name="TextBox 74">
              <a:extLst>
                <a:ext uri="{FF2B5EF4-FFF2-40B4-BE49-F238E27FC236}">
                  <a16:creationId xmlns:a16="http://schemas.microsoft.com/office/drawing/2014/main" id="{170ED8DB-91D8-9C34-CE13-C7C5EF232DB9}"/>
                </a:ext>
              </a:extLst>
            </p:cNvPr>
            <p:cNvSpPr txBox="1"/>
            <p:nvPr/>
          </p:nvSpPr>
          <p:spPr>
            <a:xfrm>
              <a:off x="1883681" y="4609167"/>
              <a:ext cx="1787025" cy="669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46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FFFFFF"/>
                  </a:solidFill>
                </a:rPr>
                <a:t>Planning</a:t>
              </a:r>
            </a:p>
          </p:txBody>
        </p:sp>
        <p:sp>
          <p:nvSpPr>
            <p:cNvPr id="30" name="TextBox 75">
              <a:extLst>
                <a:ext uri="{FF2B5EF4-FFF2-40B4-BE49-F238E27FC236}">
                  <a16:creationId xmlns:a16="http://schemas.microsoft.com/office/drawing/2014/main" id="{A1010620-E42B-F9DF-3865-25D7A2BE046D}"/>
                </a:ext>
              </a:extLst>
            </p:cNvPr>
            <p:cNvSpPr txBox="1"/>
            <p:nvPr/>
          </p:nvSpPr>
          <p:spPr>
            <a:xfrm>
              <a:off x="6205876" y="4609167"/>
              <a:ext cx="1770326" cy="669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46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FFFFFF"/>
                  </a:solidFill>
                </a:rPr>
                <a:t>Training</a:t>
              </a:r>
            </a:p>
          </p:txBody>
        </p:sp>
        <p:sp>
          <p:nvSpPr>
            <p:cNvPr id="31" name="TextBox 76">
              <a:extLst>
                <a:ext uri="{FF2B5EF4-FFF2-40B4-BE49-F238E27FC236}">
                  <a16:creationId xmlns:a16="http://schemas.microsoft.com/office/drawing/2014/main" id="{61D39199-7165-DD7E-B40C-44A319C20867}"/>
                </a:ext>
              </a:extLst>
            </p:cNvPr>
            <p:cNvSpPr txBox="1"/>
            <p:nvPr/>
          </p:nvSpPr>
          <p:spPr>
            <a:xfrm>
              <a:off x="619681" y="5928700"/>
              <a:ext cx="5019789" cy="252844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34"/>
                </a:lnSpc>
              </a:pPr>
              <a:r>
                <a:rPr lang="en-US" sz="1400" b="1" u="sng" dirty="0">
                  <a:solidFill>
                    <a:srgbClr val="000000"/>
                  </a:solidFill>
                </a:rPr>
                <a:t>FY25 Q2 &amp; Q3</a:t>
              </a:r>
            </a:p>
            <a:p>
              <a:pPr marL="307219" lvl="1" indent="-153610" algn="just">
                <a:lnSpc>
                  <a:spcPts val="2134"/>
                </a:lnSpc>
                <a:buAutoNum type="arabicPeriod"/>
              </a:pPr>
              <a:r>
                <a:rPr lang="en-US" sz="1400" dirty="0"/>
                <a:t>Sero-Survey IRB Approval; </a:t>
              </a:r>
            </a:p>
            <a:p>
              <a:pPr marL="307219" lvl="1" indent="-153610" algn="just">
                <a:lnSpc>
                  <a:spcPts val="2134"/>
                </a:lnSpc>
                <a:buAutoNum type="arabicPeriod"/>
              </a:pPr>
              <a:r>
                <a:rPr lang="en-GB" sz="1400" spc="13" dirty="0"/>
                <a:t>On-site assessment of SIS-COVE community field teams and </a:t>
              </a:r>
              <a:r>
                <a:rPr lang="en-GB" sz="1400" spc="13" dirty="0" err="1"/>
                <a:t>Clustres</a:t>
              </a:r>
              <a:r>
                <a:rPr lang="en-GB" sz="1400" spc="13" dirty="0"/>
                <a:t>.</a:t>
              </a:r>
            </a:p>
            <a:p>
              <a:pPr marL="307219" lvl="1" indent="-153610" algn="just">
                <a:lnSpc>
                  <a:spcPts val="2134"/>
                </a:lnSpc>
                <a:buAutoNum type="arabicPeriod"/>
              </a:pPr>
              <a:endParaRPr lang="en-GB" sz="1200" dirty="0">
                <a:solidFill>
                  <a:srgbClr val="000000"/>
                </a:solidFill>
              </a:endParaRPr>
            </a:p>
          </p:txBody>
        </p:sp>
        <p:sp>
          <p:nvSpPr>
            <p:cNvPr id="32" name="TextBox 77">
              <a:extLst>
                <a:ext uri="{FF2B5EF4-FFF2-40B4-BE49-F238E27FC236}">
                  <a16:creationId xmlns:a16="http://schemas.microsoft.com/office/drawing/2014/main" id="{B35110D2-A59E-6686-B610-E9C082C350E9}"/>
                </a:ext>
              </a:extLst>
            </p:cNvPr>
            <p:cNvSpPr txBox="1"/>
            <p:nvPr/>
          </p:nvSpPr>
          <p:spPr>
            <a:xfrm>
              <a:off x="8837567" y="5928698"/>
              <a:ext cx="5870363" cy="304435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34"/>
                </a:lnSpc>
                <a:spcBef>
                  <a:spcPct val="0"/>
                </a:spcBef>
              </a:pPr>
              <a:r>
                <a:rPr lang="en-US" sz="1400" b="1" u="sng" dirty="0"/>
                <a:t>FY26 Q1, Q2 &amp; Q3</a:t>
              </a:r>
            </a:p>
            <a:p>
              <a:pPr marL="307220" lvl="1" indent="-153610" algn="just">
                <a:lnSpc>
                  <a:spcPts val="2134"/>
                </a:lnSpc>
                <a:spcBef>
                  <a:spcPct val="0"/>
                </a:spcBef>
                <a:buAutoNum type="arabicPeriod"/>
              </a:pPr>
              <a:r>
                <a:rPr lang="en-GB" sz="1400" dirty="0"/>
                <a:t>Implementation of the </a:t>
              </a:r>
              <a:r>
                <a:rPr lang="en-US" sz="1400" dirty="0"/>
                <a:t>Serosurvey Maputo City, Tete and Zambezia;</a:t>
              </a:r>
            </a:p>
            <a:p>
              <a:pPr marL="307220" lvl="1" indent="-153610" algn="just">
                <a:lnSpc>
                  <a:spcPts val="2134"/>
                </a:lnSpc>
                <a:spcBef>
                  <a:spcPct val="0"/>
                </a:spcBef>
                <a:buAutoNum type="arabicPeriod"/>
              </a:pPr>
              <a:r>
                <a:rPr lang="en-US" sz="1400" dirty="0"/>
                <a:t>Start data collection in Maputo, Tete and Zambezia </a:t>
              </a:r>
              <a:r>
                <a:rPr lang="en-GB" sz="1400" spc="13" dirty="0"/>
                <a:t>SIS-COVE </a:t>
              </a:r>
              <a:r>
                <a:rPr lang="en-GB" sz="1400" b="1" spc="13" dirty="0"/>
                <a:t>community clusters</a:t>
              </a:r>
              <a:r>
                <a:rPr lang="en-GB" sz="1400" spc="13" dirty="0"/>
                <a:t>.</a:t>
              </a:r>
              <a:endParaRPr lang="en-US" sz="1400" dirty="0"/>
            </a:p>
            <a:p>
              <a:pPr marL="307220" lvl="1" indent="-153610" algn="just">
                <a:lnSpc>
                  <a:spcPts val="2134"/>
                </a:lnSpc>
                <a:spcBef>
                  <a:spcPct val="0"/>
                </a:spcBef>
                <a:buAutoNum type="arabicPeriod"/>
              </a:pPr>
              <a:endParaRPr lang="en-US" sz="1200" dirty="0">
                <a:solidFill>
                  <a:srgbClr val="000000"/>
                </a:solidFill>
              </a:endParaRPr>
            </a:p>
          </p:txBody>
        </p:sp>
        <p:sp>
          <p:nvSpPr>
            <p:cNvPr id="33" name="TextBox 78">
              <a:extLst>
                <a:ext uri="{FF2B5EF4-FFF2-40B4-BE49-F238E27FC236}">
                  <a16:creationId xmlns:a16="http://schemas.microsoft.com/office/drawing/2014/main" id="{A1A2057D-CD84-32EC-010C-68DD6318F5E1}"/>
                </a:ext>
              </a:extLst>
            </p:cNvPr>
            <p:cNvSpPr txBox="1"/>
            <p:nvPr/>
          </p:nvSpPr>
          <p:spPr>
            <a:xfrm>
              <a:off x="9343543" y="4521793"/>
              <a:ext cx="4291636" cy="6694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046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FFFFFF"/>
                  </a:solidFill>
                </a:rPr>
                <a:t>Execution- Data Collection</a:t>
              </a:r>
            </a:p>
          </p:txBody>
        </p:sp>
        <p:sp>
          <p:nvSpPr>
            <p:cNvPr id="34" name="TextBox 79">
              <a:extLst>
                <a:ext uri="{FF2B5EF4-FFF2-40B4-BE49-F238E27FC236}">
                  <a16:creationId xmlns:a16="http://schemas.microsoft.com/office/drawing/2014/main" id="{DA079F8F-2F0E-1BA6-151D-3025B7E9BA71}"/>
                </a:ext>
              </a:extLst>
            </p:cNvPr>
            <p:cNvSpPr txBox="1"/>
            <p:nvPr/>
          </p:nvSpPr>
          <p:spPr>
            <a:xfrm>
              <a:off x="14592553" y="4566075"/>
              <a:ext cx="2233956" cy="669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46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FFFFFF"/>
                  </a:solidFill>
                </a:rPr>
                <a:t>Monitoring</a:t>
              </a:r>
            </a:p>
          </p:txBody>
        </p:sp>
        <p:sp>
          <p:nvSpPr>
            <p:cNvPr id="35" name="TextBox 80">
              <a:extLst>
                <a:ext uri="{FF2B5EF4-FFF2-40B4-BE49-F238E27FC236}">
                  <a16:creationId xmlns:a16="http://schemas.microsoft.com/office/drawing/2014/main" id="{7D921BF6-8288-2AD2-5710-F5E7E5B44FF1}"/>
                </a:ext>
              </a:extLst>
            </p:cNvPr>
            <p:cNvSpPr txBox="1"/>
            <p:nvPr/>
          </p:nvSpPr>
          <p:spPr>
            <a:xfrm>
              <a:off x="4586750" y="826183"/>
              <a:ext cx="5128156" cy="356026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34"/>
                </a:lnSpc>
              </a:pPr>
              <a:r>
                <a:rPr lang="en-US" sz="1400" b="1" u="sng" dirty="0">
                  <a:solidFill>
                    <a:srgbClr val="000000"/>
                  </a:solidFill>
                </a:rPr>
                <a:t>FY25 Q4</a:t>
              </a:r>
            </a:p>
            <a:p>
              <a:pPr marL="307219" lvl="1" indent="-153610" algn="just">
                <a:lnSpc>
                  <a:spcPts val="2134"/>
                </a:lnSpc>
                <a:buFontTx/>
                <a:buAutoNum type="arabicPeriod"/>
              </a:pPr>
              <a:r>
                <a:rPr lang="en-US" sz="1400" dirty="0"/>
                <a:t>Serosurvey trainers' training (TOT);</a:t>
              </a:r>
            </a:p>
            <a:p>
              <a:pPr marL="307219" lvl="1" indent="-153610" algn="just">
                <a:lnSpc>
                  <a:spcPts val="2134"/>
                </a:lnSpc>
                <a:buFontTx/>
                <a:buAutoNum type="arabicPeriod"/>
              </a:pPr>
              <a:r>
                <a:rPr lang="en-US" sz="1400" dirty="0"/>
                <a:t>Training of community mobilizers (CSA);</a:t>
              </a:r>
            </a:p>
            <a:p>
              <a:pPr marL="307219" lvl="1" indent="-153610" algn="just">
                <a:lnSpc>
                  <a:spcPts val="2134"/>
                </a:lnSpc>
                <a:buAutoNum type="arabicPeriod"/>
              </a:pPr>
              <a:r>
                <a:rPr lang="en-GB" sz="1400" dirty="0"/>
                <a:t>In-person capacity-building (TOI) of field teams (Nurses and SISCOVE VASAs) for field entry and data collection.</a:t>
              </a:r>
            </a:p>
            <a:p>
              <a:pPr marL="307219" lvl="1" indent="-153610" algn="just">
                <a:lnSpc>
                  <a:spcPts val="2134"/>
                </a:lnSpc>
                <a:buAutoNum type="arabicPeriod"/>
              </a:pPr>
              <a:endParaRPr lang="en-US" sz="1200" dirty="0">
                <a:solidFill>
                  <a:srgbClr val="000000"/>
                </a:solidFill>
              </a:endParaRPr>
            </a:p>
          </p:txBody>
        </p:sp>
        <p:sp>
          <p:nvSpPr>
            <p:cNvPr id="36" name="TextBox 81">
              <a:extLst>
                <a:ext uri="{FF2B5EF4-FFF2-40B4-BE49-F238E27FC236}">
                  <a16:creationId xmlns:a16="http://schemas.microsoft.com/office/drawing/2014/main" id="{50FF9A11-3101-4F11-230C-C3FFE6A34861}"/>
                </a:ext>
              </a:extLst>
            </p:cNvPr>
            <p:cNvSpPr txBox="1"/>
            <p:nvPr/>
          </p:nvSpPr>
          <p:spPr>
            <a:xfrm>
              <a:off x="13080880" y="1625255"/>
              <a:ext cx="4526170" cy="202543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34"/>
                </a:lnSpc>
                <a:spcBef>
                  <a:spcPct val="0"/>
                </a:spcBef>
              </a:pPr>
              <a:r>
                <a:rPr lang="en-US" sz="1400" b="1" u="sng" dirty="0">
                  <a:solidFill>
                    <a:srgbClr val="000000"/>
                  </a:solidFill>
                </a:rPr>
                <a:t>FY26 Q4 </a:t>
              </a:r>
            </a:p>
            <a:p>
              <a:pPr marL="307220" lvl="1" indent="-153610" algn="just">
                <a:lnSpc>
                  <a:spcPts val="2134"/>
                </a:lnSpc>
                <a:spcBef>
                  <a:spcPct val="0"/>
                </a:spcBef>
                <a:buFontTx/>
                <a:buAutoNum type="arabicPeriod"/>
              </a:pPr>
              <a:r>
                <a:rPr lang="en-US" sz="1400" dirty="0"/>
                <a:t> Sample testing</a:t>
              </a:r>
            </a:p>
            <a:p>
              <a:pPr marL="307220" lvl="1" indent="-153610" algn="just">
                <a:lnSpc>
                  <a:spcPts val="2134"/>
                </a:lnSpc>
                <a:spcBef>
                  <a:spcPct val="0"/>
                </a:spcBef>
                <a:buFontTx/>
                <a:buAutoNum type="arabicPeriod"/>
              </a:pPr>
              <a:r>
                <a:rPr lang="en-US" sz="1400" dirty="0"/>
                <a:t> Data analysis and Study report;</a:t>
              </a:r>
            </a:p>
            <a:p>
              <a:pPr marL="307220" lvl="1" indent="-153610" algn="just">
                <a:lnSpc>
                  <a:spcPts val="2134"/>
                </a:lnSpc>
                <a:spcBef>
                  <a:spcPct val="0"/>
                </a:spcBef>
                <a:buFontTx/>
                <a:buAutoNum type="arabicPeriod"/>
              </a:pPr>
              <a:r>
                <a:rPr lang="en-US" sz="1400" dirty="0"/>
                <a:t> dissemination.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52081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376BB3-4299-A453-2571-BCE31427CE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5935" y="250825"/>
            <a:ext cx="11087371" cy="672543"/>
          </a:xfrm>
        </p:spPr>
        <p:txBody>
          <a:bodyPr lIns="91440" tIns="45720" rIns="91440" bIns="45720" anchor="t"/>
          <a:lstStyle/>
          <a:p>
            <a:pPr algn="l" rtl="0"/>
            <a:r>
              <a:rPr lang="en-US" sz="3500" dirty="0">
                <a:ea typeface="+mj-ea"/>
                <a:cs typeface="+mj-cs"/>
              </a:rPr>
              <a:t>Sample size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303BA8-5F44-D26F-35E0-A4F8A0BFA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rtl="0"/>
            <a:fld id="{B24ECFD5-618A-4511-8858-C8BF20FC6330}" type="slidenum">
              <a:rPr lang="en-US" smtClean="0"/>
              <a:t>24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F6343D-D5B9-FE83-5D17-8099512A5AF9}"/>
              </a:ext>
            </a:extLst>
          </p:cNvPr>
          <p:cNvSpPr/>
          <p:nvPr/>
        </p:nvSpPr>
        <p:spPr>
          <a:xfrm>
            <a:off x="4554193" y="1326214"/>
            <a:ext cx="2557124" cy="76302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participants</a:t>
            </a:r>
          </a:p>
          <a:p>
            <a:pPr algn="ctr" rt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5.679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93B0F4-DFBE-64AB-0E26-49C2AAA378BF}"/>
              </a:ext>
            </a:extLst>
          </p:cNvPr>
          <p:cNvCxnSpPr/>
          <p:nvPr/>
        </p:nvCxnSpPr>
        <p:spPr>
          <a:xfrm>
            <a:off x="5819463" y="2089237"/>
            <a:ext cx="0" cy="212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B18B78A-40B5-E6E9-8BAD-1D4411FEFE72}"/>
              </a:ext>
            </a:extLst>
          </p:cNvPr>
          <p:cNvSpPr/>
          <p:nvPr/>
        </p:nvSpPr>
        <p:spPr>
          <a:xfrm>
            <a:off x="1259439" y="5041382"/>
            <a:ext cx="2592985" cy="103553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 rtl="0"/>
            <a:r>
              <a:rPr lang="en-US" b="1" dirty="0">
                <a:latin typeface="Times New Roman"/>
                <a:cs typeface="Times New Roman"/>
              </a:rPr>
              <a:t>1,893</a:t>
            </a:r>
            <a:r>
              <a:rPr lang="en-US" dirty="0">
                <a:latin typeface="Times New Roman"/>
                <a:cs typeface="Times New Roman"/>
              </a:rPr>
              <a:t> participants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/>
                <a:cs typeface="Times New Roman"/>
              </a:rPr>
              <a:t>Maputo  City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3BB32F3-E458-82B2-467A-F845531DA0A2}"/>
              </a:ext>
            </a:extLst>
          </p:cNvPr>
          <p:cNvSpPr/>
          <p:nvPr/>
        </p:nvSpPr>
        <p:spPr>
          <a:xfrm>
            <a:off x="4463391" y="5031856"/>
            <a:ext cx="2671201" cy="104506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 rtl="0"/>
            <a:r>
              <a:rPr lang="en-US" b="1">
                <a:latin typeface="Times New Roman"/>
                <a:cs typeface="Times New Roman"/>
              </a:rPr>
              <a:t>1,893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participants</a:t>
            </a:r>
            <a:r>
              <a:rPr lang="en-US">
                <a:latin typeface="Times New Roman"/>
                <a:cs typeface="Times New Roman"/>
              </a:rPr>
              <a:t> </a:t>
            </a:r>
          </a:p>
          <a:p>
            <a:pPr algn="ctr" rtl="0"/>
            <a:r>
              <a:rPr lang="en-US" b="1">
                <a:latin typeface="Times New Roman"/>
                <a:cs typeface="Times New Roman"/>
              </a:rPr>
              <a:t>Tete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D28B6D0-5FB8-BA66-B776-60590DE9FE8B}"/>
              </a:ext>
            </a:extLst>
          </p:cNvPr>
          <p:cNvSpPr/>
          <p:nvPr/>
        </p:nvSpPr>
        <p:spPr>
          <a:xfrm>
            <a:off x="7874649" y="5031857"/>
            <a:ext cx="2433524" cy="104505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 rtl="0"/>
            <a:r>
              <a:rPr lang="en-US" b="1">
                <a:latin typeface="Times New Roman"/>
                <a:cs typeface="Times New Roman"/>
              </a:rPr>
              <a:t>1,893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participants</a:t>
            </a:r>
            <a:endParaRPr lang="en-US">
              <a:latin typeface="Times New Roman"/>
              <a:cs typeface="Times New Roman"/>
            </a:endParaRPr>
          </a:p>
          <a:p>
            <a:pPr algn="ctr" rtl="0"/>
            <a:r>
              <a:rPr lang="en-US" b="1" err="1">
                <a:latin typeface="Times New Roman"/>
                <a:cs typeface="Times New Roman"/>
              </a:rPr>
              <a:t>Zambezia</a:t>
            </a:r>
            <a:endParaRPr lang="en-US" b="1">
              <a:latin typeface="Times New Roman"/>
              <a:cs typeface="Times New Roman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91397D-2BF4-D65C-5EA3-473F44AA440F}"/>
              </a:ext>
            </a:extLst>
          </p:cNvPr>
          <p:cNvCxnSpPr/>
          <p:nvPr/>
        </p:nvCxnSpPr>
        <p:spPr>
          <a:xfrm flipH="1">
            <a:off x="3150692" y="2301888"/>
            <a:ext cx="26687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A35108-EFB8-68B3-E5D3-F079AC75840C}"/>
              </a:ext>
            </a:extLst>
          </p:cNvPr>
          <p:cNvCxnSpPr/>
          <p:nvPr/>
        </p:nvCxnSpPr>
        <p:spPr>
          <a:xfrm>
            <a:off x="5819463" y="2301888"/>
            <a:ext cx="23923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8505F78-CE46-C26B-A916-4439F5A6A379}"/>
              </a:ext>
            </a:extLst>
          </p:cNvPr>
          <p:cNvCxnSpPr/>
          <p:nvPr/>
        </p:nvCxnSpPr>
        <p:spPr>
          <a:xfrm>
            <a:off x="3150692" y="2301888"/>
            <a:ext cx="0" cy="101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8F28362-5974-CD5C-0A26-AE1F1CB8D47E}"/>
              </a:ext>
            </a:extLst>
          </p:cNvPr>
          <p:cNvCxnSpPr/>
          <p:nvPr/>
        </p:nvCxnSpPr>
        <p:spPr>
          <a:xfrm>
            <a:off x="8211790" y="2301888"/>
            <a:ext cx="0" cy="101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3B90E51-A93E-E8A7-15CB-2434CF0735D4}"/>
              </a:ext>
            </a:extLst>
          </p:cNvPr>
          <p:cNvSpPr/>
          <p:nvPr/>
        </p:nvSpPr>
        <p:spPr>
          <a:xfrm>
            <a:off x="1880101" y="2497101"/>
            <a:ext cx="2353323" cy="58479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631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by age group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735D965-E851-8FFE-988F-4BDEE2259EA6}"/>
              </a:ext>
            </a:extLst>
          </p:cNvPr>
          <p:cNvSpPr/>
          <p:nvPr/>
        </p:nvSpPr>
        <p:spPr>
          <a:xfrm>
            <a:off x="4628660" y="2497096"/>
            <a:ext cx="2273788" cy="58479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631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by age group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550A549-4472-AEE6-26E2-CA4E5DD41E66}"/>
              </a:ext>
            </a:extLst>
          </p:cNvPr>
          <p:cNvSpPr/>
          <p:nvPr/>
        </p:nvSpPr>
        <p:spPr>
          <a:xfrm>
            <a:off x="7323971" y="2506621"/>
            <a:ext cx="2279352" cy="58478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631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by age group</a:t>
            </a:r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7103DEEC-AEFC-FD07-75BE-9697B15D6CEA}"/>
              </a:ext>
            </a:extLst>
          </p:cNvPr>
          <p:cNvSpPr/>
          <p:nvPr/>
        </p:nvSpPr>
        <p:spPr>
          <a:xfrm>
            <a:off x="2278601" y="3152741"/>
            <a:ext cx="56487" cy="1786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14EE616-3389-6B69-C8F7-48D2F7D1879D}"/>
              </a:ext>
            </a:extLst>
          </p:cNvPr>
          <p:cNvSpPr/>
          <p:nvPr/>
        </p:nvSpPr>
        <p:spPr>
          <a:xfrm>
            <a:off x="3252349" y="3490824"/>
            <a:ext cx="5056020" cy="11057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Groups</a:t>
            </a:r>
          </a:p>
          <a:p>
            <a:pPr marL="285750" indent="-285750" algn="ctr" rtl="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6-59 months</a:t>
            </a:r>
          </a:p>
          <a:p>
            <a:pPr marL="285750" indent="-285750" algn="ctr" rtl="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5-17years</a:t>
            </a:r>
          </a:p>
          <a:p>
            <a:pPr marL="285750" indent="-285750" algn="ctr" rtl="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18-49years</a:t>
            </a:r>
          </a:p>
        </p:txBody>
      </p:sp>
      <p:sp>
        <p:nvSpPr>
          <p:cNvPr id="41" name="Arrow: Curved Right 40">
            <a:extLst>
              <a:ext uri="{FF2B5EF4-FFF2-40B4-BE49-F238E27FC236}">
                <a16:creationId xmlns:a16="http://schemas.microsoft.com/office/drawing/2014/main" id="{BC7379BC-AA7E-AB62-F10F-7FC990F79768}"/>
              </a:ext>
            </a:extLst>
          </p:cNvPr>
          <p:cNvSpPr/>
          <p:nvPr/>
        </p:nvSpPr>
        <p:spPr>
          <a:xfrm>
            <a:off x="2472645" y="3115339"/>
            <a:ext cx="700863" cy="1343886"/>
          </a:xfrm>
          <a:prstGeom prst="curvedRightArrow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Arrow: Curved Left 41">
            <a:extLst>
              <a:ext uri="{FF2B5EF4-FFF2-40B4-BE49-F238E27FC236}">
                <a16:creationId xmlns:a16="http://schemas.microsoft.com/office/drawing/2014/main" id="{F4378813-DCA7-A44B-3F23-782CCAB62E52}"/>
              </a:ext>
            </a:extLst>
          </p:cNvPr>
          <p:cNvSpPr/>
          <p:nvPr/>
        </p:nvSpPr>
        <p:spPr>
          <a:xfrm>
            <a:off x="8251219" y="3143915"/>
            <a:ext cx="663427" cy="1344575"/>
          </a:xfrm>
          <a:prstGeom prst="curvedLeftArrow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320E4685-5747-ECEC-1976-4BEE6E434129}"/>
              </a:ext>
            </a:extLst>
          </p:cNvPr>
          <p:cNvSpPr/>
          <p:nvPr/>
        </p:nvSpPr>
        <p:spPr>
          <a:xfrm>
            <a:off x="5638488" y="4620289"/>
            <a:ext cx="318978" cy="404055"/>
          </a:xfrm>
          <a:prstGeom prst="downArrow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A4BA02CC-B12C-B876-2F87-143D3BAB3315}"/>
              </a:ext>
            </a:extLst>
          </p:cNvPr>
          <p:cNvSpPr/>
          <p:nvPr/>
        </p:nvSpPr>
        <p:spPr>
          <a:xfrm>
            <a:off x="9069926" y="3114640"/>
            <a:ext cx="56487" cy="1786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8432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7411F27-2D44-8859-708A-E7DF55DAF9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PT" dirty="0"/>
              <a:t>Luminex platform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62E4DC-5423-817E-222D-0475BCDEA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CFD5-618A-4511-8858-C8BF20FC633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2234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3266A-F1B1-AC78-8C8B-DD048E6D1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511F37AD-4B48-A881-FA91-EA4F64A8A929}"/>
              </a:ext>
            </a:extLst>
          </p:cNvPr>
          <p:cNvSpPr txBox="1">
            <a:spLocks/>
          </p:cNvSpPr>
          <p:nvPr/>
        </p:nvSpPr>
        <p:spPr>
          <a:xfrm>
            <a:off x="431877" y="2438400"/>
            <a:ext cx="11357352" cy="158262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GB" sz="5400" dirty="0">
                <a:solidFill>
                  <a:schemeClr val="tx2"/>
                </a:solidFill>
                <a:latin typeface="+mj-lt"/>
              </a:rPr>
              <a:t>Implementation Description Updates</a:t>
            </a:r>
          </a:p>
        </p:txBody>
      </p:sp>
    </p:spTree>
    <p:extLst>
      <p:ext uri="{BB962C8B-B14F-4D97-AF65-F5344CB8AC3E}">
        <p14:creationId xmlns:p14="http://schemas.microsoft.com/office/powerpoint/2010/main" val="36389710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83AAE1-59BE-60BE-5D0B-1B72861C99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6F3F91-E481-6514-81BB-29CB09273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CFD5-618A-4511-8858-C8BF20FC633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637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56F593-3572-88B1-9372-81EECF76E1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Background" hidden="1">
            <a:extLst>
              <a:ext uri="{FF2B5EF4-FFF2-40B4-BE49-F238E27FC236}">
                <a16:creationId xmlns:a16="http://schemas.microsoft.com/office/drawing/2014/main" id="{5FA0B65C-71B1-9182-E880-EEA1271A55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1889A">
                  <a:alpha val="6000"/>
                </a:srgbClr>
              </a:gs>
              <a:gs pos="100000">
                <a:srgbClr val="C00000"/>
              </a:gs>
            </a:gsLst>
            <a:lin ang="0" scaled="1"/>
            <a:tileRect/>
          </a:gradFill>
          <a:ln w="38100"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28700" b="1">
              <a:solidFill>
                <a:schemeClr val="tx1"/>
              </a:solidFill>
            </a:endParaRPr>
          </a:p>
        </p:txBody>
      </p:sp>
      <p:pic>
        <p:nvPicPr>
          <p:cNvPr id="10" name="Picture 9" descr="A red and white play button&#10;&#10;Description automatically generated">
            <a:extLst>
              <a:ext uri="{FF2B5EF4-FFF2-40B4-BE49-F238E27FC236}">
                <a16:creationId xmlns:a16="http://schemas.microsoft.com/office/drawing/2014/main" id="{41C28074-DB2E-92CA-2454-B300AC2FF37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77590" y="1110527"/>
            <a:ext cx="557295" cy="389225"/>
          </a:xfrm>
          <a:prstGeom prst="rect">
            <a:avLst/>
          </a:prstGeom>
        </p:spPr>
      </p:pic>
      <p:pic>
        <p:nvPicPr>
          <p:cNvPr id="12" name="Picture 11" descr="A blue square with white letters&#10;&#10;Description automatically generated">
            <a:extLst>
              <a:ext uri="{FF2B5EF4-FFF2-40B4-BE49-F238E27FC236}">
                <a16:creationId xmlns:a16="http://schemas.microsoft.com/office/drawing/2014/main" id="{B9B7D79B-5732-14E3-1980-39865C0FB9A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69473" y="1104977"/>
            <a:ext cx="389225" cy="389225"/>
          </a:xfrm>
          <a:prstGeom prst="rect">
            <a:avLst/>
          </a:prstGeom>
        </p:spPr>
      </p:pic>
      <p:pic>
        <p:nvPicPr>
          <p:cNvPr id="18" name="Picture 17" descr="A blue square with a white letter f&#10;&#10;Description automatically generated">
            <a:extLst>
              <a:ext uri="{FF2B5EF4-FFF2-40B4-BE49-F238E27FC236}">
                <a16:creationId xmlns:a16="http://schemas.microsoft.com/office/drawing/2014/main" id="{3C0A2B7D-69BB-AD34-EB54-A7579D5C9E7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1406" y="1104978"/>
            <a:ext cx="390129" cy="39012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240B41F-B390-4D2D-AEF5-A4D2A0B44221}"/>
              </a:ext>
            </a:extLst>
          </p:cNvPr>
          <p:cNvGrpSpPr>
            <a:grpSpLocks/>
          </p:cNvGrpSpPr>
          <p:nvPr/>
        </p:nvGrpSpPr>
        <p:grpSpPr>
          <a:xfrm>
            <a:off x="8760439" y="1115049"/>
            <a:ext cx="390129" cy="390129"/>
            <a:chOff x="5554902" y="5800065"/>
            <a:chExt cx="395692" cy="395692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E728FB0-0299-B99B-C1F6-1F807548BB0E}"/>
                </a:ext>
              </a:extLst>
            </p:cNvPr>
            <p:cNvSpPr>
              <a:spLocks/>
            </p:cNvSpPr>
            <p:nvPr/>
          </p:nvSpPr>
          <p:spPr>
            <a:xfrm>
              <a:off x="5554902" y="5800065"/>
              <a:ext cx="395692" cy="39569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FF62455C-4B35-90D3-8590-436B833B2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54902" y="5800065"/>
              <a:ext cx="395692" cy="395692"/>
            </a:xfrm>
            <a:prstGeom prst="rect">
              <a:avLst/>
            </a:prstGeom>
          </p:spPr>
        </p:pic>
      </p:grpSp>
      <p:pic>
        <p:nvPicPr>
          <p:cNvPr id="26" name="Graphic 25" hidden="1">
            <a:extLst>
              <a:ext uri="{FF2B5EF4-FFF2-40B4-BE49-F238E27FC236}">
                <a16:creationId xmlns:a16="http://schemas.microsoft.com/office/drawing/2014/main" id="{27DFFFE8-EA49-019B-3C65-88373D5A7F7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66787" y="2608427"/>
            <a:ext cx="2989580" cy="298958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9CE7ADD-D4DF-19FE-ABD5-24C71FAECB7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266109" y="1672232"/>
            <a:ext cx="7990427" cy="5281977"/>
            <a:chOff x="2660015" y="1672232"/>
            <a:chExt cx="7990427" cy="5281977"/>
          </a:xfrm>
        </p:grpSpPr>
        <p:sp>
          <p:nvSpPr>
            <p:cNvPr id="7" name="Lema">
              <a:extLst>
                <a:ext uri="{FF2B5EF4-FFF2-40B4-BE49-F238E27FC236}">
                  <a16:creationId xmlns:a16="http://schemas.microsoft.com/office/drawing/2014/main" id="{470C935E-5EFF-C6BB-E368-44897F7ACC08}"/>
                </a:ext>
              </a:extLst>
            </p:cNvPr>
            <p:cNvSpPr txBox="1">
              <a:spLocks/>
            </p:cNvSpPr>
            <p:nvPr/>
          </p:nvSpPr>
          <p:spPr>
            <a:xfrm>
              <a:off x="2660015" y="6184768"/>
              <a:ext cx="799042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400" b="1" i="1">
                  <a:solidFill>
                    <a:schemeClr val="bg1"/>
                  </a:solidFill>
                </a:rPr>
                <a:t>Descobrir    Entender    Informar</a:t>
              </a:r>
              <a:endParaRPr lang="en-US" sz="4400" b="1" i="1">
                <a:solidFill>
                  <a:schemeClr val="bg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689A891-B0D3-8022-268D-C8CC9C2E5F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835" y="1672232"/>
              <a:ext cx="172720" cy="1727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A11D857-913F-4A50-372D-5E1945A5CF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788455" y="1672232"/>
              <a:ext cx="172720" cy="1727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6F048D9-FEA2-AC87-BC07-3EE4B00A77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FA86DD-BAB6-1FC1-0E15-5A8A3B008921}"/>
              </a:ext>
            </a:extLst>
          </p:cNvPr>
          <p:cNvSpPr txBox="1"/>
          <p:nvPr/>
        </p:nvSpPr>
        <p:spPr>
          <a:xfrm>
            <a:off x="-256854" y="13048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90CDA1-545A-B46F-EDCE-A082A73EF81A}"/>
              </a:ext>
            </a:extLst>
          </p:cNvPr>
          <p:cNvSpPr txBox="1"/>
          <p:nvPr/>
        </p:nvSpPr>
        <p:spPr>
          <a:xfrm>
            <a:off x="5211578" y="3054655"/>
            <a:ext cx="19811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2800" b="1">
                <a:solidFill>
                  <a:schemeClr val="bg1"/>
                </a:solidFill>
              </a:rPr>
              <a:t>Thank you</a:t>
            </a:r>
          </a:p>
          <a:p>
            <a:pPr algn="ctr"/>
            <a:r>
              <a:rPr lang="en-PT" sz="2800" b="1">
                <a:solidFill>
                  <a:schemeClr val="bg1"/>
                </a:solidFill>
              </a:rPr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4026943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E05A166-ECC2-39A6-FA2F-EE851BF7F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88FE7D-0482-652F-04E6-53E1C70C5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CFD5-618A-4511-8858-C8BF20FC6330}" type="slidenum">
              <a:rPr lang="en-US" smtClean="0"/>
              <a:t>29</a:t>
            </a:fld>
            <a:endParaRPr lang="en-US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528D523-0F1E-1AF1-6156-8ED97EB632D5}"/>
              </a:ext>
            </a:extLst>
          </p:cNvPr>
          <p:cNvGraphicFramePr>
            <a:graphicFrameLocks/>
          </p:cNvGraphicFramePr>
          <p:nvPr/>
        </p:nvGraphicFramePr>
        <p:xfrm>
          <a:off x="0" y="0"/>
          <a:ext cx="12191999" cy="35340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D15305DE-760A-6C79-6468-84715254A8F2}"/>
              </a:ext>
            </a:extLst>
          </p:cNvPr>
          <p:cNvGraphicFramePr>
            <a:graphicFrameLocks/>
          </p:cNvGraphicFramePr>
          <p:nvPr/>
        </p:nvGraphicFramePr>
        <p:xfrm>
          <a:off x="84039" y="3534032"/>
          <a:ext cx="12070889" cy="33239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84004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65F5ECF-0899-46DF-BEE4-70FD0C706E39}">
  <we:reference id="wa104051163" version="1.2.0.3" store="en-US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3F9DE2FD41D374A925A00DBE07833B4" ma:contentTypeVersion="3" ma:contentTypeDescription="Crie um novo documento." ma:contentTypeScope="" ma:versionID="7f3674926c18c1d8bb5ba6d50f03d2ea">
  <xsd:schema xmlns:xsd="http://www.w3.org/2001/XMLSchema" xmlns:xs="http://www.w3.org/2001/XMLSchema" xmlns:p="http://schemas.microsoft.com/office/2006/metadata/properties" xmlns:ns2="26f0ea3e-d740-475b-b10c-be7ad266fec8" targetNamespace="http://schemas.microsoft.com/office/2006/metadata/properties" ma:root="true" ma:fieldsID="8190348293b4d488a8062dad9801513c" ns2:_="">
    <xsd:import namespace="26f0ea3e-d740-475b-b10c-be7ad266fec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f0ea3e-d740-475b-b10c-be7ad266fe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159D03-32C1-4643-A804-B2B3624E7B4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F7EEF9-D741-468D-B5D2-DA0D4A1BF3C1}">
  <ds:schemaRefs>
    <ds:schemaRef ds:uri="26f0ea3e-d740-475b-b10c-be7ad266fec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B1BB18B-4533-401D-B3E2-025379F042D9}">
  <ds:schemaRefs>
    <ds:schemaRef ds:uri="26f0ea3e-d740-475b-b10c-be7ad266fec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6779</TotalTime>
  <Words>1037</Words>
  <Application>Microsoft Office PowerPoint</Application>
  <PresentationFormat>Widescreen</PresentationFormat>
  <Paragraphs>217</Paragraphs>
  <Slides>29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Times New Roman</vt:lpstr>
      <vt:lpstr>Wingdings</vt:lpstr>
      <vt:lpstr>Office Theme</vt:lpstr>
      <vt:lpstr>PowerPoint Presentation</vt:lpstr>
      <vt:lpstr>Outputs and Targeted Completion Dates - Q2-2025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Acute Respiratory Syndrome Incidence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Bilaal Amin</dc:creator>
  <cp:lastModifiedBy>Anisio Bule</cp:lastModifiedBy>
  <cp:revision>42</cp:revision>
  <dcterms:created xsi:type="dcterms:W3CDTF">2023-11-08T12:56:48Z</dcterms:created>
  <dcterms:modified xsi:type="dcterms:W3CDTF">2025-12-16T11:03:49Z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0x01010023F9DE2FD41D374A925A00DBE07833B4</vt:lpwstr>
  </property>
  <property fmtid="{D5CDD505-2E9C-101B-9397-08002B2CF9AE}" pid="3" name="MediaServiceImageTags">
    <vt:lpwstr/>
  </property>
</Properties>
</file>