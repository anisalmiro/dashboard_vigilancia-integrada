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276" r:id="rId5"/>
    <p:sldId id="3961" r:id="rId6"/>
    <p:sldId id="3958" r:id="rId7"/>
    <p:sldId id="2147375578" r:id="rId8"/>
    <p:sldId id="2147375579" r:id="rId9"/>
    <p:sldId id="2147375580" r:id="rId10"/>
    <p:sldId id="2147375574" r:id="rId11"/>
    <p:sldId id="3844" r:id="rId12"/>
    <p:sldId id="2147375581" r:id="rId13"/>
    <p:sldId id="2147375575" r:id="rId14"/>
    <p:sldId id="3962" r:id="rId15"/>
    <p:sldId id="271" r:id="rId16"/>
    <p:sldId id="259" r:id="rId17"/>
    <p:sldId id="260" r:id="rId18"/>
    <p:sldId id="309" r:id="rId19"/>
    <p:sldId id="30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AAEFB13-AA14-2EAB-D481-EB2235508D17}" name="Edna Viegas" initials="EV" userId="S::edna.viegas@ins.gov.mz::ec114ee2-1e0e-4e3c-97a6-a28b03948d5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A3E"/>
    <a:srgbClr val="AD2F30"/>
    <a:srgbClr val="0074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 autoAdjust="0"/>
    <p:restoredTop sz="94689"/>
  </p:normalViewPr>
  <p:slideViewPr>
    <p:cSldViewPr snapToGrid="0">
      <p:cViewPr varScale="1">
        <p:scale>
          <a:sx n="98" d="100"/>
          <a:sy n="98" d="100"/>
        </p:scale>
        <p:origin x="533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B1BDEC-32C6-493B-8936-B1EEDB66D93B}" type="doc">
      <dgm:prSet loTypeId="urn:microsoft.com/office/officeart/2005/8/layout/target2" loCatId="relationship" qsTypeId="urn:microsoft.com/office/officeart/2005/8/quickstyle/simple2" qsCatId="simple" csTypeId="urn:microsoft.com/office/officeart/2005/8/colors/accent3_3" csCatId="accent3" phldr="1"/>
      <dgm:spPr/>
      <dgm:t>
        <a:bodyPr/>
        <a:lstStyle/>
        <a:p>
          <a:endParaRPr lang="en-GB"/>
        </a:p>
      </dgm:t>
    </dgm:pt>
    <dgm:pt modelId="{2025E54B-C602-4E0C-88BE-16814215E712}">
      <dgm:prSet phldrT="[Text]" custT="1"/>
      <dgm:spPr/>
      <dgm:t>
        <a:bodyPr/>
        <a:lstStyle/>
        <a:p>
          <a:r>
            <a:rPr lang="en-GB" sz="3000" b="1" dirty="0">
              <a:solidFill>
                <a:schemeClr val="tx1"/>
              </a:solidFill>
            </a:rPr>
            <a:t>Level 3</a:t>
          </a:r>
          <a:r>
            <a:rPr lang="en-GB" sz="3000" dirty="0">
              <a:solidFill>
                <a:schemeClr val="tx1"/>
              </a:solidFill>
            </a:rPr>
            <a:t>: unplanned integrated analysis </a:t>
          </a:r>
          <a:r>
            <a:rPr lang="en-GB" sz="1100" dirty="0">
              <a:solidFill>
                <a:schemeClr val="tx1"/>
              </a:solidFill>
            </a:rPr>
            <a:t>(incl. special analysis and modelling)</a:t>
          </a:r>
        </a:p>
      </dgm:t>
    </dgm:pt>
    <dgm:pt modelId="{E53B5925-8B54-44EE-9568-3002687E0051}" type="parTrans" cxnId="{B72BE8EE-410A-4B04-B7DD-2F8B08BB73BB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CA303358-787B-4786-AD3B-D374D8DCEDB1}" type="sibTrans" cxnId="{B72BE8EE-410A-4B04-B7DD-2F8B08BB73BB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64F020BB-BA95-45AD-BB19-4A2D1F9B9681}">
      <dgm:prSet phldrT="[Text]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Based on epidemiological trends</a:t>
          </a:r>
        </a:p>
      </dgm:t>
    </dgm:pt>
    <dgm:pt modelId="{9860DFB6-671C-4172-8225-85D96154FCD3}" type="parTrans" cxnId="{F0339B52-487D-4417-9736-A34878AD2196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270D05A3-092A-4F0A-8401-B12FB17A7F61}" type="sibTrans" cxnId="{F0339B52-487D-4417-9736-A34878AD2196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CB2B9A62-1A25-43F6-8B7C-1C1D937218A5}">
      <dgm:prSet phldrT="[Text]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Based on new research questions</a:t>
          </a:r>
        </a:p>
      </dgm:t>
    </dgm:pt>
    <dgm:pt modelId="{283C3D00-793E-44B9-A4B2-D43810A87703}" type="parTrans" cxnId="{4171DC18-2FD2-420F-A57C-2C7F2BF85221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EECB1B83-7A67-4606-805F-AC0A02879185}" type="sibTrans" cxnId="{4171DC18-2FD2-420F-A57C-2C7F2BF85221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588C4D56-79E5-43EA-B546-BE4D970833AF}">
      <dgm:prSet phldrT="[Text]"/>
      <dgm:spPr/>
      <dgm:t>
        <a:bodyPr/>
        <a:lstStyle/>
        <a:p>
          <a:r>
            <a:rPr lang="en-GB" b="1" dirty="0">
              <a:solidFill>
                <a:schemeClr val="tx1"/>
              </a:solidFill>
            </a:rPr>
            <a:t>Level 2:</a:t>
          </a:r>
          <a:r>
            <a:rPr lang="en-GB" dirty="0">
              <a:solidFill>
                <a:schemeClr val="tx1"/>
              </a:solidFill>
            </a:rPr>
            <a:t> routine/ planned integrated analysis</a:t>
          </a:r>
        </a:p>
      </dgm:t>
    </dgm:pt>
    <dgm:pt modelId="{3229A58A-6CD3-4901-8D37-9E7865227391}" type="parTrans" cxnId="{4ECB2666-A094-40DF-B796-09232D5A1C11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5FCE9F97-A61F-4970-BAC0-70CC0468534B}" type="sibTrans" cxnId="{4ECB2666-A094-40DF-B796-09232D5A1C11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A0E5EF81-DBD3-4B3C-8CD2-FC6730D7AD87}">
      <dgm:prSet phldrT="[Text]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Spatial analysis</a:t>
          </a:r>
        </a:p>
      </dgm:t>
    </dgm:pt>
    <dgm:pt modelId="{2A9BF7BD-A950-482B-91D1-37451F30FED4}" type="parTrans" cxnId="{AF7C74E1-10A4-457A-98E4-DADEC44EB224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96B59FF4-64C6-4E87-9B89-FF0A740C28E6}" type="sibTrans" cxnId="{AF7C74E1-10A4-457A-98E4-DADEC44EB224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6E327B68-79BD-4BB9-9B3B-9241F3041944}">
      <dgm:prSet phldrT="[Text]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Modelling</a:t>
          </a:r>
        </a:p>
      </dgm:t>
    </dgm:pt>
    <dgm:pt modelId="{F7642D0D-6828-4382-9B6F-695565B3C74A}" type="parTrans" cxnId="{D3DAC091-BAFD-40C1-BF3F-ADBF49899D90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99652D75-C382-420C-A06F-BA19838410F4}" type="sibTrans" cxnId="{D3DAC091-BAFD-40C1-BF3F-ADBF49899D90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A826E31F-5C9B-4E72-AAA6-ACA7D7325F3F}">
      <dgm:prSet phldrT="[Text]"/>
      <dgm:spPr/>
      <dgm:t>
        <a:bodyPr/>
        <a:lstStyle/>
        <a:p>
          <a:r>
            <a:rPr lang="en-GB" b="1" dirty="0">
              <a:solidFill>
                <a:schemeClr val="tx1"/>
              </a:solidFill>
            </a:rPr>
            <a:t>Level 1:</a:t>
          </a:r>
          <a:r>
            <a:rPr lang="en-GB" dirty="0">
              <a:solidFill>
                <a:schemeClr val="tx1"/>
              </a:solidFill>
            </a:rPr>
            <a:t> descriptive analysis</a:t>
          </a:r>
        </a:p>
      </dgm:t>
    </dgm:pt>
    <dgm:pt modelId="{8FF14568-BBCD-4B24-8067-EACBFA6E1DCB}" type="parTrans" cxnId="{EAEDF624-10DC-4AFD-B965-165F5C7E7602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31EAE236-F8C9-4970-AA1A-496308D58E4D}" type="sibTrans" cxnId="{EAEDF624-10DC-4AFD-B965-165F5C7E7602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A1455E5E-2E9D-4785-A911-1D0CA2ABCC8E}">
      <dgm:prSet phldrT="[Text]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Per surveillance domain</a:t>
          </a:r>
        </a:p>
      </dgm:t>
    </dgm:pt>
    <dgm:pt modelId="{7C4CC331-153D-4090-A80A-8EA810E01911}" type="parTrans" cxnId="{79954F00-081B-4E4A-9105-40835F3AEA46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A466D67A-3028-4182-88E5-DBB00510F6AC}" type="sibTrans" cxnId="{79954F00-081B-4E4A-9105-40835F3AEA46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F486841D-3F81-43B2-A51F-7D1B5869BDB6}">
      <dgm:prSet phldrT="[Text]"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Per pathogen</a:t>
          </a:r>
        </a:p>
      </dgm:t>
    </dgm:pt>
    <dgm:pt modelId="{F8162498-5B95-4BE9-A041-912EC48E2DB9}" type="parTrans" cxnId="{3C643CE6-0481-4CA1-AF9C-D9A44E7E6C27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6D40C3A8-E098-4F80-B664-8348395DB64C}" type="sibTrans" cxnId="{3C643CE6-0481-4CA1-AF9C-D9A44E7E6C27}">
      <dgm:prSet/>
      <dgm:spPr/>
      <dgm:t>
        <a:bodyPr/>
        <a:lstStyle/>
        <a:p>
          <a:endParaRPr lang="en-GB">
            <a:solidFill>
              <a:schemeClr val="tx1"/>
            </a:solidFill>
          </a:endParaRPr>
        </a:p>
      </dgm:t>
    </dgm:pt>
    <dgm:pt modelId="{2DB0ACAD-4530-45BD-B6E8-DA1FAE659BF0}" type="pres">
      <dgm:prSet presAssocID="{51B1BDEC-32C6-493B-8936-B1EEDB66D93B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C38EB001-12FA-40EB-BE09-2FFAC2B5C5B7}" type="pres">
      <dgm:prSet presAssocID="{51B1BDEC-32C6-493B-8936-B1EEDB66D93B}" presName="outerBox" presStyleCnt="0"/>
      <dgm:spPr/>
    </dgm:pt>
    <dgm:pt modelId="{47C2B1D0-696D-4A0D-9D5E-00E53E5425A0}" type="pres">
      <dgm:prSet presAssocID="{51B1BDEC-32C6-493B-8936-B1EEDB66D93B}" presName="outerBoxParent" presStyleLbl="node1" presStyleIdx="0" presStyleCnt="3" custLinFactNeighborX="-23036" custLinFactNeighborY="-304"/>
      <dgm:spPr/>
    </dgm:pt>
    <dgm:pt modelId="{6963782F-BBFC-4242-B505-BF7639B4F24B}" type="pres">
      <dgm:prSet presAssocID="{51B1BDEC-32C6-493B-8936-B1EEDB66D93B}" presName="outerBoxChildren" presStyleCnt="0"/>
      <dgm:spPr/>
    </dgm:pt>
    <dgm:pt modelId="{B45FEF0E-BFC1-445B-98BE-3407BA8C002E}" type="pres">
      <dgm:prSet presAssocID="{64F020BB-BA95-45AD-BB19-4A2D1F9B9681}" presName="oChild" presStyleLbl="fgAcc1" presStyleIdx="0" presStyleCnt="6">
        <dgm:presLayoutVars>
          <dgm:bulletEnabled val="1"/>
        </dgm:presLayoutVars>
      </dgm:prSet>
      <dgm:spPr/>
    </dgm:pt>
    <dgm:pt modelId="{F69D9492-292E-4A76-9F13-6AABA865F79B}" type="pres">
      <dgm:prSet presAssocID="{270D05A3-092A-4F0A-8401-B12FB17A7F61}" presName="outerSibTrans" presStyleCnt="0"/>
      <dgm:spPr/>
    </dgm:pt>
    <dgm:pt modelId="{B840A948-BDB9-458B-A937-8B1E39A81AA4}" type="pres">
      <dgm:prSet presAssocID="{CB2B9A62-1A25-43F6-8B7C-1C1D937218A5}" presName="oChild" presStyleLbl="fgAcc1" presStyleIdx="1" presStyleCnt="6">
        <dgm:presLayoutVars>
          <dgm:bulletEnabled val="1"/>
        </dgm:presLayoutVars>
      </dgm:prSet>
      <dgm:spPr/>
    </dgm:pt>
    <dgm:pt modelId="{A3FACB27-30B9-43BD-8890-15CCC583AD88}" type="pres">
      <dgm:prSet presAssocID="{51B1BDEC-32C6-493B-8936-B1EEDB66D93B}" presName="middleBox" presStyleCnt="0"/>
      <dgm:spPr/>
    </dgm:pt>
    <dgm:pt modelId="{5FD6CB8E-18FB-46D9-A275-FA8E628927D0}" type="pres">
      <dgm:prSet presAssocID="{51B1BDEC-32C6-493B-8936-B1EEDB66D93B}" presName="middleBoxParent" presStyleLbl="node1" presStyleIdx="1" presStyleCnt="3"/>
      <dgm:spPr/>
    </dgm:pt>
    <dgm:pt modelId="{3B101AF7-4CFF-42EB-AEDA-1D736B48733E}" type="pres">
      <dgm:prSet presAssocID="{51B1BDEC-32C6-493B-8936-B1EEDB66D93B}" presName="middleBoxChildren" presStyleCnt="0"/>
      <dgm:spPr/>
    </dgm:pt>
    <dgm:pt modelId="{30DB8B35-3A2C-4C5C-A992-4C7A4181E751}" type="pres">
      <dgm:prSet presAssocID="{A0E5EF81-DBD3-4B3C-8CD2-FC6730D7AD87}" presName="mChild" presStyleLbl="fgAcc1" presStyleIdx="2" presStyleCnt="6">
        <dgm:presLayoutVars>
          <dgm:bulletEnabled val="1"/>
        </dgm:presLayoutVars>
      </dgm:prSet>
      <dgm:spPr/>
    </dgm:pt>
    <dgm:pt modelId="{9367508B-AA76-43B3-9FCF-9836EB141BE1}" type="pres">
      <dgm:prSet presAssocID="{96B59FF4-64C6-4E87-9B89-FF0A740C28E6}" presName="middleSibTrans" presStyleCnt="0"/>
      <dgm:spPr/>
    </dgm:pt>
    <dgm:pt modelId="{EC2745A4-B89B-4128-B640-33CD0544B2ED}" type="pres">
      <dgm:prSet presAssocID="{6E327B68-79BD-4BB9-9B3B-9241F3041944}" presName="mChild" presStyleLbl="fgAcc1" presStyleIdx="3" presStyleCnt="6">
        <dgm:presLayoutVars>
          <dgm:bulletEnabled val="1"/>
        </dgm:presLayoutVars>
      </dgm:prSet>
      <dgm:spPr/>
    </dgm:pt>
    <dgm:pt modelId="{4BBA9B07-BE0A-484E-B00B-C2637959A024}" type="pres">
      <dgm:prSet presAssocID="{51B1BDEC-32C6-493B-8936-B1EEDB66D93B}" presName="centerBox" presStyleCnt="0"/>
      <dgm:spPr/>
    </dgm:pt>
    <dgm:pt modelId="{1FC5283E-E0AA-46ED-B5A3-EA9027E20AC5}" type="pres">
      <dgm:prSet presAssocID="{51B1BDEC-32C6-493B-8936-B1EEDB66D93B}" presName="centerBoxParent" presStyleLbl="node1" presStyleIdx="2" presStyleCnt="3"/>
      <dgm:spPr/>
    </dgm:pt>
    <dgm:pt modelId="{00B6B75B-0C3B-4017-ACF7-82CA6D96E1AD}" type="pres">
      <dgm:prSet presAssocID="{51B1BDEC-32C6-493B-8936-B1EEDB66D93B}" presName="centerBoxChildren" presStyleCnt="0"/>
      <dgm:spPr/>
    </dgm:pt>
    <dgm:pt modelId="{D327F47C-4EFF-4749-8D5B-5C35096DF4F7}" type="pres">
      <dgm:prSet presAssocID="{A1455E5E-2E9D-4785-A911-1D0CA2ABCC8E}" presName="cChild" presStyleLbl="fgAcc1" presStyleIdx="4" presStyleCnt="6">
        <dgm:presLayoutVars>
          <dgm:bulletEnabled val="1"/>
        </dgm:presLayoutVars>
      </dgm:prSet>
      <dgm:spPr/>
    </dgm:pt>
    <dgm:pt modelId="{873332D8-65E6-4C91-AE39-7ABDA95A041C}" type="pres">
      <dgm:prSet presAssocID="{A466D67A-3028-4182-88E5-DBB00510F6AC}" presName="centerSibTrans" presStyleCnt="0"/>
      <dgm:spPr/>
    </dgm:pt>
    <dgm:pt modelId="{78BBFC9B-4B1A-4255-8233-529FAF49E9DC}" type="pres">
      <dgm:prSet presAssocID="{F486841D-3F81-43B2-A51F-7D1B5869BDB6}" presName="cChild" presStyleLbl="fgAcc1" presStyleIdx="5" presStyleCnt="6">
        <dgm:presLayoutVars>
          <dgm:bulletEnabled val="1"/>
        </dgm:presLayoutVars>
      </dgm:prSet>
      <dgm:spPr/>
    </dgm:pt>
  </dgm:ptLst>
  <dgm:cxnLst>
    <dgm:cxn modelId="{79954F00-081B-4E4A-9105-40835F3AEA46}" srcId="{A826E31F-5C9B-4E72-AAA6-ACA7D7325F3F}" destId="{A1455E5E-2E9D-4785-A911-1D0CA2ABCC8E}" srcOrd="0" destOrd="0" parTransId="{7C4CC331-153D-4090-A80A-8EA810E01911}" sibTransId="{A466D67A-3028-4182-88E5-DBB00510F6AC}"/>
    <dgm:cxn modelId="{2DCD2309-EE8E-46DA-BAF6-6063663DAFB8}" type="presOf" srcId="{2025E54B-C602-4E0C-88BE-16814215E712}" destId="{47C2B1D0-696D-4A0D-9D5E-00E53E5425A0}" srcOrd="0" destOrd="0" presId="urn:microsoft.com/office/officeart/2005/8/layout/target2"/>
    <dgm:cxn modelId="{24C4310C-FB60-417D-8B4A-6BA6B1E27B54}" type="presOf" srcId="{A0E5EF81-DBD3-4B3C-8CD2-FC6730D7AD87}" destId="{30DB8B35-3A2C-4C5C-A992-4C7A4181E751}" srcOrd="0" destOrd="0" presId="urn:microsoft.com/office/officeart/2005/8/layout/target2"/>
    <dgm:cxn modelId="{4171DC18-2FD2-420F-A57C-2C7F2BF85221}" srcId="{2025E54B-C602-4E0C-88BE-16814215E712}" destId="{CB2B9A62-1A25-43F6-8B7C-1C1D937218A5}" srcOrd="1" destOrd="0" parTransId="{283C3D00-793E-44B9-A4B2-D43810A87703}" sibTransId="{EECB1B83-7A67-4606-805F-AC0A02879185}"/>
    <dgm:cxn modelId="{E8186F19-AFE8-4B07-863B-93D4F429659F}" type="presOf" srcId="{6E327B68-79BD-4BB9-9B3B-9241F3041944}" destId="{EC2745A4-B89B-4128-B640-33CD0544B2ED}" srcOrd="0" destOrd="0" presId="urn:microsoft.com/office/officeart/2005/8/layout/target2"/>
    <dgm:cxn modelId="{63BAD81F-0E62-4355-AD8C-A9ECD5954F81}" type="presOf" srcId="{64F020BB-BA95-45AD-BB19-4A2D1F9B9681}" destId="{B45FEF0E-BFC1-445B-98BE-3407BA8C002E}" srcOrd="0" destOrd="0" presId="urn:microsoft.com/office/officeart/2005/8/layout/target2"/>
    <dgm:cxn modelId="{EAEDF624-10DC-4AFD-B965-165F5C7E7602}" srcId="{51B1BDEC-32C6-493B-8936-B1EEDB66D93B}" destId="{A826E31F-5C9B-4E72-AAA6-ACA7D7325F3F}" srcOrd="2" destOrd="0" parTransId="{8FF14568-BBCD-4B24-8067-EACBFA6E1DCB}" sibTransId="{31EAE236-F8C9-4970-AA1A-496308D58E4D}"/>
    <dgm:cxn modelId="{50418538-CAF9-4B16-A954-0708483EE291}" type="presOf" srcId="{A1455E5E-2E9D-4785-A911-1D0CA2ABCC8E}" destId="{D327F47C-4EFF-4749-8D5B-5C35096DF4F7}" srcOrd="0" destOrd="0" presId="urn:microsoft.com/office/officeart/2005/8/layout/target2"/>
    <dgm:cxn modelId="{8F6DDA39-8993-443E-9C9B-EF7F65BECCA2}" type="presOf" srcId="{588C4D56-79E5-43EA-B546-BE4D970833AF}" destId="{5FD6CB8E-18FB-46D9-A275-FA8E628927D0}" srcOrd="0" destOrd="0" presId="urn:microsoft.com/office/officeart/2005/8/layout/target2"/>
    <dgm:cxn modelId="{AC7C825B-F63F-4C93-8266-946F4E616168}" type="presOf" srcId="{51B1BDEC-32C6-493B-8936-B1EEDB66D93B}" destId="{2DB0ACAD-4530-45BD-B6E8-DA1FAE659BF0}" srcOrd="0" destOrd="0" presId="urn:microsoft.com/office/officeart/2005/8/layout/target2"/>
    <dgm:cxn modelId="{4ECB2666-A094-40DF-B796-09232D5A1C11}" srcId="{51B1BDEC-32C6-493B-8936-B1EEDB66D93B}" destId="{588C4D56-79E5-43EA-B546-BE4D970833AF}" srcOrd="1" destOrd="0" parTransId="{3229A58A-6CD3-4901-8D37-9E7865227391}" sibTransId="{5FCE9F97-A61F-4970-BAC0-70CC0468534B}"/>
    <dgm:cxn modelId="{F0339B52-487D-4417-9736-A34878AD2196}" srcId="{2025E54B-C602-4E0C-88BE-16814215E712}" destId="{64F020BB-BA95-45AD-BB19-4A2D1F9B9681}" srcOrd="0" destOrd="0" parTransId="{9860DFB6-671C-4172-8225-85D96154FCD3}" sibTransId="{270D05A3-092A-4F0A-8401-B12FB17A7F61}"/>
    <dgm:cxn modelId="{D3DAC091-BAFD-40C1-BF3F-ADBF49899D90}" srcId="{588C4D56-79E5-43EA-B546-BE4D970833AF}" destId="{6E327B68-79BD-4BB9-9B3B-9241F3041944}" srcOrd="1" destOrd="0" parTransId="{F7642D0D-6828-4382-9B6F-695565B3C74A}" sibTransId="{99652D75-C382-420C-A06F-BA19838410F4}"/>
    <dgm:cxn modelId="{279DA8A1-92F3-4A7D-994D-AC49E92A63E3}" type="presOf" srcId="{A826E31F-5C9B-4E72-AAA6-ACA7D7325F3F}" destId="{1FC5283E-E0AA-46ED-B5A3-EA9027E20AC5}" srcOrd="0" destOrd="0" presId="urn:microsoft.com/office/officeart/2005/8/layout/target2"/>
    <dgm:cxn modelId="{C1EBFFD8-AFFB-403C-B488-BEE61C5B0A7E}" type="presOf" srcId="{CB2B9A62-1A25-43F6-8B7C-1C1D937218A5}" destId="{B840A948-BDB9-458B-A937-8B1E39A81AA4}" srcOrd="0" destOrd="0" presId="urn:microsoft.com/office/officeart/2005/8/layout/target2"/>
    <dgm:cxn modelId="{19C2C5DD-A058-40DD-9565-AEC882A4C821}" type="presOf" srcId="{F486841D-3F81-43B2-A51F-7D1B5869BDB6}" destId="{78BBFC9B-4B1A-4255-8233-529FAF49E9DC}" srcOrd="0" destOrd="0" presId="urn:microsoft.com/office/officeart/2005/8/layout/target2"/>
    <dgm:cxn modelId="{AF7C74E1-10A4-457A-98E4-DADEC44EB224}" srcId="{588C4D56-79E5-43EA-B546-BE4D970833AF}" destId="{A0E5EF81-DBD3-4B3C-8CD2-FC6730D7AD87}" srcOrd="0" destOrd="0" parTransId="{2A9BF7BD-A950-482B-91D1-37451F30FED4}" sibTransId="{96B59FF4-64C6-4E87-9B89-FF0A740C28E6}"/>
    <dgm:cxn modelId="{3C643CE6-0481-4CA1-AF9C-D9A44E7E6C27}" srcId="{A826E31F-5C9B-4E72-AAA6-ACA7D7325F3F}" destId="{F486841D-3F81-43B2-A51F-7D1B5869BDB6}" srcOrd="1" destOrd="0" parTransId="{F8162498-5B95-4BE9-A041-912EC48E2DB9}" sibTransId="{6D40C3A8-E098-4F80-B664-8348395DB64C}"/>
    <dgm:cxn modelId="{B72BE8EE-410A-4B04-B7DD-2F8B08BB73BB}" srcId="{51B1BDEC-32C6-493B-8936-B1EEDB66D93B}" destId="{2025E54B-C602-4E0C-88BE-16814215E712}" srcOrd="0" destOrd="0" parTransId="{E53B5925-8B54-44EE-9568-3002687E0051}" sibTransId="{CA303358-787B-4786-AD3B-D374D8DCEDB1}"/>
    <dgm:cxn modelId="{26721941-C8F6-4663-8F17-2A04E0CE47B7}" type="presParOf" srcId="{2DB0ACAD-4530-45BD-B6E8-DA1FAE659BF0}" destId="{C38EB001-12FA-40EB-BE09-2FFAC2B5C5B7}" srcOrd="0" destOrd="0" presId="urn:microsoft.com/office/officeart/2005/8/layout/target2"/>
    <dgm:cxn modelId="{4D78D584-66CB-45EA-B8BC-E0038343F799}" type="presParOf" srcId="{C38EB001-12FA-40EB-BE09-2FFAC2B5C5B7}" destId="{47C2B1D0-696D-4A0D-9D5E-00E53E5425A0}" srcOrd="0" destOrd="0" presId="urn:microsoft.com/office/officeart/2005/8/layout/target2"/>
    <dgm:cxn modelId="{55ED6D57-871E-4723-99A0-C6CA388F8727}" type="presParOf" srcId="{C38EB001-12FA-40EB-BE09-2FFAC2B5C5B7}" destId="{6963782F-BBFC-4242-B505-BF7639B4F24B}" srcOrd="1" destOrd="0" presId="urn:microsoft.com/office/officeart/2005/8/layout/target2"/>
    <dgm:cxn modelId="{43EC8391-2648-4186-9A51-A1B7C3D95284}" type="presParOf" srcId="{6963782F-BBFC-4242-B505-BF7639B4F24B}" destId="{B45FEF0E-BFC1-445B-98BE-3407BA8C002E}" srcOrd="0" destOrd="0" presId="urn:microsoft.com/office/officeart/2005/8/layout/target2"/>
    <dgm:cxn modelId="{B6AAE856-C23A-4ABD-99A8-4BA1847D2D8C}" type="presParOf" srcId="{6963782F-BBFC-4242-B505-BF7639B4F24B}" destId="{F69D9492-292E-4A76-9F13-6AABA865F79B}" srcOrd="1" destOrd="0" presId="urn:microsoft.com/office/officeart/2005/8/layout/target2"/>
    <dgm:cxn modelId="{139E3996-B930-4829-955C-083BF7966686}" type="presParOf" srcId="{6963782F-BBFC-4242-B505-BF7639B4F24B}" destId="{B840A948-BDB9-458B-A937-8B1E39A81AA4}" srcOrd="2" destOrd="0" presId="urn:microsoft.com/office/officeart/2005/8/layout/target2"/>
    <dgm:cxn modelId="{9826A7EA-3C56-40AE-BDD7-550A0D61F253}" type="presParOf" srcId="{2DB0ACAD-4530-45BD-B6E8-DA1FAE659BF0}" destId="{A3FACB27-30B9-43BD-8890-15CCC583AD88}" srcOrd="1" destOrd="0" presId="urn:microsoft.com/office/officeart/2005/8/layout/target2"/>
    <dgm:cxn modelId="{6ED48BCE-CB3A-4802-B012-DB22DD45F92E}" type="presParOf" srcId="{A3FACB27-30B9-43BD-8890-15CCC583AD88}" destId="{5FD6CB8E-18FB-46D9-A275-FA8E628927D0}" srcOrd="0" destOrd="0" presId="urn:microsoft.com/office/officeart/2005/8/layout/target2"/>
    <dgm:cxn modelId="{CBC920C8-2F59-4550-8CF9-5C7C5E189444}" type="presParOf" srcId="{A3FACB27-30B9-43BD-8890-15CCC583AD88}" destId="{3B101AF7-4CFF-42EB-AEDA-1D736B48733E}" srcOrd="1" destOrd="0" presId="urn:microsoft.com/office/officeart/2005/8/layout/target2"/>
    <dgm:cxn modelId="{436B0CC8-DEED-4F79-8F9B-EF3BDD04549A}" type="presParOf" srcId="{3B101AF7-4CFF-42EB-AEDA-1D736B48733E}" destId="{30DB8B35-3A2C-4C5C-A992-4C7A4181E751}" srcOrd="0" destOrd="0" presId="urn:microsoft.com/office/officeart/2005/8/layout/target2"/>
    <dgm:cxn modelId="{91B1A860-0DE1-4A93-9758-B21C03E37346}" type="presParOf" srcId="{3B101AF7-4CFF-42EB-AEDA-1D736B48733E}" destId="{9367508B-AA76-43B3-9FCF-9836EB141BE1}" srcOrd="1" destOrd="0" presId="urn:microsoft.com/office/officeart/2005/8/layout/target2"/>
    <dgm:cxn modelId="{4DDF9571-66FE-4C06-8952-19FEEA74ABB1}" type="presParOf" srcId="{3B101AF7-4CFF-42EB-AEDA-1D736B48733E}" destId="{EC2745A4-B89B-4128-B640-33CD0544B2ED}" srcOrd="2" destOrd="0" presId="urn:microsoft.com/office/officeart/2005/8/layout/target2"/>
    <dgm:cxn modelId="{DBB6CB9E-D60A-4ED6-BA75-DF517F560E4C}" type="presParOf" srcId="{2DB0ACAD-4530-45BD-B6E8-DA1FAE659BF0}" destId="{4BBA9B07-BE0A-484E-B00B-C2637959A024}" srcOrd="2" destOrd="0" presId="urn:microsoft.com/office/officeart/2005/8/layout/target2"/>
    <dgm:cxn modelId="{EC95B036-81A8-4010-9A88-B6A41DB9B950}" type="presParOf" srcId="{4BBA9B07-BE0A-484E-B00B-C2637959A024}" destId="{1FC5283E-E0AA-46ED-B5A3-EA9027E20AC5}" srcOrd="0" destOrd="0" presId="urn:microsoft.com/office/officeart/2005/8/layout/target2"/>
    <dgm:cxn modelId="{05D7735F-5B97-4235-B3FC-60B5C561A29F}" type="presParOf" srcId="{4BBA9B07-BE0A-484E-B00B-C2637959A024}" destId="{00B6B75B-0C3B-4017-ACF7-82CA6D96E1AD}" srcOrd="1" destOrd="0" presId="urn:microsoft.com/office/officeart/2005/8/layout/target2"/>
    <dgm:cxn modelId="{DCBD9F73-6D99-4619-A687-BE5FCCBE369A}" type="presParOf" srcId="{00B6B75B-0C3B-4017-ACF7-82CA6D96E1AD}" destId="{D327F47C-4EFF-4749-8D5B-5C35096DF4F7}" srcOrd="0" destOrd="0" presId="urn:microsoft.com/office/officeart/2005/8/layout/target2"/>
    <dgm:cxn modelId="{3D3DFC99-4614-4E63-A3DD-58B985CBBC02}" type="presParOf" srcId="{00B6B75B-0C3B-4017-ACF7-82CA6D96E1AD}" destId="{873332D8-65E6-4C91-AE39-7ABDA95A041C}" srcOrd="1" destOrd="0" presId="urn:microsoft.com/office/officeart/2005/8/layout/target2"/>
    <dgm:cxn modelId="{478CC1EE-F6EB-43B7-A1ED-25550D132F40}" type="presParOf" srcId="{00B6B75B-0C3B-4017-ACF7-82CA6D96E1AD}" destId="{78BBFC9B-4B1A-4255-8233-529FAF49E9DC}" srcOrd="2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C2B1D0-696D-4A0D-9D5E-00E53E5425A0}">
      <dsp:nvSpPr>
        <dsp:cNvPr id="0" name=""/>
        <dsp:cNvSpPr/>
      </dsp:nvSpPr>
      <dsp:spPr>
        <a:xfrm>
          <a:off x="0" y="0"/>
          <a:ext cx="9441546" cy="5394023"/>
        </a:xfrm>
        <a:prstGeom prst="roundRect">
          <a:avLst>
            <a:gd name="adj" fmla="val 8500"/>
          </a:avLst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3">
              <a:shade val="80000"/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4186361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 dirty="0">
              <a:solidFill>
                <a:schemeClr val="tx1"/>
              </a:solidFill>
            </a:rPr>
            <a:t>Level 3</a:t>
          </a:r>
          <a:r>
            <a:rPr lang="en-GB" sz="3000" kern="1200" dirty="0">
              <a:solidFill>
                <a:schemeClr val="tx1"/>
              </a:solidFill>
            </a:rPr>
            <a:t>: unplanned integrated analysis </a:t>
          </a:r>
          <a:r>
            <a:rPr lang="en-GB" sz="1100" kern="1200" dirty="0">
              <a:solidFill>
                <a:schemeClr val="tx1"/>
              </a:solidFill>
            </a:rPr>
            <a:t>(incl. special analysis and modelling)</a:t>
          </a:r>
        </a:p>
      </dsp:txBody>
      <dsp:txXfrm>
        <a:off x="134288" y="134288"/>
        <a:ext cx="9172970" cy="5125447"/>
      </dsp:txXfrm>
    </dsp:sp>
    <dsp:sp modelId="{B45FEF0E-BFC1-445B-98BE-3407BA8C002E}">
      <dsp:nvSpPr>
        <dsp:cNvPr id="0" name=""/>
        <dsp:cNvSpPr/>
      </dsp:nvSpPr>
      <dsp:spPr>
        <a:xfrm>
          <a:off x="236038" y="1348505"/>
          <a:ext cx="1416231" cy="1852878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chemeClr val="tx1"/>
              </a:solidFill>
            </a:rPr>
            <a:t>Based on epidemiological trends</a:t>
          </a:r>
        </a:p>
      </dsp:txBody>
      <dsp:txXfrm>
        <a:off x="279592" y="1392059"/>
        <a:ext cx="1329123" cy="1765770"/>
      </dsp:txXfrm>
    </dsp:sp>
    <dsp:sp modelId="{B840A948-BDB9-458B-A937-8B1E39A81AA4}">
      <dsp:nvSpPr>
        <dsp:cNvPr id="0" name=""/>
        <dsp:cNvSpPr/>
      </dsp:nvSpPr>
      <dsp:spPr>
        <a:xfrm>
          <a:off x="236038" y="3270881"/>
          <a:ext cx="1416231" cy="1852878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20790"/>
              <a:satOff val="-6114"/>
              <a:lumOff val="679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chemeClr val="tx1"/>
              </a:solidFill>
            </a:rPr>
            <a:t>Based on new research questions</a:t>
          </a:r>
        </a:p>
      </dsp:txBody>
      <dsp:txXfrm>
        <a:off x="279592" y="3314435"/>
        <a:ext cx="1329123" cy="1765770"/>
      </dsp:txXfrm>
    </dsp:sp>
    <dsp:sp modelId="{5FD6CB8E-18FB-46D9-A275-FA8E628927D0}">
      <dsp:nvSpPr>
        <dsp:cNvPr id="0" name=""/>
        <dsp:cNvSpPr/>
      </dsp:nvSpPr>
      <dsp:spPr>
        <a:xfrm>
          <a:off x="1888309" y="1348505"/>
          <a:ext cx="7317198" cy="3775816"/>
        </a:xfrm>
        <a:prstGeom prst="roundRect">
          <a:avLst>
            <a:gd name="adj" fmla="val 10500"/>
          </a:avLst>
        </a:prstGeom>
        <a:solidFill>
          <a:schemeClr val="accent3">
            <a:shade val="80000"/>
            <a:hueOff val="51976"/>
            <a:satOff val="-15286"/>
            <a:lumOff val="1699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3">
              <a:shade val="80000"/>
              <a:hueOff val="51976"/>
              <a:satOff val="-15286"/>
              <a:lumOff val="16997"/>
              <a:alphaOff val="0"/>
              <a:shade val="9000"/>
              <a:satMod val="105000"/>
              <a:alpha val="4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2397643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 dirty="0">
              <a:solidFill>
                <a:schemeClr val="tx1"/>
              </a:solidFill>
            </a:rPr>
            <a:t>Level 2:</a:t>
          </a:r>
          <a:r>
            <a:rPr lang="en-GB" sz="3000" kern="1200" dirty="0">
              <a:solidFill>
                <a:schemeClr val="tx1"/>
              </a:solidFill>
            </a:rPr>
            <a:t> routine/ planned integrated analysis</a:t>
          </a:r>
        </a:p>
      </dsp:txBody>
      <dsp:txXfrm>
        <a:off x="2004428" y="1464624"/>
        <a:ext cx="7084960" cy="3543578"/>
      </dsp:txXfrm>
    </dsp:sp>
    <dsp:sp modelId="{30DB8B35-3A2C-4C5C-A992-4C7A4181E751}">
      <dsp:nvSpPr>
        <dsp:cNvPr id="0" name=""/>
        <dsp:cNvSpPr/>
      </dsp:nvSpPr>
      <dsp:spPr>
        <a:xfrm>
          <a:off x="2071239" y="2670041"/>
          <a:ext cx="1463439" cy="1050563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41581"/>
              <a:satOff val="-12229"/>
              <a:lumOff val="135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chemeClr val="tx1"/>
              </a:solidFill>
            </a:rPr>
            <a:t>Spatial analysis</a:t>
          </a:r>
        </a:p>
      </dsp:txBody>
      <dsp:txXfrm>
        <a:off x="2103547" y="2702349"/>
        <a:ext cx="1398823" cy="985947"/>
      </dsp:txXfrm>
    </dsp:sp>
    <dsp:sp modelId="{EC2745A4-B89B-4128-B640-33CD0544B2ED}">
      <dsp:nvSpPr>
        <dsp:cNvPr id="0" name=""/>
        <dsp:cNvSpPr/>
      </dsp:nvSpPr>
      <dsp:spPr>
        <a:xfrm>
          <a:off x="2071239" y="3789134"/>
          <a:ext cx="1463439" cy="1050563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62371"/>
              <a:satOff val="-18343"/>
              <a:lumOff val="203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chemeClr val="tx1"/>
              </a:solidFill>
            </a:rPr>
            <a:t>Modelling</a:t>
          </a:r>
        </a:p>
      </dsp:txBody>
      <dsp:txXfrm>
        <a:off x="2103547" y="3821442"/>
        <a:ext cx="1398823" cy="985947"/>
      </dsp:txXfrm>
    </dsp:sp>
    <dsp:sp modelId="{1FC5283E-E0AA-46ED-B5A3-EA9027E20AC5}">
      <dsp:nvSpPr>
        <dsp:cNvPr id="0" name=""/>
        <dsp:cNvSpPr/>
      </dsp:nvSpPr>
      <dsp:spPr>
        <a:xfrm>
          <a:off x="3729410" y="2697011"/>
          <a:ext cx="5240058" cy="2157609"/>
        </a:xfrm>
        <a:prstGeom prst="roundRect">
          <a:avLst>
            <a:gd name="adj" fmla="val 10500"/>
          </a:avLst>
        </a:prstGeom>
        <a:solidFill>
          <a:schemeClr val="accent3">
            <a:shade val="80000"/>
            <a:hueOff val="103952"/>
            <a:satOff val="-30572"/>
            <a:lumOff val="33994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3">
              <a:shade val="80000"/>
              <a:hueOff val="103952"/>
              <a:satOff val="-30572"/>
              <a:lumOff val="33994"/>
              <a:alphaOff val="0"/>
              <a:shade val="9000"/>
              <a:satMod val="105000"/>
              <a:alpha val="4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217851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 dirty="0">
              <a:solidFill>
                <a:schemeClr val="tx1"/>
              </a:solidFill>
            </a:rPr>
            <a:t>Level 1:</a:t>
          </a:r>
          <a:r>
            <a:rPr lang="en-GB" sz="3000" kern="1200" dirty="0">
              <a:solidFill>
                <a:schemeClr val="tx1"/>
              </a:solidFill>
            </a:rPr>
            <a:t> descriptive analysis</a:t>
          </a:r>
        </a:p>
      </dsp:txBody>
      <dsp:txXfrm>
        <a:off x="3795764" y="2763365"/>
        <a:ext cx="5107350" cy="2024901"/>
      </dsp:txXfrm>
    </dsp:sp>
    <dsp:sp modelId="{D327F47C-4EFF-4749-8D5B-5C35096DF4F7}">
      <dsp:nvSpPr>
        <dsp:cNvPr id="0" name=""/>
        <dsp:cNvSpPr/>
      </dsp:nvSpPr>
      <dsp:spPr>
        <a:xfrm>
          <a:off x="3860412" y="3667935"/>
          <a:ext cx="2452567" cy="970924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83161"/>
              <a:satOff val="-24458"/>
              <a:lumOff val="271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chemeClr val="tx1"/>
              </a:solidFill>
            </a:rPr>
            <a:t>Per surveillance domain</a:t>
          </a:r>
        </a:p>
      </dsp:txBody>
      <dsp:txXfrm>
        <a:off x="3890271" y="3697794"/>
        <a:ext cx="2392849" cy="911206"/>
      </dsp:txXfrm>
    </dsp:sp>
    <dsp:sp modelId="{78BBFC9B-4B1A-4255-8233-529FAF49E9DC}">
      <dsp:nvSpPr>
        <dsp:cNvPr id="0" name=""/>
        <dsp:cNvSpPr/>
      </dsp:nvSpPr>
      <dsp:spPr>
        <a:xfrm>
          <a:off x="6382753" y="3667935"/>
          <a:ext cx="2452567" cy="970924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103952"/>
              <a:satOff val="-30572"/>
              <a:lumOff val="339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chemeClr val="tx1"/>
              </a:solidFill>
            </a:rPr>
            <a:t>Per pathogen</a:t>
          </a:r>
        </a:p>
      </dsp:txBody>
      <dsp:txXfrm>
        <a:off x="6412612" y="3697794"/>
        <a:ext cx="2392849" cy="911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24272F-40B9-48FA-82EE-4BB37D9AE49F}" type="datetimeFigureOut">
              <a:rPr lang="pt-PT" smtClean="0"/>
              <a:t>06/11/2025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F5814-5D02-4BD9-B819-14A41CF9222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77547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F3E37-9392-1F11-0A02-CF34BF7DC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BBF91-CC2C-7AA1-2ABA-E44864371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B0E01-2512-CBC9-C9C8-12CD12711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01A98-5DDD-A516-C89D-4EA72BF66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F5814-5D02-4BD9-B819-14A41CF92225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07941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F5814-5D02-4BD9-B819-14A41CF92225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7044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19B03-DC70-85FD-CDAA-FEA71FE6A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A90C2-7DA2-22AF-8C55-9D84135E1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6898B-7F05-229A-87CB-EFE13F83F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76007-2E48-6440-86EC-D546CBF5A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F5814-5D02-4BD9-B819-14A41CF92225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6177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9144D-A3E4-FF45-835F-7D9081CC1C31}" type="slidenum">
              <a:rPr lang="pt-PT" altLang="en-US" smtClean="0"/>
              <a:pPr/>
              <a:t>15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652951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3CEC2-12FD-794D-E266-38BB3C490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C43ED2E5-4CFD-ADDA-367F-079777EC71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FAA91443-7EDE-F0F4-DE8E-B788846B89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B99DB652-414B-0E3A-151D-747752F6A6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F0F7B7B-D823-4C4E-BB82-FAABE85CBF93}" type="slidenum">
              <a:rPr lang="pt-PT" altLang="en-US"/>
              <a:pPr/>
              <a:t>16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4160567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E1D7828-F2E1-4466-AFA5-EEFAFAE95D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8000" y="4038600"/>
            <a:ext cx="11277600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/>
          </a:ln>
          <a:effectLst>
            <a:outerShdw blurRad="57150" dist="38100" dir="5400000" algn="ctr" rotWithShape="0">
              <a:srgbClr val="003148">
                <a:alpha val="48000"/>
              </a:srgbClr>
            </a:outerShdw>
          </a:effectLst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82AD0B-5FAB-4906-A6C9-7409F6123463}"/>
              </a:ext>
            </a:extLst>
          </p:cNvPr>
          <p:cNvCxnSpPr/>
          <p:nvPr/>
        </p:nvCxnSpPr>
        <p:spPr>
          <a:xfrm rot="16200000" flipH="1">
            <a:off x="5903119" y="3545682"/>
            <a:ext cx="5300663" cy="38100"/>
          </a:xfrm>
          <a:prstGeom prst="line">
            <a:avLst/>
          </a:prstGeom>
          <a:ln w="19050">
            <a:solidFill>
              <a:srgbClr val="0087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7670816" cy="2486028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ctr" rtl="0">
              <a:spcBef>
                <a:spcPct val="0"/>
              </a:spcBef>
              <a:buNone/>
              <a:defRPr sz="4000" b="1">
                <a:ln>
                  <a:noFill/>
                </a:ln>
                <a:solidFill>
                  <a:srgbClr val="00879C"/>
                </a:solidFill>
                <a:effectLst/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66712" y="4357694"/>
            <a:ext cx="7715304" cy="1752600"/>
          </a:xfrm>
        </p:spPr>
        <p:txBody>
          <a:bodyPr lIns="0" rIns="18288">
            <a:normAutofit/>
          </a:bodyPr>
          <a:lstStyle>
            <a:lvl1pPr marL="0" marR="45720" indent="0" algn="ctr">
              <a:buNone/>
              <a:defRPr sz="2400" b="1" baseline="0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29">
            <a:extLst>
              <a:ext uri="{FF2B5EF4-FFF2-40B4-BE49-F238E27FC236}">
                <a16:creationId xmlns:a16="http://schemas.microsoft.com/office/drawing/2014/main" id="{AF152D43-E07F-4E77-B329-7C7EAEEDA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6059A36E-E6CE-4FBA-A5A7-1E99894EB8A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7" name="Footer Placeholder 18">
            <a:extLst>
              <a:ext uri="{FF2B5EF4-FFF2-40B4-BE49-F238E27FC236}">
                <a16:creationId xmlns:a16="http://schemas.microsoft.com/office/drawing/2014/main" id="{C1750464-4F5F-4D8B-9AC5-4C322A5A4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569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B9DF4C-54B6-4164-90B7-63108D7CD9B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1500" y="1857375"/>
            <a:ext cx="11277600" cy="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/>
            <a:tailEnd/>
          </a:ln>
          <a:effectLst>
            <a:outerShdw blurRad="57150" dist="38100" dir="5400000" algn="ctr" rotWithShape="0">
              <a:srgbClr val="003148">
                <a:alpha val="48000"/>
              </a:srgbClr>
            </a:outerShdw>
          </a:effec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783A2037-50B6-44E8-A4E2-B9491C88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59A36E-E6CE-4FBA-A5A7-1E99894EB8A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21">
            <a:extLst>
              <a:ext uri="{FF2B5EF4-FFF2-40B4-BE49-F238E27FC236}">
                <a16:creationId xmlns:a16="http://schemas.microsoft.com/office/drawing/2014/main" id="{29813A87-8C1D-46FC-89DA-4F592F37B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43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DD3EE51-F7A6-4A11-9FA7-A7D9048CD42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8000" y="4038600"/>
            <a:ext cx="11277600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/>
          </a:ln>
          <a:effectLst>
            <a:outerShdw blurRad="57150" dist="38100" dir="5400000" algn="ctr" rotWithShape="0">
              <a:srgbClr val="003148">
                <a:alpha val="48000"/>
              </a:srgbClr>
            </a:outerShdw>
          </a:effectLst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7D5429-052F-4ECB-9260-BF1067762E71}"/>
              </a:ext>
            </a:extLst>
          </p:cNvPr>
          <p:cNvCxnSpPr/>
          <p:nvPr/>
        </p:nvCxnSpPr>
        <p:spPr>
          <a:xfrm rot="16200000" flipH="1">
            <a:off x="5903119" y="3545682"/>
            <a:ext cx="5300663" cy="38100"/>
          </a:xfrm>
          <a:prstGeom prst="line">
            <a:avLst/>
          </a:prstGeom>
          <a:ln w="19050">
            <a:solidFill>
              <a:srgbClr val="0087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7670816" cy="2486028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ctr" rtl="0">
              <a:spcBef>
                <a:spcPct val="0"/>
              </a:spcBef>
              <a:buNone/>
              <a:defRPr sz="4000" b="1">
                <a:ln>
                  <a:noFill/>
                </a:ln>
                <a:solidFill>
                  <a:srgbClr val="00879C"/>
                </a:solidFill>
                <a:effectLst/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16"/>
          <p:cNvSpPr>
            <a:spLocks noGrp="1"/>
          </p:cNvSpPr>
          <p:nvPr>
            <p:ph type="subTitle" idx="1"/>
          </p:nvPr>
        </p:nvSpPr>
        <p:spPr>
          <a:xfrm>
            <a:off x="666712" y="4357694"/>
            <a:ext cx="7715304" cy="1752600"/>
          </a:xfrm>
        </p:spPr>
        <p:txBody>
          <a:bodyPr lIns="0" rIns="18288">
            <a:normAutofit/>
          </a:bodyPr>
          <a:lstStyle>
            <a:lvl1pPr marL="0" marR="45720" indent="0" algn="ctr">
              <a:buNone/>
              <a:defRPr sz="32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DBF2AA1-4FD3-4677-8214-A82E675BC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6059A36E-E6CE-4FBA-A5A7-1E99894EB8A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46A9393-621D-4380-87EE-D58567F7D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56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76B5B5-E412-44A5-B563-672C0B9CCB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1500" y="1857375"/>
            <a:ext cx="11277600" cy="0"/>
          </a:xfrm>
          <a:prstGeom prst="line">
            <a:avLst/>
          </a:prstGeom>
          <a:noFill/>
          <a:ln w="57150">
            <a:solidFill>
              <a:srgbClr val="C00000"/>
            </a:solidFill>
            <a:round/>
            <a:headEnd/>
            <a:tailEnd/>
          </a:ln>
          <a:effectLst>
            <a:outerShdw blurRad="57150" dist="38100" dir="5400000" algn="ctr" rotWithShape="0">
              <a:srgbClr val="003148">
                <a:alpha val="48000"/>
              </a:srgbClr>
            </a:outerShdw>
          </a:effec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9">
            <a:extLst>
              <a:ext uri="{FF2B5EF4-FFF2-40B4-BE49-F238E27FC236}">
                <a16:creationId xmlns:a16="http://schemas.microsoft.com/office/drawing/2014/main" id="{0B18CB70-AB6D-43E0-A0EC-EB2CF0715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59A36E-E6CE-4FBA-A5A7-1E99894EB8A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7" name="Footer Placeholder 21">
            <a:extLst>
              <a:ext uri="{FF2B5EF4-FFF2-40B4-BE49-F238E27FC236}">
                <a16:creationId xmlns:a16="http://schemas.microsoft.com/office/drawing/2014/main" id="{0B2CAF0C-405E-4322-8E1E-CBD19C9F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109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EA373B-D190-48C9-BE8D-641765421DA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1500" y="1857375"/>
            <a:ext cx="11277600" cy="0"/>
          </a:xfrm>
          <a:prstGeom prst="line">
            <a:avLst/>
          </a:prstGeom>
          <a:noFill/>
          <a:ln w="57150">
            <a:solidFill>
              <a:srgbClr val="8E3A60"/>
            </a:solidFill>
            <a:round/>
            <a:headEnd/>
            <a:tailEnd/>
          </a:ln>
          <a:effectLst>
            <a:outerShdw blurRad="57150" dist="38100" dir="5400000" algn="ctr" rotWithShape="0">
              <a:srgbClr val="003148">
                <a:alpha val="48000"/>
              </a:srgbClr>
            </a:outerShdw>
          </a:effec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9">
            <a:extLst>
              <a:ext uri="{FF2B5EF4-FFF2-40B4-BE49-F238E27FC236}">
                <a16:creationId xmlns:a16="http://schemas.microsoft.com/office/drawing/2014/main" id="{6EBB0161-393A-4FAC-9899-8B27FF1FC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59A36E-E6CE-4FBA-A5A7-1E99894EB8A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9" name="Footer Placeholder 21">
            <a:extLst>
              <a:ext uri="{FF2B5EF4-FFF2-40B4-BE49-F238E27FC236}">
                <a16:creationId xmlns:a16="http://schemas.microsoft.com/office/drawing/2014/main" id="{A7B38470-92A9-4F84-AF81-7812BCB2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91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847DD-3809-41C6-8891-5134252EF19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1500" y="1857375"/>
            <a:ext cx="11277600" cy="0"/>
          </a:xfrm>
          <a:prstGeom prst="line">
            <a:avLst/>
          </a:prstGeom>
          <a:noFill/>
          <a:ln w="57150">
            <a:solidFill>
              <a:srgbClr val="8E3A60"/>
            </a:solidFill>
            <a:round/>
            <a:headEnd/>
            <a:tailEnd/>
          </a:ln>
          <a:effectLst>
            <a:outerShdw blurRad="57150" dist="38100" dir="5400000" algn="ctr" rotWithShape="0">
              <a:srgbClr val="003148">
                <a:alpha val="48000"/>
              </a:srgbClr>
            </a:outerShdw>
          </a:effec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3600" b="1">
                <a:ln>
                  <a:noFill/>
                </a:ln>
                <a:solidFill>
                  <a:srgbClr val="0039AC"/>
                </a:solidFill>
                <a:effectLst/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6C740F09-CF65-4200-B0E2-B9226BE6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59A36E-E6CE-4FBA-A5A7-1E99894EB8A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21">
            <a:extLst>
              <a:ext uri="{FF2B5EF4-FFF2-40B4-BE49-F238E27FC236}">
                <a16:creationId xmlns:a16="http://schemas.microsoft.com/office/drawing/2014/main" id="{A697EF8A-1F60-4754-BB45-99AA126E2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6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>
            <a:extLst>
              <a:ext uri="{FF2B5EF4-FFF2-40B4-BE49-F238E27FC236}">
                <a16:creationId xmlns:a16="http://schemas.microsoft.com/office/drawing/2014/main" id="{75634B33-E0CB-4BD7-9639-38A35A70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59A36E-E6CE-4FBA-A5A7-1E99894EB8A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1">
            <a:extLst>
              <a:ext uri="{FF2B5EF4-FFF2-40B4-BE49-F238E27FC236}">
                <a16:creationId xmlns:a16="http://schemas.microsoft.com/office/drawing/2014/main" id="{2F38277E-AD98-4A2E-BF1A-6D8DA473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48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1">
                <a:ln>
                  <a:noFill/>
                </a:ln>
                <a:solidFill>
                  <a:srgbClr val="0039AC"/>
                </a:solidFill>
                <a:effectLst/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C957ED2D-A878-4076-BE4F-11742A7EE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59A36E-E6CE-4FBA-A5A7-1E99894EB8A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21">
            <a:extLst>
              <a:ext uri="{FF2B5EF4-FFF2-40B4-BE49-F238E27FC236}">
                <a16:creationId xmlns:a16="http://schemas.microsoft.com/office/drawing/2014/main" id="{3766D551-BFC8-4639-BCD1-96EEB7CE3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20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2C7FAF13-EB5B-48D5-8042-FE26D899AA10}"/>
              </a:ext>
            </a:extLst>
          </p:cNvPr>
          <p:cNvSpPr>
            <a:spLocks noChangeArrowheads="1"/>
          </p:cNvSpPr>
          <p:nvPr/>
        </p:nvSpPr>
        <p:spPr bwMode="auto">
          <a:xfrm rot="420000" flipV="1">
            <a:off x="4220633" y="1108075"/>
            <a:ext cx="7010400" cy="4114800"/>
          </a:xfrm>
          <a:custGeom>
            <a:avLst/>
            <a:gdLst>
              <a:gd name="T0" fmla="*/ 5257800 w 5257800"/>
              <a:gd name="T1" fmla="*/ 2057400 h 4114800"/>
              <a:gd name="T2" fmla="*/ 2628900 w 5257800"/>
              <a:gd name="T3" fmla="*/ 4114800 h 4114800"/>
              <a:gd name="T4" fmla="*/ 0 w 5257800"/>
              <a:gd name="T5" fmla="*/ 2057400 h 4114800"/>
              <a:gd name="T6" fmla="*/ 2628900 w 5257800"/>
              <a:gd name="T7" fmla="*/ 0 h 41148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5257800"/>
              <a:gd name="T13" fmla="*/ 0 h 4114800"/>
              <a:gd name="T14" fmla="*/ 5182785 w 5257800"/>
              <a:gd name="T15" fmla="*/ 4114800 h 4114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57800" h="4114800">
                <a:moveTo>
                  <a:pt x="0" y="0"/>
                </a:moveTo>
                <a:lnTo>
                  <a:pt x="5107774" y="0"/>
                </a:lnTo>
                <a:lnTo>
                  <a:pt x="5257800" y="150026"/>
                </a:lnTo>
                <a:lnTo>
                  <a:pt x="5257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rnd">
            <a:solidFill>
              <a:srgbClr val="C0C0C0"/>
            </a:solidFill>
            <a:miter lim="800000"/>
            <a:headEnd/>
            <a:tailEnd/>
          </a:ln>
          <a:effectLst>
            <a:outerShdw blurRad="63500" dist="38500" dir="7500041" sx="98500" sy="100079" kx="99984" algn="tl" rotWithShape="0">
              <a:srgbClr val="000000">
                <a:alpha val="25000"/>
              </a:srgbClr>
            </a:outerShdw>
          </a:effectLst>
        </p:spPr>
        <p:txBody>
          <a:bodyPr anchor="ctr"/>
          <a:lstStyle/>
          <a:p>
            <a:pPr eaLnBrk="1" hangingPunct="1">
              <a:defRPr/>
            </a:pPr>
            <a:endParaRPr lang="en-GB">
              <a:solidFill>
                <a:prstClr val="black"/>
              </a:solidFill>
            </a:endParaRP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D6DF4C9-1993-438B-9F49-7F90AB36658F}"/>
              </a:ext>
            </a:extLst>
          </p:cNvPr>
          <p:cNvSpPr>
            <a:spLocks noChangeArrowheads="1"/>
          </p:cNvSpPr>
          <p:nvPr/>
        </p:nvSpPr>
        <p:spPr bwMode="auto">
          <a:xfrm rot="420000" flipV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bevel/>
            <a:headEnd/>
            <a:tailEnd/>
          </a:ln>
          <a:effectLst>
            <a:outerShdw blurRad="63500" dist="6350" dir="12899787" algn="tl" rotWithShape="0">
              <a:srgbClr val="000000">
                <a:alpha val="46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  <a:latin typeface="Constant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>
            <a:normAutofit/>
          </a:bodyPr>
          <a:lstStyle>
            <a:lvl1pPr algn="l">
              <a:buNone/>
              <a:defRPr sz="2400" b="1">
                <a:solidFill>
                  <a:srgbClr val="0039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2D5F3B1F-C8CA-41FD-BEB4-87EBAD7D3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59A36E-E6CE-4FBA-A5A7-1E99894EB8A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D6A091C-8C3E-41E5-9739-98E277EC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14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11C268-8972-432A-B8DE-9E3A80A066C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1500" y="1857375"/>
            <a:ext cx="11277600" cy="0"/>
          </a:xfrm>
          <a:prstGeom prst="line">
            <a:avLst/>
          </a:prstGeom>
          <a:noFill/>
          <a:ln w="57150">
            <a:solidFill>
              <a:srgbClr val="8E3A60"/>
            </a:solidFill>
            <a:round/>
            <a:headEnd/>
            <a:tailEnd/>
          </a:ln>
          <a:effectLst>
            <a:outerShdw blurRad="57150" dist="38100" dir="5400000" algn="ctr" rotWithShape="0">
              <a:srgbClr val="003148">
                <a:alpha val="48000"/>
              </a:srgbClr>
            </a:outerShdw>
          </a:effec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71C49B30-58E3-44E6-AF29-64E33E931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59A36E-E6CE-4FBA-A5A7-1E99894EB8A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21">
            <a:extLst>
              <a:ext uri="{FF2B5EF4-FFF2-40B4-BE49-F238E27FC236}">
                <a16:creationId xmlns:a16="http://schemas.microsoft.com/office/drawing/2014/main" id="{8F7E74EA-5AE9-4278-AB58-8F9897B91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15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F578E4-53D0-4EB8-9606-95FF4F373B8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094678" y="3663686"/>
            <a:ext cx="5529262" cy="2116"/>
          </a:xfrm>
          <a:prstGeom prst="line">
            <a:avLst/>
          </a:prstGeom>
          <a:noFill/>
          <a:ln w="57150">
            <a:solidFill>
              <a:srgbClr val="8E3A60"/>
            </a:solidFill>
            <a:round/>
            <a:headEnd/>
            <a:tailEnd/>
          </a:ln>
          <a:effectLst>
            <a:outerShdw blurRad="57150" dist="38100" dir="5400000" algn="ctr" rotWithShape="0">
              <a:srgbClr val="003148">
                <a:alpha val="48000"/>
              </a:srgbClr>
            </a:outerShdw>
          </a:effectLst>
        </p:spPr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284151D4-FE1F-4003-AB55-139C2DC42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59A36E-E6CE-4FBA-A5A7-1E99894EB8A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21">
            <a:extLst>
              <a:ext uri="{FF2B5EF4-FFF2-40B4-BE49-F238E27FC236}">
                <a16:creationId xmlns:a16="http://schemas.microsoft.com/office/drawing/2014/main" id="{31C2CACF-B2A9-4827-8E22-F33CF2324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17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7606A3-AC2B-4F92-B669-AA35B212B1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8000" y="4038600"/>
            <a:ext cx="11277600" cy="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/>
          </a:ln>
          <a:effectLst>
            <a:outerShdw blurRad="57150" dist="38100" dir="5400000" algn="ctr" rotWithShape="0">
              <a:srgbClr val="003148">
                <a:alpha val="48000"/>
              </a:srgbClr>
            </a:outerShdw>
          </a:effectLst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E2DD75-823D-4A8D-B42B-4ED1DC3FF53B}"/>
              </a:ext>
            </a:extLst>
          </p:cNvPr>
          <p:cNvCxnSpPr/>
          <p:nvPr/>
        </p:nvCxnSpPr>
        <p:spPr>
          <a:xfrm rot="16200000" flipH="1">
            <a:off x="5903119" y="3545682"/>
            <a:ext cx="5300663" cy="38100"/>
          </a:xfrm>
          <a:prstGeom prst="line">
            <a:avLst/>
          </a:prstGeom>
          <a:ln w="19050">
            <a:solidFill>
              <a:srgbClr val="0087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7670816" cy="2486028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ctr" rtl="0">
              <a:spcBef>
                <a:spcPct val="0"/>
              </a:spcBef>
              <a:buNone/>
              <a:defRPr sz="4000" b="1">
                <a:ln>
                  <a:noFill/>
                </a:ln>
                <a:solidFill>
                  <a:srgbClr val="00879C"/>
                </a:solidFill>
                <a:effectLst/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16"/>
          <p:cNvSpPr>
            <a:spLocks noGrp="1"/>
          </p:cNvSpPr>
          <p:nvPr>
            <p:ph type="subTitle" idx="1"/>
          </p:nvPr>
        </p:nvSpPr>
        <p:spPr>
          <a:xfrm>
            <a:off x="666712" y="4357694"/>
            <a:ext cx="7715304" cy="1752600"/>
          </a:xfrm>
        </p:spPr>
        <p:txBody>
          <a:bodyPr lIns="0" rIns="18288">
            <a:normAutofit/>
          </a:bodyPr>
          <a:lstStyle>
            <a:lvl1pPr marL="0" marR="45720" indent="0" algn="ctr">
              <a:buNone/>
              <a:defRPr sz="32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08DF90E-3CF4-4F3E-BB9C-312C95EAA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6059A36E-E6CE-4FBA-A5A7-1E99894EB8A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120B662-E922-4362-8882-9D2F079EA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04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"/>
          <p:cNvSpPr/>
          <p:nvPr/>
        </p:nvSpPr>
        <p:spPr>
          <a:xfrm>
            <a:off x="508000" y="4038600"/>
            <a:ext cx="11277600" cy="0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outerShdw blurRad="63500" dist="38100" dir="5400000" rotWithShape="0">
              <a:srgbClr val="003148">
                <a:alpha val="47999"/>
              </a:srgbClr>
            </a:outerShdw>
          </a:effectLst>
        </p:spPr>
        <p:txBody>
          <a:bodyPr lIns="34289" rIns="34289"/>
          <a:lstStyle/>
          <a:p>
            <a:endParaRPr sz="1800"/>
          </a:p>
        </p:txBody>
      </p:sp>
      <p:sp>
        <p:nvSpPr>
          <p:cNvPr id="22" name="Line"/>
          <p:cNvSpPr/>
          <p:nvPr/>
        </p:nvSpPr>
        <p:spPr>
          <a:xfrm>
            <a:off x="8534400" y="914399"/>
            <a:ext cx="38101" cy="5300664"/>
          </a:xfrm>
          <a:prstGeom prst="line">
            <a:avLst/>
          </a:prstGeom>
          <a:ln w="19050">
            <a:solidFill>
              <a:srgbClr val="00879C"/>
            </a:solidFill>
          </a:ln>
        </p:spPr>
        <p:txBody>
          <a:bodyPr lIns="34289" rIns="34289"/>
          <a:lstStyle/>
          <a:p>
            <a:endParaRPr sz="1800"/>
          </a:p>
        </p:txBody>
      </p:sp>
      <p:sp>
        <p:nvSpPr>
          <p:cNvPr id="2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739F8557-F943-4E0F-8819-BB0DDEE2E4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189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4295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rgbClr val="0087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rgbClr val="AD2F3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4039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8">
            <a:extLst>
              <a:ext uri="{FF2B5EF4-FFF2-40B4-BE49-F238E27FC236}">
                <a16:creationId xmlns:a16="http://schemas.microsoft.com/office/drawing/2014/main" id="{1F279B21-0CCF-419B-B223-06F0977BC55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9">
            <a:extLst>
              <a:ext uri="{FF2B5EF4-FFF2-40B4-BE49-F238E27FC236}">
                <a16:creationId xmlns:a16="http://schemas.microsoft.com/office/drawing/2014/main" id="{717A2A08-55D2-44CE-86EF-DA8C3FF8924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A578A30-E462-4978-9722-95FC20871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45C75"/>
                </a:solidFill>
                <a:latin typeface="Constantia" panose="02030602050306030303" pitchFamily="18" charset="0"/>
                <a:cs typeface="Arial" panose="020B0604020202020204" pitchFamily="34" charset="0"/>
              </a:defRPr>
            </a:lvl1pPr>
          </a:lstStyle>
          <a:p>
            <a:fld id="{6059A36E-E6CE-4FBA-A5A7-1E99894EB8A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F6E5A7B-DC96-4889-A6B5-DC44FE818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rgbClr val="04617B">
                    <a:shade val="90000"/>
                  </a:srgbClr>
                </a:solidFill>
                <a:latin typeface="Constantia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pic>
        <p:nvPicPr>
          <p:cNvPr id="1030" name="Picture 2">
            <a:extLst>
              <a:ext uri="{FF2B5EF4-FFF2-40B4-BE49-F238E27FC236}">
                <a16:creationId xmlns:a16="http://schemas.microsoft.com/office/drawing/2014/main" id="{B19083DA-99F6-4399-AD87-A88A25DA8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6717" y="5867400"/>
            <a:ext cx="1750483" cy="92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9231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86" r:id="rId14"/>
    <p:sldLayoutId id="2147483687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rgbClr val="00879C"/>
          </a:solidFill>
          <a:latin typeface="Times New Roman" pitchFamily="18" charset="0"/>
          <a:ea typeface="ＭＳ Ｐゴシック" charset="0"/>
          <a:cs typeface="Times New Roman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879C"/>
          </a:solidFill>
          <a:latin typeface="Times New Roman" pitchFamily="18" charset="0"/>
          <a:ea typeface="ＭＳ Ｐゴシック" charset="0"/>
          <a:cs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879C"/>
          </a:solidFill>
          <a:latin typeface="Times New Roman" pitchFamily="18" charset="0"/>
          <a:ea typeface="ＭＳ Ｐゴシック" charset="0"/>
          <a:cs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879C"/>
          </a:solidFill>
          <a:latin typeface="Times New Roman" pitchFamily="18" charset="0"/>
          <a:ea typeface="ＭＳ Ｐゴシック" charset="0"/>
          <a:cs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879C"/>
          </a:solidFill>
          <a:latin typeface="Times New Roman" pitchFamily="18" charset="0"/>
          <a:ea typeface="ＭＳ Ｐゴシック" charset="0"/>
          <a:cs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E3A60"/>
          </a:solidFill>
          <a:latin typeface="Times New Roman" pitchFamily="18" charset="0"/>
          <a:cs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E3A60"/>
          </a:solidFill>
          <a:latin typeface="Times New Roman" pitchFamily="18" charset="0"/>
          <a:cs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E3A60"/>
          </a:solidFill>
          <a:latin typeface="Times New Roman" pitchFamily="18" charset="0"/>
          <a:cs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E3A60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273050" indent="-273050" algn="l" rtl="0" eaLnBrk="1" fontAlgn="base" hangingPunct="1">
        <a:spcBef>
          <a:spcPct val="20000"/>
        </a:spcBef>
        <a:spcAft>
          <a:spcPct val="0"/>
        </a:spcAft>
        <a:buClr>
          <a:srgbClr val="813557"/>
        </a:buClr>
        <a:buSzPct val="95000"/>
        <a:buFont typeface="Wingdings 2" panose="05020102010507070707" pitchFamily="18" charset="2"/>
        <a:buChar char=""/>
        <a:defRPr sz="2800" b="1" kern="1200">
          <a:solidFill>
            <a:schemeClr val="tx1"/>
          </a:solidFill>
          <a:latin typeface="Times New Roman" pitchFamily="18" charset="0"/>
          <a:ea typeface="ＭＳ Ｐゴシック" charset="0"/>
          <a:cs typeface="Times New Roman" pitchFamily="18" charset="0"/>
        </a:defRPr>
      </a:lvl1pPr>
      <a:lvl2pPr marL="639763" indent="-246063" algn="l" rtl="0" eaLnBrk="1" fontAlgn="base" hangingPunct="1">
        <a:spcBef>
          <a:spcPct val="20000"/>
        </a:spcBef>
        <a:spcAft>
          <a:spcPct val="0"/>
        </a:spcAft>
        <a:buClr>
          <a:srgbClr val="813557"/>
        </a:buClr>
        <a:buSzPct val="85000"/>
        <a:buFont typeface="Wingdings 2" panose="05020102010507070707" pitchFamily="18" charset="2"/>
        <a:buChar char=""/>
        <a:defRPr sz="2400" b="1" kern="1200">
          <a:solidFill>
            <a:schemeClr val="tx1"/>
          </a:solidFill>
          <a:latin typeface="Times New Roman" pitchFamily="18" charset="0"/>
          <a:ea typeface="Times New Roman" charset="0"/>
          <a:cs typeface="Times New Roman" pitchFamily="18" charset="0"/>
        </a:defRPr>
      </a:lvl2pPr>
      <a:lvl3pPr marL="914400" indent="-246063" algn="l" rtl="0" eaLnBrk="1" fontAlgn="base" hangingPunct="1">
        <a:spcBef>
          <a:spcPct val="20000"/>
        </a:spcBef>
        <a:spcAft>
          <a:spcPct val="0"/>
        </a:spcAft>
        <a:buClr>
          <a:srgbClr val="813557"/>
        </a:buClr>
        <a:buSzPct val="70000"/>
        <a:buFont typeface="Wingdings 2" panose="05020102010507070707" pitchFamily="18" charset="2"/>
        <a:buChar char=""/>
        <a:defRPr sz="2100" b="1" kern="1200">
          <a:solidFill>
            <a:schemeClr val="tx1"/>
          </a:solidFill>
          <a:latin typeface="Times New Roman" pitchFamily="18" charset="0"/>
          <a:ea typeface="Times New Roman" charset="0"/>
          <a:cs typeface="Times New Roman" pitchFamily="18" charset="0"/>
        </a:defRPr>
      </a:lvl3pPr>
      <a:lvl4pPr marL="1187450" indent="-209550" algn="l" rtl="0" eaLnBrk="1" fontAlgn="base" hangingPunct="1">
        <a:spcBef>
          <a:spcPct val="20000"/>
        </a:spcBef>
        <a:spcAft>
          <a:spcPct val="0"/>
        </a:spcAft>
        <a:buClr>
          <a:srgbClr val="813557"/>
        </a:buClr>
        <a:buSzPct val="65000"/>
        <a:buFont typeface="Wingdings 2" panose="05020102010507070707" pitchFamily="18" charset="2"/>
        <a:buChar char=""/>
        <a:defRPr sz="2000" b="1" kern="1200">
          <a:solidFill>
            <a:schemeClr val="tx1"/>
          </a:solidFill>
          <a:latin typeface="Times New Roman" pitchFamily="18" charset="0"/>
          <a:ea typeface="Times New Roman" charset="0"/>
          <a:cs typeface="Times New Roman" pitchFamily="18" charset="0"/>
        </a:defRPr>
      </a:lvl4pPr>
      <a:lvl5pPr marL="1462088" indent="-209550" algn="l" rtl="0" eaLnBrk="1" fontAlgn="base" hangingPunct="1">
        <a:spcBef>
          <a:spcPct val="20000"/>
        </a:spcBef>
        <a:spcAft>
          <a:spcPct val="0"/>
        </a:spcAft>
        <a:buClr>
          <a:srgbClr val="813557"/>
        </a:buClr>
        <a:buSzPct val="65000"/>
        <a:buFont typeface="Wingdings 2" panose="05020102010507070707" pitchFamily="18" charset="2"/>
        <a:buChar char=""/>
        <a:defRPr sz="2000" b="1" kern="1200">
          <a:solidFill>
            <a:schemeClr val="tx1"/>
          </a:solidFill>
          <a:latin typeface="Times New Roman" pitchFamily="18" charset="0"/>
          <a:ea typeface="Times New Roman" charset="0"/>
          <a:cs typeface="Times New Roman" pitchFamily="18" charset="0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svg"/><Relationship Id="rId20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8.png"/><Relationship Id="rId3" Type="http://schemas.openxmlformats.org/officeDocument/2006/relationships/image" Target="../media/image18.svg"/><Relationship Id="rId7" Type="http://schemas.openxmlformats.org/officeDocument/2006/relationships/image" Target="../media/image24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0" Type="http://schemas.openxmlformats.org/officeDocument/2006/relationships/image" Target="../media/image25.png"/><Relationship Id="rId4" Type="http://schemas.openxmlformats.org/officeDocument/2006/relationships/image" Target="../media/image23.png"/><Relationship Id="rId9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4B2EC-A1EC-DB36-53EA-983A40205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827317"/>
            <a:ext cx="7670816" cy="3030311"/>
          </a:xfrm>
        </p:spPr>
        <p:txBody>
          <a:bodyPr>
            <a:normAutofit/>
          </a:bodyPr>
          <a:lstStyle/>
          <a:p>
            <a:r>
              <a:rPr lang="en-ZA" sz="4400" dirty="0"/>
              <a:t>Integrated Disease Surveillance (IDS - Mozambique)</a:t>
            </a:r>
            <a:br>
              <a:rPr lang="en-ZA" dirty="0"/>
            </a:br>
            <a:r>
              <a:rPr lang="en-ZA" dirty="0">
                <a:solidFill>
                  <a:srgbClr val="C00000"/>
                </a:solidFill>
              </a:rPr>
              <a:t>Data analysis plan</a:t>
            </a:r>
            <a:endParaRPr lang="pt-PT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6F89E-7E64-B9C7-17D3-51C2C7743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712" y="4357693"/>
            <a:ext cx="7715304" cy="1923357"/>
          </a:xfrm>
        </p:spPr>
        <p:txBody>
          <a:bodyPr>
            <a:normAutofit fontScale="92500" lnSpcReduction="10000"/>
          </a:bodyPr>
          <a:lstStyle/>
          <a:p>
            <a:r>
              <a:rPr lang="en-ZA" dirty="0">
                <a:solidFill>
                  <a:schemeClr val="bg1"/>
                </a:solidFill>
              </a:rPr>
              <a:t>Presented by: </a:t>
            </a:r>
            <a:r>
              <a:rPr lang="en-ZA" b="0" dirty="0">
                <a:solidFill>
                  <a:schemeClr val="bg1"/>
                </a:solidFill>
                <a:highlight>
                  <a:srgbClr val="FFFF00"/>
                </a:highlight>
              </a:rPr>
              <a:t>Edna Viegas, MD PhD</a:t>
            </a:r>
            <a:r>
              <a:rPr lang="en-ZA" b="0" dirty="0">
                <a:solidFill>
                  <a:schemeClr val="bg1"/>
                </a:solidFill>
              </a:rPr>
              <a:t> (on behalf of the IDS country team)</a:t>
            </a:r>
          </a:p>
          <a:p>
            <a:endParaRPr lang="en-ZA" b="0" dirty="0">
              <a:solidFill>
                <a:schemeClr val="bg1"/>
              </a:solidFill>
            </a:endParaRPr>
          </a:p>
          <a:p>
            <a:endParaRPr lang="en-ZA" b="0" dirty="0">
              <a:solidFill>
                <a:schemeClr val="bg1"/>
              </a:solidFill>
            </a:endParaRPr>
          </a:p>
          <a:p>
            <a:r>
              <a:rPr lang="en-ZA" b="0" dirty="0">
                <a:solidFill>
                  <a:schemeClr val="bg1"/>
                </a:solidFill>
              </a:rPr>
              <a:t>Maputo, 9 January 2025</a:t>
            </a:r>
            <a:endParaRPr lang="pt-PT" b="0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4924E4-21EC-4937-EF1F-3DFB0C991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 plan for the surveillance systems and for their integration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176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5726E-D800-FF16-8EA8-7AEE8C7AF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 of the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B65C2-73F4-7EBE-02A4-8E24C92FC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b="0" dirty="0"/>
              <a:t>IDS 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GB" b="0" dirty="0"/>
              <a:t>Conceptual framework for integrated surveillance on information system and data analysis level</a:t>
            </a:r>
          </a:p>
          <a:p>
            <a:pPr marL="514350" indent="-514350">
              <a:buFont typeface="+mj-lt"/>
              <a:buAutoNum type="arabicPeriod"/>
            </a:pPr>
            <a:r>
              <a:rPr lang="en-GB" b="0" dirty="0"/>
              <a:t>Summarized integrated data analysis plan</a:t>
            </a:r>
          </a:p>
          <a:p>
            <a:pPr marL="514350" indent="-514350">
              <a:buFont typeface="+mj-lt"/>
              <a:buAutoNum type="arabicPeriod"/>
            </a:pPr>
            <a:r>
              <a:rPr lang="en-GB" b="0" dirty="0"/>
              <a:t>Main IDS products and outputs </a:t>
            </a:r>
          </a:p>
          <a:p>
            <a:pPr marL="514350" indent="-514350">
              <a:buFont typeface="+mj-lt"/>
              <a:buAutoNum type="arabicPeriod"/>
            </a:pPr>
            <a:r>
              <a:rPr lang="en-GB" b="0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3368921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412EC-A687-AF8F-ED08-5B3614A89D3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ctr" anchorCtr="0" compatLnSpc="1">
            <a:prstTxWarp prst="textNoShape">
              <a:avLst/>
            </a:prstTxWarp>
          </a:bodyPr>
          <a:lstStyle/>
          <a:p>
            <a:pPr eaLnBrk="0" hangingPunct="0"/>
            <a:r>
              <a:rPr lang="en-ZA" dirty="0">
                <a:solidFill>
                  <a:srgbClr val="0039AC"/>
                </a:solidFill>
                <a:ea typeface="+mj-ea"/>
              </a:rPr>
              <a:t>IDS Moz specific objectives</a:t>
            </a:r>
            <a:endParaRPr lang="pt-PT" dirty="0">
              <a:solidFill>
                <a:srgbClr val="0039AC"/>
              </a:solidFill>
              <a:ea typeface="+mj-e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32A44-252E-F111-BFF0-B1BED033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72816"/>
            <a:ext cx="11234057" cy="438943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600" b="0" dirty="0"/>
              <a:t>To determine the disease burden in the surveillance area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600" b="0" dirty="0"/>
              <a:t>To identify early circulation of pathogens of interest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600" b="0" dirty="0"/>
              <a:t>To monitor the genetic evolution of the pathogens of interest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600" b="0" dirty="0"/>
              <a:t>To monitor antimicrobial resistance for the pathogens of interest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600" b="0" dirty="0"/>
              <a:t>To determine population immunity to the diseases of interest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600" b="0" dirty="0"/>
              <a:t>To determine post-vaccination immunity in children with confirmed disease </a:t>
            </a:r>
            <a:endParaRPr lang="pt-PT" sz="2600" b="0" dirty="0"/>
          </a:p>
          <a:p>
            <a:pPr marL="0" indent="0" algn="just">
              <a:buNone/>
            </a:pPr>
            <a:endParaRPr lang="pt-PT" sz="2600" b="0" dirty="0"/>
          </a:p>
        </p:txBody>
      </p:sp>
    </p:spTree>
    <p:extLst>
      <p:ext uri="{BB962C8B-B14F-4D97-AF65-F5344CB8AC3E}">
        <p14:creationId xmlns:p14="http://schemas.microsoft.com/office/powerpoint/2010/main" val="811742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10A6C0AC-1183-581E-F820-48136019553A}"/>
              </a:ext>
            </a:extLst>
          </p:cNvPr>
          <p:cNvGrpSpPr/>
          <p:nvPr/>
        </p:nvGrpSpPr>
        <p:grpSpPr>
          <a:xfrm>
            <a:off x="2362995" y="543372"/>
            <a:ext cx="9121104" cy="6198517"/>
            <a:chOff x="1713771" y="543372"/>
            <a:chExt cx="9121104" cy="6198517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D535B66-9D4E-DE22-7F8D-9C8E631A7E9E}"/>
                </a:ext>
              </a:extLst>
            </p:cNvPr>
            <p:cNvGrpSpPr/>
            <p:nvPr/>
          </p:nvGrpSpPr>
          <p:grpSpPr>
            <a:xfrm>
              <a:off x="3973928" y="543372"/>
              <a:ext cx="4545927" cy="585116"/>
              <a:chOff x="3928208" y="461076"/>
              <a:chExt cx="4545927" cy="585116"/>
            </a:xfrm>
          </p:grpSpPr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E5DACDEC-981C-08B1-8F32-7333822E11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28208" y="1046192"/>
                <a:ext cx="4545927" cy="0"/>
              </a:xfrm>
              <a:prstGeom prst="straightConnector1">
                <a:avLst/>
              </a:prstGeom>
              <a:ln w="19050">
                <a:solidFill>
                  <a:srgbClr val="AD2F3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1423714-1B7B-F2C3-4D94-3692E0F10418}"/>
                  </a:ext>
                </a:extLst>
              </p:cNvPr>
              <p:cNvSpPr txBox="1"/>
              <p:nvPr/>
            </p:nvSpPr>
            <p:spPr>
              <a:xfrm>
                <a:off x="5381319" y="612466"/>
                <a:ext cx="186145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D2F3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Samples</a:t>
                </a:r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7E53D454-4CE3-8CDF-85AB-954BC6CAB886}"/>
                  </a:ext>
                </a:extLst>
              </p:cNvPr>
              <p:cNvGrpSpPr/>
              <p:nvPr/>
            </p:nvGrpSpPr>
            <p:grpSpPr>
              <a:xfrm>
                <a:off x="6721752" y="461076"/>
                <a:ext cx="207871" cy="475926"/>
                <a:chOff x="6175040" y="2462896"/>
                <a:chExt cx="207871" cy="475926"/>
              </a:xfrm>
            </p:grpSpPr>
            <p:sp>
              <p:nvSpPr>
                <p:cNvPr id="90" name="Freeform: Shape 90">
                  <a:extLst>
                    <a:ext uri="{FF2B5EF4-FFF2-40B4-BE49-F238E27FC236}">
                      <a16:creationId xmlns:a16="http://schemas.microsoft.com/office/drawing/2014/main" id="{8026CE23-B2BF-0414-E04F-61E7AFC351F0}"/>
                    </a:ext>
                  </a:extLst>
                </p:cNvPr>
                <p:cNvSpPr/>
                <p:nvPr/>
              </p:nvSpPr>
              <p:spPr>
                <a:xfrm>
                  <a:off x="6175040" y="2622016"/>
                  <a:ext cx="207871" cy="316806"/>
                </a:xfrm>
                <a:custGeom>
                  <a:avLst/>
                  <a:gdLst>
                    <a:gd name="connsiteX0" fmla="*/ 215352 w 218213"/>
                    <a:gd name="connsiteY0" fmla="*/ 286845 h 332568"/>
                    <a:gd name="connsiteX1" fmla="*/ 152487 w 218213"/>
                    <a:gd name="connsiteY1" fmla="*/ 144922 h 332568"/>
                    <a:gd name="connsiteX2" fmla="*/ 152487 w 218213"/>
                    <a:gd name="connsiteY2" fmla="*/ 48720 h 332568"/>
                    <a:gd name="connsiteX3" fmla="*/ 168680 w 218213"/>
                    <a:gd name="connsiteY3" fmla="*/ 20145 h 332568"/>
                    <a:gd name="connsiteX4" fmla="*/ 173781 w 218213"/>
                    <a:gd name="connsiteY4" fmla="*/ 6535 h 332568"/>
                    <a:gd name="connsiteX5" fmla="*/ 173442 w 218213"/>
                    <a:gd name="connsiteY5" fmla="*/ 5857 h 332568"/>
                    <a:gd name="connsiteX6" fmla="*/ 162965 w 218213"/>
                    <a:gd name="connsiteY6" fmla="*/ 142 h 332568"/>
                    <a:gd name="connsiteX7" fmla="*/ 54380 w 218213"/>
                    <a:gd name="connsiteY7" fmla="*/ 142 h 332568"/>
                    <a:gd name="connsiteX8" fmla="*/ 42967 w 218213"/>
                    <a:gd name="connsiteY8" fmla="*/ 10234 h 332568"/>
                    <a:gd name="connsiteX9" fmla="*/ 42950 w 218213"/>
                    <a:gd name="connsiteY9" fmla="*/ 10620 h 332568"/>
                    <a:gd name="connsiteX10" fmla="*/ 48665 w 218213"/>
                    <a:gd name="connsiteY10" fmla="*/ 21097 h 332568"/>
                    <a:gd name="connsiteX11" fmla="*/ 64857 w 218213"/>
                    <a:gd name="connsiteY11" fmla="*/ 49672 h 332568"/>
                    <a:gd name="connsiteX12" fmla="*/ 64857 w 218213"/>
                    <a:gd name="connsiteY12" fmla="*/ 145875 h 332568"/>
                    <a:gd name="connsiteX13" fmla="*/ 2945 w 218213"/>
                    <a:gd name="connsiteY13" fmla="*/ 286845 h 332568"/>
                    <a:gd name="connsiteX14" fmla="*/ 18418 w 218213"/>
                    <a:gd name="connsiteY14" fmla="*/ 328991 h 332568"/>
                    <a:gd name="connsiteX15" fmla="*/ 20090 w 218213"/>
                    <a:gd name="connsiteY15" fmla="*/ 329707 h 332568"/>
                    <a:gd name="connsiteX16" fmla="*/ 33425 w 218213"/>
                    <a:gd name="connsiteY16" fmla="*/ 332565 h 332568"/>
                    <a:gd name="connsiteX17" fmla="*/ 185825 w 218213"/>
                    <a:gd name="connsiteY17" fmla="*/ 332565 h 332568"/>
                    <a:gd name="connsiteX18" fmla="*/ 218210 w 218213"/>
                    <a:gd name="connsiteY18" fmla="*/ 300715 h 332568"/>
                    <a:gd name="connsiteX19" fmla="*/ 218210 w 218213"/>
                    <a:gd name="connsiteY19" fmla="*/ 300180 h 332568"/>
                    <a:gd name="connsiteX20" fmla="*/ 215352 w 218213"/>
                    <a:gd name="connsiteY20" fmla="*/ 286845 h 332568"/>
                    <a:gd name="connsiteX21" fmla="*/ 130580 w 218213"/>
                    <a:gd name="connsiteY21" fmla="*/ 48720 h 332568"/>
                    <a:gd name="connsiteX22" fmla="*/ 130580 w 218213"/>
                    <a:gd name="connsiteY22" fmla="*/ 70627 h 332568"/>
                    <a:gd name="connsiteX23" fmla="*/ 87717 w 218213"/>
                    <a:gd name="connsiteY23" fmla="*/ 70627 h 332568"/>
                    <a:gd name="connsiteX24" fmla="*/ 87717 w 218213"/>
                    <a:gd name="connsiteY24" fmla="*/ 48720 h 332568"/>
                    <a:gd name="connsiteX25" fmla="*/ 80097 w 218213"/>
                    <a:gd name="connsiteY25" fmla="*/ 21097 h 332568"/>
                    <a:gd name="connsiteX26" fmla="*/ 138200 w 218213"/>
                    <a:gd name="connsiteY26" fmla="*/ 21097 h 332568"/>
                    <a:gd name="connsiteX27" fmla="*/ 130580 w 218213"/>
                    <a:gd name="connsiteY27" fmla="*/ 48720 h 332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218213" h="332568">
                      <a:moveTo>
                        <a:pt x="215352" y="286845"/>
                      </a:moveTo>
                      <a:lnTo>
                        <a:pt x="152487" y="144922"/>
                      </a:lnTo>
                      <a:lnTo>
                        <a:pt x="152487" y="48720"/>
                      </a:lnTo>
                      <a:cubicBezTo>
                        <a:pt x="152706" y="37070"/>
                        <a:pt x="158798" y="26320"/>
                        <a:pt x="168680" y="20145"/>
                      </a:cubicBezTo>
                      <a:cubicBezTo>
                        <a:pt x="173847" y="17795"/>
                        <a:pt x="176130" y="11702"/>
                        <a:pt x="173781" y="6535"/>
                      </a:cubicBezTo>
                      <a:cubicBezTo>
                        <a:pt x="173677" y="6305"/>
                        <a:pt x="173563" y="6079"/>
                        <a:pt x="173442" y="5857"/>
                      </a:cubicBezTo>
                      <a:cubicBezTo>
                        <a:pt x="171705" y="1747"/>
                        <a:pt x="167361" y="-622"/>
                        <a:pt x="162965" y="142"/>
                      </a:cubicBezTo>
                      <a:lnTo>
                        <a:pt x="54380" y="142"/>
                      </a:lnTo>
                      <a:cubicBezTo>
                        <a:pt x="48441" y="-222"/>
                        <a:pt x="43332" y="4295"/>
                        <a:pt x="42967" y="10234"/>
                      </a:cubicBezTo>
                      <a:cubicBezTo>
                        <a:pt x="42958" y="10363"/>
                        <a:pt x="42953" y="10491"/>
                        <a:pt x="42950" y="10620"/>
                      </a:cubicBezTo>
                      <a:cubicBezTo>
                        <a:pt x="42615" y="14936"/>
                        <a:pt x="44856" y="19042"/>
                        <a:pt x="48665" y="21097"/>
                      </a:cubicBezTo>
                      <a:cubicBezTo>
                        <a:pt x="58850" y="26976"/>
                        <a:pt x="65049" y="37914"/>
                        <a:pt x="64857" y="49672"/>
                      </a:cubicBezTo>
                      <a:lnTo>
                        <a:pt x="64857" y="145875"/>
                      </a:lnTo>
                      <a:lnTo>
                        <a:pt x="2945" y="286845"/>
                      </a:lnTo>
                      <a:cubicBezTo>
                        <a:pt x="-4421" y="302756"/>
                        <a:pt x="2507" y="321625"/>
                        <a:pt x="18418" y="328991"/>
                      </a:cubicBezTo>
                      <a:cubicBezTo>
                        <a:pt x="18968" y="329245"/>
                        <a:pt x="19526" y="329484"/>
                        <a:pt x="20090" y="329707"/>
                      </a:cubicBezTo>
                      <a:cubicBezTo>
                        <a:pt x="24261" y="331657"/>
                        <a:pt x="28821" y="332633"/>
                        <a:pt x="33425" y="332565"/>
                      </a:cubicBezTo>
                      <a:lnTo>
                        <a:pt x="185825" y="332565"/>
                      </a:lnTo>
                      <a:cubicBezTo>
                        <a:pt x="203562" y="332712"/>
                        <a:pt x="218062" y="318454"/>
                        <a:pt x="218210" y="300715"/>
                      </a:cubicBezTo>
                      <a:cubicBezTo>
                        <a:pt x="218212" y="300537"/>
                        <a:pt x="218212" y="300358"/>
                        <a:pt x="218210" y="300180"/>
                      </a:cubicBezTo>
                      <a:cubicBezTo>
                        <a:pt x="218278" y="295575"/>
                        <a:pt x="217302" y="291016"/>
                        <a:pt x="215352" y="286845"/>
                      </a:cubicBezTo>
                      <a:close/>
                      <a:moveTo>
                        <a:pt x="130580" y="48720"/>
                      </a:moveTo>
                      <a:lnTo>
                        <a:pt x="130580" y="70627"/>
                      </a:lnTo>
                      <a:lnTo>
                        <a:pt x="87717" y="70627"/>
                      </a:lnTo>
                      <a:lnTo>
                        <a:pt x="87717" y="48720"/>
                      </a:lnTo>
                      <a:cubicBezTo>
                        <a:pt x="88012" y="38956"/>
                        <a:pt x="85357" y="29329"/>
                        <a:pt x="80097" y="21097"/>
                      </a:cubicBezTo>
                      <a:lnTo>
                        <a:pt x="138200" y="21097"/>
                      </a:lnTo>
                      <a:cubicBezTo>
                        <a:pt x="133366" y="29513"/>
                        <a:pt x="130744" y="39016"/>
                        <a:pt x="130580" y="48720"/>
                      </a:cubicBezTo>
                      <a:close/>
                    </a:path>
                  </a:pathLst>
                </a:custGeom>
                <a:solidFill>
                  <a:srgbClr val="C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Freeform: Shape 91">
                  <a:extLst>
                    <a:ext uri="{FF2B5EF4-FFF2-40B4-BE49-F238E27FC236}">
                      <a16:creationId xmlns:a16="http://schemas.microsoft.com/office/drawing/2014/main" id="{28D69E27-7C4B-486A-8A46-090C8D935441}"/>
                    </a:ext>
                  </a:extLst>
                </p:cNvPr>
                <p:cNvSpPr/>
                <p:nvPr/>
              </p:nvSpPr>
              <p:spPr>
                <a:xfrm>
                  <a:off x="6284457" y="2462896"/>
                  <a:ext cx="30849" cy="30850"/>
                </a:xfrm>
                <a:custGeom>
                  <a:avLst/>
                  <a:gdLst>
                    <a:gd name="connsiteX0" fmla="*/ 32385 w 32384"/>
                    <a:gd name="connsiteY0" fmla="*/ 16193 h 32385"/>
                    <a:gd name="connsiteX1" fmla="*/ 16193 w 32384"/>
                    <a:gd name="connsiteY1" fmla="*/ 32385 h 32385"/>
                    <a:gd name="connsiteX2" fmla="*/ 0 w 32384"/>
                    <a:gd name="connsiteY2" fmla="*/ 16193 h 32385"/>
                    <a:gd name="connsiteX3" fmla="*/ 16193 w 32384"/>
                    <a:gd name="connsiteY3" fmla="*/ 0 h 32385"/>
                    <a:gd name="connsiteX4" fmla="*/ 32385 w 32384"/>
                    <a:gd name="connsiteY4" fmla="*/ 16193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32385" y="16193"/>
                      </a:moveTo>
                      <a:cubicBezTo>
                        <a:pt x="32385" y="25135"/>
                        <a:pt x="25135" y="32385"/>
                        <a:pt x="16193" y="32385"/>
                      </a:cubicBezTo>
                      <a:cubicBezTo>
                        <a:pt x="7250" y="32385"/>
                        <a:pt x="0" y="25135"/>
                        <a:pt x="0" y="16193"/>
                      </a:cubicBezTo>
                      <a:cubicBezTo>
                        <a:pt x="0" y="7250"/>
                        <a:pt x="7250" y="0"/>
                        <a:pt x="16193" y="0"/>
                      </a:cubicBezTo>
                      <a:cubicBezTo>
                        <a:pt x="25135" y="0"/>
                        <a:pt x="32385" y="7250"/>
                        <a:pt x="32385" y="16193"/>
                      </a:cubicBezTo>
                      <a:close/>
                    </a:path>
                  </a:pathLst>
                </a:custGeom>
                <a:solidFill>
                  <a:srgbClr val="C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Freeform: Shape 92">
                  <a:extLst>
                    <a:ext uri="{FF2B5EF4-FFF2-40B4-BE49-F238E27FC236}">
                      <a16:creationId xmlns:a16="http://schemas.microsoft.com/office/drawing/2014/main" id="{82E8802F-13C8-AC38-A267-B65C1AFE3832}"/>
                    </a:ext>
                  </a:extLst>
                </p:cNvPr>
                <p:cNvSpPr/>
                <p:nvPr/>
              </p:nvSpPr>
              <p:spPr>
                <a:xfrm>
                  <a:off x="6310733" y="2510078"/>
                  <a:ext cx="30850" cy="30849"/>
                </a:xfrm>
                <a:custGeom>
                  <a:avLst/>
                  <a:gdLst>
                    <a:gd name="connsiteX0" fmla="*/ 0 w 32385"/>
                    <a:gd name="connsiteY0" fmla="*/ 16193 h 32384"/>
                    <a:gd name="connsiteX1" fmla="*/ 16193 w 32385"/>
                    <a:gd name="connsiteY1" fmla="*/ 32385 h 32384"/>
                    <a:gd name="connsiteX2" fmla="*/ 32385 w 32385"/>
                    <a:gd name="connsiteY2" fmla="*/ 16193 h 32384"/>
                    <a:gd name="connsiteX3" fmla="*/ 16193 w 32385"/>
                    <a:gd name="connsiteY3" fmla="*/ 0 h 32384"/>
                    <a:gd name="connsiteX4" fmla="*/ 0 w 32385"/>
                    <a:gd name="connsiteY4" fmla="*/ 16193 h 32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5" h="32384">
                      <a:moveTo>
                        <a:pt x="0" y="16193"/>
                      </a:moveTo>
                      <a:cubicBezTo>
                        <a:pt x="0" y="25136"/>
                        <a:pt x="7249" y="32385"/>
                        <a:pt x="16193" y="32385"/>
                      </a:cubicBezTo>
                      <a:cubicBezTo>
                        <a:pt x="25136" y="32385"/>
                        <a:pt x="32385" y="25136"/>
                        <a:pt x="32385" y="16193"/>
                      </a:cubicBezTo>
                      <a:cubicBezTo>
                        <a:pt x="32385" y="7249"/>
                        <a:pt x="25136" y="0"/>
                        <a:pt x="16193" y="0"/>
                      </a:cubicBezTo>
                      <a:cubicBezTo>
                        <a:pt x="7249" y="0"/>
                        <a:pt x="0" y="7249"/>
                        <a:pt x="0" y="16193"/>
                      </a:cubicBezTo>
                      <a:close/>
                    </a:path>
                  </a:pathLst>
                </a:custGeom>
                <a:solidFill>
                  <a:srgbClr val="C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Freeform: Shape 93">
                  <a:extLst>
                    <a:ext uri="{FF2B5EF4-FFF2-40B4-BE49-F238E27FC236}">
                      <a16:creationId xmlns:a16="http://schemas.microsoft.com/office/drawing/2014/main" id="{C432E7BB-D155-E636-605D-AEC6F524ABF7}"/>
                    </a:ext>
                  </a:extLst>
                </p:cNvPr>
                <p:cNvSpPr/>
                <p:nvPr/>
              </p:nvSpPr>
              <p:spPr>
                <a:xfrm>
                  <a:off x="6253570" y="2499190"/>
                  <a:ext cx="30849" cy="30850"/>
                </a:xfrm>
                <a:custGeom>
                  <a:avLst/>
                  <a:gdLst>
                    <a:gd name="connsiteX0" fmla="*/ 16192 w 32384"/>
                    <a:gd name="connsiteY0" fmla="*/ 32385 h 32385"/>
                    <a:gd name="connsiteX1" fmla="*/ 32385 w 32384"/>
                    <a:gd name="connsiteY1" fmla="*/ 16193 h 32385"/>
                    <a:gd name="connsiteX2" fmla="*/ 16192 w 32384"/>
                    <a:gd name="connsiteY2" fmla="*/ 0 h 32385"/>
                    <a:gd name="connsiteX3" fmla="*/ 0 w 32384"/>
                    <a:gd name="connsiteY3" fmla="*/ 16193 h 32385"/>
                    <a:gd name="connsiteX4" fmla="*/ 16192 w 32384"/>
                    <a:gd name="connsiteY4" fmla="*/ 32385 h 3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84" h="32385">
                      <a:moveTo>
                        <a:pt x="16192" y="32385"/>
                      </a:moveTo>
                      <a:cubicBezTo>
                        <a:pt x="25136" y="32385"/>
                        <a:pt x="32385" y="25136"/>
                        <a:pt x="32385" y="16193"/>
                      </a:cubicBezTo>
                      <a:cubicBezTo>
                        <a:pt x="32385" y="7249"/>
                        <a:pt x="25136" y="0"/>
                        <a:pt x="16192" y="0"/>
                      </a:cubicBezTo>
                      <a:cubicBezTo>
                        <a:pt x="7249" y="0"/>
                        <a:pt x="0" y="7249"/>
                        <a:pt x="0" y="16193"/>
                      </a:cubicBezTo>
                      <a:cubicBezTo>
                        <a:pt x="0" y="25136"/>
                        <a:pt x="7249" y="32385"/>
                        <a:pt x="16192" y="32385"/>
                      </a:cubicBezTo>
                      <a:close/>
                    </a:path>
                  </a:pathLst>
                </a:custGeom>
                <a:solidFill>
                  <a:srgbClr val="C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Freeform: Shape 94">
                  <a:extLst>
                    <a:ext uri="{FF2B5EF4-FFF2-40B4-BE49-F238E27FC236}">
                      <a16:creationId xmlns:a16="http://schemas.microsoft.com/office/drawing/2014/main" id="{106FCC45-7BE8-67FC-1128-49C07D6E8AD8}"/>
                    </a:ext>
                  </a:extLst>
                </p:cNvPr>
                <p:cNvSpPr/>
                <p:nvPr/>
              </p:nvSpPr>
              <p:spPr>
                <a:xfrm>
                  <a:off x="6258107" y="2550909"/>
                  <a:ext cx="41738" cy="41737"/>
                </a:xfrm>
                <a:custGeom>
                  <a:avLst/>
                  <a:gdLst>
                    <a:gd name="connsiteX0" fmla="*/ 0 w 43815"/>
                    <a:gd name="connsiteY0" fmla="*/ 21907 h 43814"/>
                    <a:gd name="connsiteX1" fmla="*/ 21907 w 43815"/>
                    <a:gd name="connsiteY1" fmla="*/ 43815 h 43814"/>
                    <a:gd name="connsiteX2" fmla="*/ 43815 w 43815"/>
                    <a:gd name="connsiteY2" fmla="*/ 21907 h 43814"/>
                    <a:gd name="connsiteX3" fmla="*/ 21907 w 43815"/>
                    <a:gd name="connsiteY3" fmla="*/ 0 h 43814"/>
                    <a:gd name="connsiteX4" fmla="*/ 0 w 43815"/>
                    <a:gd name="connsiteY4" fmla="*/ 21907 h 43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815" h="43814">
                      <a:moveTo>
                        <a:pt x="0" y="21907"/>
                      </a:moveTo>
                      <a:cubicBezTo>
                        <a:pt x="0" y="34007"/>
                        <a:pt x="9808" y="43815"/>
                        <a:pt x="21907" y="43815"/>
                      </a:cubicBezTo>
                      <a:cubicBezTo>
                        <a:pt x="34007" y="43815"/>
                        <a:pt x="43815" y="34007"/>
                        <a:pt x="43815" y="21907"/>
                      </a:cubicBezTo>
                      <a:cubicBezTo>
                        <a:pt x="43815" y="9808"/>
                        <a:pt x="34007" y="0"/>
                        <a:pt x="21907" y="0"/>
                      </a:cubicBezTo>
                      <a:cubicBezTo>
                        <a:pt x="9808" y="0"/>
                        <a:pt x="0" y="9808"/>
                        <a:pt x="0" y="21907"/>
                      </a:cubicBezTo>
                      <a:close/>
                    </a:path>
                  </a:pathLst>
                </a:custGeom>
                <a:solidFill>
                  <a:srgbClr val="C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D70CBD24-AAD4-0FEC-30C1-B617CD9B6936}"/>
                </a:ext>
              </a:extLst>
            </p:cNvPr>
            <p:cNvGrpSpPr/>
            <p:nvPr/>
          </p:nvGrpSpPr>
          <p:grpSpPr>
            <a:xfrm>
              <a:off x="1713771" y="590903"/>
              <a:ext cx="2616773" cy="5791500"/>
              <a:chOff x="1713771" y="590903"/>
              <a:chExt cx="2616773" cy="57915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D24D56E-4A37-E226-2247-D1B1E1F98719}"/>
                  </a:ext>
                </a:extLst>
              </p:cNvPr>
              <p:cNvSpPr/>
              <p:nvPr/>
            </p:nvSpPr>
            <p:spPr>
              <a:xfrm>
                <a:off x="2028231" y="968322"/>
                <a:ext cx="1960143" cy="5414081"/>
              </a:xfrm>
              <a:prstGeom prst="rect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339D22BB-DE0D-D5FE-81AD-AF90762168B8}"/>
                  </a:ext>
                </a:extLst>
              </p:cNvPr>
              <p:cNvGrpSpPr/>
              <p:nvPr/>
            </p:nvGrpSpPr>
            <p:grpSpPr>
              <a:xfrm>
                <a:off x="1713771" y="1320489"/>
                <a:ext cx="2616773" cy="4473002"/>
                <a:chOff x="1713771" y="1320489"/>
                <a:chExt cx="2616773" cy="4473002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71B058CA-B934-8941-F180-C1D93EAD044F}"/>
                    </a:ext>
                  </a:extLst>
                </p:cNvPr>
                <p:cNvGrpSpPr/>
                <p:nvPr/>
              </p:nvGrpSpPr>
              <p:grpSpPr>
                <a:xfrm>
                  <a:off x="1870011" y="1320489"/>
                  <a:ext cx="2328893" cy="1100973"/>
                  <a:chOff x="1531683" y="1046169"/>
                  <a:chExt cx="2328893" cy="1100973"/>
                </a:xfrm>
              </p:grpSpPr>
              <p:pic>
                <p:nvPicPr>
                  <p:cNvPr id="6" name="Graphic 5" descr="Neighborhood with solid fill">
                    <a:extLst>
                      <a:ext uri="{FF2B5EF4-FFF2-40B4-BE49-F238E27FC236}">
                        <a16:creationId xmlns:a16="http://schemas.microsoft.com/office/drawing/2014/main" id="{115FEF25-19C8-FFE2-B8A4-4B0BF591D71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376553" y="1046169"/>
                    <a:ext cx="630936" cy="630936"/>
                  </a:xfrm>
                  <a:prstGeom prst="rect">
                    <a:avLst/>
                  </a:prstGeom>
                </p:spPr>
              </p:pic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D7285A00-AF7D-0E0F-FA7F-7ECD9C9F9D09}"/>
                      </a:ext>
                    </a:extLst>
                  </p:cNvPr>
                  <p:cNvSpPr txBox="1"/>
                  <p:nvPr/>
                </p:nvSpPr>
                <p:spPr>
                  <a:xfrm>
                    <a:off x="1531683" y="1623922"/>
                    <a:ext cx="232889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rPr>
                      <a:t>Community 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rPr>
                      <a:t>Surveillance</a:t>
                    </a:r>
                  </a:p>
                </p:txBody>
              </p:sp>
            </p:grpSp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7756E629-EB20-22AF-7034-57BD90CC9089}"/>
                    </a:ext>
                  </a:extLst>
                </p:cNvPr>
                <p:cNvGrpSpPr/>
                <p:nvPr/>
              </p:nvGrpSpPr>
              <p:grpSpPr>
                <a:xfrm>
                  <a:off x="1713771" y="4639335"/>
                  <a:ext cx="2616773" cy="1154156"/>
                  <a:chOff x="1357155" y="5279415"/>
                  <a:chExt cx="2616773" cy="1154156"/>
                </a:xfrm>
              </p:grpSpPr>
              <p:pic>
                <p:nvPicPr>
                  <p:cNvPr id="12" name="Graphic 11" descr="Agriculture with solid fill">
                    <a:extLst>
                      <a:ext uri="{FF2B5EF4-FFF2-40B4-BE49-F238E27FC236}">
                        <a16:creationId xmlns:a16="http://schemas.microsoft.com/office/drawing/2014/main" id="{E942F334-D020-B8BC-7022-16B19503CAE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367125" y="5279415"/>
                    <a:ext cx="630936" cy="630936"/>
                  </a:xfrm>
                  <a:prstGeom prst="rect">
                    <a:avLst/>
                  </a:prstGeom>
                </p:spPr>
              </p:pic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AC3FE59D-890D-52FA-7B07-2EB71E792153}"/>
                      </a:ext>
                    </a:extLst>
                  </p:cNvPr>
                  <p:cNvSpPr txBox="1"/>
                  <p:nvPr/>
                </p:nvSpPr>
                <p:spPr>
                  <a:xfrm>
                    <a:off x="1357155" y="5910351"/>
                    <a:ext cx="261677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rPr>
                      <a:t>Environmental 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rPr>
                      <a:t>Surveillance</a:t>
                    </a:r>
                  </a:p>
                </p:txBody>
              </p:sp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E553A771-52CB-E098-AA65-8E0B036D8396}"/>
                    </a:ext>
                  </a:extLst>
                </p:cNvPr>
                <p:cNvGrpSpPr/>
                <p:nvPr/>
              </p:nvGrpSpPr>
              <p:grpSpPr>
                <a:xfrm>
                  <a:off x="1961450" y="2925361"/>
                  <a:ext cx="2273054" cy="1046501"/>
                  <a:chOff x="1531682" y="2065825"/>
                  <a:chExt cx="2273054" cy="1046501"/>
                </a:xfrm>
              </p:grpSpPr>
              <p:pic>
                <p:nvPicPr>
                  <p:cNvPr id="9" name="Graphic 8" descr="Hospital with solid fill">
                    <a:extLst>
                      <a:ext uri="{FF2B5EF4-FFF2-40B4-BE49-F238E27FC236}">
                        <a16:creationId xmlns:a16="http://schemas.microsoft.com/office/drawing/2014/main" id="{9F45731A-DCFA-5DAB-2CDD-CF54F998B7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356609" y="2065825"/>
                    <a:ext cx="627977" cy="627977"/>
                  </a:xfrm>
                  <a:prstGeom prst="rect">
                    <a:avLst/>
                  </a:prstGeom>
                </p:spPr>
              </p:pic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1F52ABED-BF0B-E35D-7E00-A18A5ABBD537}"/>
                      </a:ext>
                    </a:extLst>
                  </p:cNvPr>
                  <p:cNvSpPr txBox="1"/>
                  <p:nvPr/>
                </p:nvSpPr>
                <p:spPr>
                  <a:xfrm>
                    <a:off x="1531682" y="2589106"/>
                    <a:ext cx="227305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rPr>
                      <a:t>Hospital Based Surveillance</a:t>
                    </a:r>
                  </a:p>
                </p:txBody>
              </p:sp>
            </p:grpSp>
          </p:grpSp>
          <p:sp>
            <p:nvSpPr>
              <p:cNvPr id="40" name="Snip and Round Single Corner Rectangle 39">
                <a:extLst>
                  <a:ext uri="{FF2B5EF4-FFF2-40B4-BE49-F238E27FC236}">
                    <a16:creationId xmlns:a16="http://schemas.microsoft.com/office/drawing/2014/main" id="{487AFC15-E32D-C31C-E23D-CABEDB7DF06A}"/>
                  </a:ext>
                </a:extLst>
              </p:cNvPr>
              <p:cNvSpPr/>
              <p:nvPr/>
            </p:nvSpPr>
            <p:spPr>
              <a:xfrm>
                <a:off x="2028230" y="624722"/>
                <a:ext cx="1960144" cy="336505"/>
              </a:xfrm>
              <a:prstGeom prst="snipRoundRect">
                <a:avLst/>
              </a:prstGeom>
              <a:solidFill>
                <a:srgbClr val="00748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M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D767F9E-3821-4923-4C4B-A220824002A2}"/>
                  </a:ext>
                </a:extLst>
              </p:cNvPr>
              <p:cNvSpPr txBox="1"/>
              <p:nvPr/>
            </p:nvSpPr>
            <p:spPr>
              <a:xfrm>
                <a:off x="2557421" y="590903"/>
                <a:ext cx="1116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ZA" dirty="0">
                    <a:solidFill>
                      <a:prstClr val="white"/>
                    </a:solidFill>
                    <a:latin typeface="Arial" panose="020B0604020202020204"/>
                  </a:rPr>
                  <a:t>Le</a:t>
                </a:r>
                <a:r>
                  <a:rPr kumimoji="0" lang="en-MZ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vel 1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27A8F47-22A9-C63A-1804-64DF9361130C}"/>
                </a:ext>
              </a:extLst>
            </p:cNvPr>
            <p:cNvGrpSpPr/>
            <p:nvPr/>
          </p:nvGrpSpPr>
          <p:grpSpPr>
            <a:xfrm>
              <a:off x="8218103" y="608308"/>
              <a:ext cx="2616772" cy="5767000"/>
              <a:chOff x="8218103" y="608308"/>
              <a:chExt cx="2616772" cy="576700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4AEC494-FF0B-00FE-3D5C-6B58DB2033A3}"/>
                  </a:ext>
                </a:extLst>
              </p:cNvPr>
              <p:cNvSpPr/>
              <p:nvPr/>
            </p:nvSpPr>
            <p:spPr>
              <a:xfrm>
                <a:off x="8531256" y="961227"/>
                <a:ext cx="1960143" cy="5414081"/>
              </a:xfrm>
              <a:prstGeom prst="rect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737C4132-F7A2-3556-D54E-11399C973B1D}"/>
                  </a:ext>
                </a:extLst>
              </p:cNvPr>
              <p:cNvGrpSpPr/>
              <p:nvPr/>
            </p:nvGrpSpPr>
            <p:grpSpPr>
              <a:xfrm>
                <a:off x="8379011" y="3441548"/>
                <a:ext cx="2240221" cy="1079435"/>
                <a:chOff x="8635043" y="4101595"/>
                <a:chExt cx="2240221" cy="1079435"/>
              </a:xfrm>
            </p:grpSpPr>
            <p:pic>
              <p:nvPicPr>
                <p:cNvPr id="24" name="Picture 23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7BA88D42-51E1-E800-D0E6-845927474F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duotone>
                    <a:prstClr val="black"/>
                    <a:srgbClr val="AD2F30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383923" y="4101595"/>
                  <a:ext cx="579212" cy="579212"/>
                </a:xfrm>
                <a:prstGeom prst="rect">
                  <a:avLst/>
                </a:prstGeom>
              </p:spPr>
            </p:pic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4FB8ADB-C4A0-904E-90B0-D758F3093401}"/>
                    </a:ext>
                  </a:extLst>
                </p:cNvPr>
                <p:cNvSpPr txBox="1"/>
                <p:nvPr/>
              </p:nvSpPr>
              <p:spPr>
                <a:xfrm>
                  <a:off x="8635043" y="4657810"/>
                  <a:ext cx="224022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Genomic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Surveillance</a:t>
                  </a: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2B65722A-046A-E885-FD83-01EA2083F770}"/>
                  </a:ext>
                </a:extLst>
              </p:cNvPr>
              <p:cNvGrpSpPr/>
              <p:nvPr/>
            </p:nvGrpSpPr>
            <p:grpSpPr>
              <a:xfrm>
                <a:off x="9144398" y="2400485"/>
                <a:ext cx="606014" cy="956628"/>
                <a:chOff x="9273102" y="1805659"/>
                <a:chExt cx="606014" cy="956628"/>
              </a:xfrm>
            </p:grpSpPr>
            <p:pic>
              <p:nvPicPr>
                <p:cNvPr id="27" name="Graphic 26" descr="Beaker with solid fill">
                  <a:extLst>
                    <a:ext uri="{FF2B5EF4-FFF2-40B4-BE49-F238E27FC236}">
                      <a16:creationId xmlns:a16="http://schemas.microsoft.com/office/drawing/2014/main" id="{428E29A8-E4F6-B12A-7F36-E0796E9576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73102" y="1805659"/>
                  <a:ext cx="606014" cy="606014"/>
                </a:xfrm>
                <a:prstGeom prst="rect">
                  <a:avLst/>
                </a:prstGeom>
              </p:spPr>
            </p:pic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E26B905-7A8D-463F-A16D-32C36B4A0A39}"/>
                    </a:ext>
                  </a:extLst>
                </p:cNvPr>
                <p:cNvSpPr txBox="1"/>
                <p:nvPr/>
              </p:nvSpPr>
              <p:spPr>
                <a:xfrm>
                  <a:off x="9293820" y="2454510"/>
                  <a:ext cx="56457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PCR</a:t>
                  </a: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E03B23A2-B89A-F4D3-F116-37891ABCF770}"/>
                  </a:ext>
                </a:extLst>
              </p:cNvPr>
              <p:cNvGrpSpPr/>
              <p:nvPr/>
            </p:nvGrpSpPr>
            <p:grpSpPr>
              <a:xfrm>
                <a:off x="8385202" y="1360335"/>
                <a:ext cx="2234030" cy="947476"/>
                <a:chOff x="8885365" y="3172849"/>
                <a:chExt cx="2234030" cy="947476"/>
              </a:xfrm>
            </p:grpSpPr>
            <p:pic>
              <p:nvPicPr>
                <p:cNvPr id="30" name="Graphic 29" descr="Microscope with solid fill">
                  <a:extLst>
                    <a:ext uri="{FF2B5EF4-FFF2-40B4-BE49-F238E27FC236}">
                      <a16:creationId xmlns:a16="http://schemas.microsoft.com/office/drawing/2014/main" id="{F240E635-6231-8CA9-1CD3-797DD3E14C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700628" y="3172849"/>
                  <a:ext cx="603504" cy="603504"/>
                </a:xfrm>
                <a:prstGeom prst="rect">
                  <a:avLst/>
                </a:prstGeom>
              </p:spPr>
            </p:pic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47A3B5EB-8330-5DD6-3A19-018708685423}"/>
                    </a:ext>
                  </a:extLst>
                </p:cNvPr>
                <p:cNvSpPr txBox="1"/>
                <p:nvPr/>
              </p:nvSpPr>
              <p:spPr>
                <a:xfrm>
                  <a:off x="8885365" y="3812548"/>
                  <a:ext cx="223403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Serology</a:t>
                  </a:r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6848924E-77BC-9479-7ADD-C4F1B3C119BC}"/>
                  </a:ext>
                </a:extLst>
              </p:cNvPr>
              <p:cNvGrpSpPr/>
              <p:nvPr/>
            </p:nvGrpSpPr>
            <p:grpSpPr>
              <a:xfrm>
                <a:off x="9073834" y="4691162"/>
                <a:ext cx="674466" cy="673647"/>
                <a:chOff x="7944720" y="4915827"/>
                <a:chExt cx="674466" cy="673647"/>
              </a:xfrm>
            </p:grpSpPr>
            <p:sp>
              <p:nvSpPr>
                <p:cNvPr id="35" name="Hexagon 34">
                  <a:extLst>
                    <a:ext uri="{FF2B5EF4-FFF2-40B4-BE49-F238E27FC236}">
                      <a16:creationId xmlns:a16="http://schemas.microsoft.com/office/drawing/2014/main" id="{15B3B5E2-E154-FD66-A039-57761C26394A}"/>
                    </a:ext>
                  </a:extLst>
                </p:cNvPr>
                <p:cNvSpPr/>
                <p:nvPr/>
              </p:nvSpPr>
              <p:spPr>
                <a:xfrm rot="16200000">
                  <a:off x="8128678" y="4940663"/>
                  <a:ext cx="360120" cy="310448"/>
                </a:xfrm>
                <a:prstGeom prst="hexagon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M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Hexagon 35">
                  <a:extLst>
                    <a:ext uri="{FF2B5EF4-FFF2-40B4-BE49-F238E27FC236}">
                      <a16:creationId xmlns:a16="http://schemas.microsoft.com/office/drawing/2014/main" id="{42589774-977E-815B-7A82-E2B9F468E5A0}"/>
                    </a:ext>
                  </a:extLst>
                </p:cNvPr>
                <p:cNvSpPr/>
                <p:nvPr/>
              </p:nvSpPr>
              <p:spPr>
                <a:xfrm rot="16200000">
                  <a:off x="8283902" y="5216076"/>
                  <a:ext cx="360120" cy="310448"/>
                </a:xfrm>
                <a:prstGeom prst="hexagon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M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Hexagon 36">
                  <a:extLst>
                    <a:ext uri="{FF2B5EF4-FFF2-40B4-BE49-F238E27FC236}">
                      <a16:creationId xmlns:a16="http://schemas.microsoft.com/office/drawing/2014/main" id="{86F1AF95-CA0F-D797-B018-9250D7835F14}"/>
                    </a:ext>
                  </a:extLst>
                </p:cNvPr>
                <p:cNvSpPr/>
                <p:nvPr/>
              </p:nvSpPr>
              <p:spPr>
                <a:xfrm rot="16200000">
                  <a:off x="7919884" y="5254190"/>
                  <a:ext cx="360120" cy="310448"/>
                </a:xfrm>
                <a:prstGeom prst="hexagon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M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1" name="Snip and Round Single Corner Rectangle 40">
                <a:extLst>
                  <a:ext uri="{FF2B5EF4-FFF2-40B4-BE49-F238E27FC236}">
                    <a16:creationId xmlns:a16="http://schemas.microsoft.com/office/drawing/2014/main" id="{3ADE5F7E-D177-5C08-6D23-3A07AED353C3}"/>
                  </a:ext>
                </a:extLst>
              </p:cNvPr>
              <p:cNvSpPr/>
              <p:nvPr/>
            </p:nvSpPr>
            <p:spPr>
              <a:xfrm>
                <a:off x="8531256" y="631817"/>
                <a:ext cx="1960143" cy="336505"/>
              </a:xfrm>
              <a:prstGeom prst="snipRoundRect">
                <a:avLst/>
              </a:prstGeom>
              <a:solidFill>
                <a:srgbClr val="00748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M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2E471C6-08DD-8438-4ED5-C7A638E4EF88}"/>
                  </a:ext>
                </a:extLst>
              </p:cNvPr>
              <p:cNvSpPr txBox="1"/>
              <p:nvPr/>
            </p:nvSpPr>
            <p:spPr>
              <a:xfrm>
                <a:off x="9071210" y="608308"/>
                <a:ext cx="1116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ZA" dirty="0">
                    <a:solidFill>
                      <a:prstClr val="white"/>
                    </a:solidFill>
                    <a:latin typeface="Arial" panose="020B0604020202020204"/>
                  </a:rPr>
                  <a:t>Le</a:t>
                </a:r>
                <a:r>
                  <a:rPr kumimoji="0" lang="en-MZ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vel 2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F43EFCD-1122-DAC7-78E1-2754C5DFADDE}"/>
                  </a:ext>
                </a:extLst>
              </p:cNvPr>
              <p:cNvSpPr txBox="1"/>
              <p:nvPr/>
            </p:nvSpPr>
            <p:spPr>
              <a:xfrm>
                <a:off x="8218103" y="927745"/>
                <a:ext cx="26167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Laboratory Testing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8F0D4E7-AE37-0B2C-321D-69925EBA49AD}"/>
                  </a:ext>
                </a:extLst>
              </p:cNvPr>
              <p:cNvSpPr/>
              <p:nvPr/>
            </p:nvSpPr>
            <p:spPr>
              <a:xfrm>
                <a:off x="8710994" y="1260903"/>
                <a:ext cx="1596875" cy="4833943"/>
              </a:xfrm>
              <a:prstGeom prst="rect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DD4BC9C1-282A-EC21-4B73-2F4DE4833F46}"/>
                </a:ext>
              </a:extLst>
            </p:cNvPr>
            <p:cNvGrpSpPr/>
            <p:nvPr/>
          </p:nvGrpSpPr>
          <p:grpSpPr>
            <a:xfrm>
              <a:off x="3983072" y="1674545"/>
              <a:ext cx="4537353" cy="5067344"/>
              <a:chOff x="3983072" y="1674545"/>
              <a:chExt cx="4537353" cy="5067344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5F0D1DE8-0714-2DCA-7322-EBE45EAEE945}"/>
                  </a:ext>
                </a:extLst>
              </p:cNvPr>
              <p:cNvGrpSpPr/>
              <p:nvPr/>
            </p:nvGrpSpPr>
            <p:grpSpPr>
              <a:xfrm>
                <a:off x="4864762" y="5872649"/>
                <a:ext cx="2719028" cy="869240"/>
                <a:chOff x="4809898" y="5836073"/>
                <a:chExt cx="2719028" cy="869240"/>
              </a:xfrm>
            </p:grpSpPr>
            <p:grpSp>
              <p:nvGrpSpPr>
                <p:cNvPr id="163" name="Group 162">
                  <a:extLst>
                    <a:ext uri="{FF2B5EF4-FFF2-40B4-BE49-F238E27FC236}">
                      <a16:creationId xmlns:a16="http://schemas.microsoft.com/office/drawing/2014/main" id="{9BF75863-D97A-B975-2784-D9031FCA0D23}"/>
                    </a:ext>
                  </a:extLst>
                </p:cNvPr>
                <p:cNvGrpSpPr/>
                <p:nvPr/>
              </p:nvGrpSpPr>
              <p:grpSpPr>
                <a:xfrm>
                  <a:off x="4809898" y="5836073"/>
                  <a:ext cx="2719028" cy="869240"/>
                  <a:chOff x="3643562" y="6215622"/>
                  <a:chExt cx="2719028" cy="869240"/>
                </a:xfrm>
              </p:grpSpPr>
              <p:pic>
                <p:nvPicPr>
                  <p:cNvPr id="124" name="Graphic 123" descr="Document with solid fill">
                    <a:extLst>
                      <a:ext uri="{FF2B5EF4-FFF2-40B4-BE49-F238E27FC236}">
                        <a16:creationId xmlns:a16="http://schemas.microsoft.com/office/drawing/2014/main" id="{F5208CF9-77CD-7169-21E0-B52C7DA4E49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86531" y="6215622"/>
                    <a:ext cx="776059" cy="776059"/>
                  </a:xfrm>
                  <a:prstGeom prst="rect">
                    <a:avLst/>
                  </a:prstGeom>
                </p:spPr>
              </p:pic>
              <p:grpSp>
                <p:nvGrpSpPr>
                  <p:cNvPr id="131" name="Group 130">
                    <a:extLst>
                      <a:ext uri="{FF2B5EF4-FFF2-40B4-BE49-F238E27FC236}">
                        <a16:creationId xmlns:a16="http://schemas.microsoft.com/office/drawing/2014/main" id="{860871E8-B392-5286-12ED-49A637B18E48}"/>
                      </a:ext>
                    </a:extLst>
                  </p:cNvPr>
                  <p:cNvGrpSpPr/>
                  <p:nvPr/>
                </p:nvGrpSpPr>
                <p:grpSpPr>
                  <a:xfrm>
                    <a:off x="3643562" y="6231296"/>
                    <a:ext cx="2709196" cy="853566"/>
                    <a:chOff x="3685015" y="6218318"/>
                    <a:chExt cx="2709196" cy="853566"/>
                  </a:xfrm>
                </p:grpSpPr>
                <p:sp>
                  <p:nvSpPr>
                    <p:cNvPr id="125" name="Rectangle: Rounded Corners 61">
                      <a:extLst>
                        <a:ext uri="{FF2B5EF4-FFF2-40B4-BE49-F238E27FC236}">
                          <a16:creationId xmlns:a16="http://schemas.microsoft.com/office/drawing/2014/main" id="{6ED7F0A2-3CC6-0999-F988-7E0302F52D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85015" y="6218318"/>
                      <a:ext cx="2709196" cy="853566"/>
                    </a:xfrm>
                    <a:prstGeom prst="roundRect">
                      <a:avLst/>
                    </a:prstGeom>
                    <a:noFill/>
                    <a:ln>
                      <a:solidFill>
                        <a:srgbClr val="007488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6" name="Rectangle: Rounded Corners 62">
                      <a:extLst>
                        <a:ext uri="{FF2B5EF4-FFF2-40B4-BE49-F238E27FC236}">
                          <a16:creationId xmlns:a16="http://schemas.microsoft.com/office/drawing/2014/main" id="{DE491B61-DFD1-B7AB-D490-EF6944502C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85015" y="6248647"/>
                      <a:ext cx="814581" cy="776059"/>
                    </a:xfrm>
                    <a:prstGeom prst="roundRect">
                      <a:avLst>
                        <a:gd name="adj" fmla="val 20191"/>
                      </a:avLst>
                    </a:prstGeom>
                    <a:solidFill>
                      <a:srgbClr val="007488"/>
                    </a:solidFill>
                    <a:ln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2E3B3037-0B97-0433-101D-1384A40EED82}"/>
                    </a:ext>
                  </a:extLst>
                </p:cNvPr>
                <p:cNvSpPr txBox="1"/>
                <p:nvPr/>
              </p:nvSpPr>
              <p:spPr>
                <a:xfrm>
                  <a:off x="4819658" y="6044585"/>
                  <a:ext cx="81458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Data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Products</a:t>
                  </a:r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02738576-729F-061E-9FFD-8BCD224ACEF9}"/>
                  </a:ext>
                </a:extLst>
              </p:cNvPr>
              <p:cNvGrpSpPr/>
              <p:nvPr/>
            </p:nvGrpSpPr>
            <p:grpSpPr>
              <a:xfrm>
                <a:off x="4968816" y="1674545"/>
                <a:ext cx="2561225" cy="923400"/>
                <a:chOff x="4968816" y="1674545"/>
                <a:chExt cx="2561225" cy="923400"/>
              </a:xfrm>
            </p:grpSpPr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D8AE7C87-4555-8CEC-5913-29316306CFB4}"/>
                    </a:ext>
                  </a:extLst>
                </p:cNvPr>
                <p:cNvSpPr txBox="1"/>
                <p:nvPr/>
              </p:nvSpPr>
              <p:spPr>
                <a:xfrm>
                  <a:off x="4968816" y="2136280"/>
                  <a:ext cx="256122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7489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Data warehouse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489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71B98C09-BECD-4D9E-2FD2-5DB772D8C2A2}"/>
                    </a:ext>
                  </a:extLst>
                </p:cNvPr>
                <p:cNvSpPr/>
                <p:nvPr/>
              </p:nvSpPr>
              <p:spPr>
                <a:xfrm>
                  <a:off x="5746584" y="1674545"/>
                  <a:ext cx="1136311" cy="343973"/>
                </a:xfrm>
                <a:prstGeom prst="rect">
                  <a:avLst/>
                </a:prstGeom>
                <a:solidFill>
                  <a:srgbClr val="00748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600" dirty="0">
                      <a:solidFill>
                        <a:prstClr val="white"/>
                      </a:solidFill>
                      <a:latin typeface="Arial" panose="020B0604020202020204"/>
                    </a:rPr>
                    <a:t>Le</a:t>
                  </a: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vel 3</a:t>
                  </a:r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2B39B25-95FD-1DF4-6E79-650A19438BE9}"/>
                  </a:ext>
                </a:extLst>
              </p:cNvPr>
              <p:cNvGrpSpPr/>
              <p:nvPr/>
            </p:nvGrpSpPr>
            <p:grpSpPr>
              <a:xfrm>
                <a:off x="5087685" y="2286163"/>
                <a:ext cx="2284528" cy="2234820"/>
                <a:chOff x="5087685" y="2286163"/>
                <a:chExt cx="2284528" cy="2234820"/>
              </a:xfrm>
            </p:grpSpPr>
            <p:pic>
              <p:nvPicPr>
                <p:cNvPr id="46" name="Graphic 45" descr="Database">
                  <a:extLst>
                    <a:ext uri="{FF2B5EF4-FFF2-40B4-BE49-F238E27FC236}">
                      <a16:creationId xmlns:a16="http://schemas.microsoft.com/office/drawing/2014/main" id="{B6FBD3A3-C1FE-4618-6DFC-0D5DF5A0C4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93025" y="2286163"/>
                  <a:ext cx="2179188" cy="1656827"/>
                </a:xfrm>
                <a:prstGeom prst="rect">
                  <a:avLst/>
                </a:prstGeom>
              </p:spPr>
            </p:pic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92F93B65-5414-BDD3-76A5-200E154F6A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246891" y="3875286"/>
                  <a:ext cx="14778" cy="645697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B5BC9B1F-BA1F-6876-12E6-16742914ECE2}"/>
                    </a:ext>
                  </a:extLst>
                </p:cNvPr>
                <p:cNvSpPr/>
                <p:nvPr/>
              </p:nvSpPr>
              <p:spPr>
                <a:xfrm>
                  <a:off x="5087685" y="4056271"/>
                  <a:ext cx="1106560" cy="312906"/>
                </a:xfrm>
                <a:prstGeom prst="rect">
                  <a:avLst/>
                </a:prstGeom>
                <a:solidFill>
                  <a:srgbClr val="00748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600" dirty="0">
                      <a:solidFill>
                        <a:prstClr val="white"/>
                      </a:solidFill>
                      <a:latin typeface="Arial" panose="020B0604020202020204"/>
                    </a:rPr>
                    <a:t>Le</a:t>
                  </a: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vel 4</a:t>
                  </a: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15D3E81C-79FF-BED6-3406-2A825193128C}"/>
                  </a:ext>
                </a:extLst>
              </p:cNvPr>
              <p:cNvGrpSpPr/>
              <p:nvPr/>
            </p:nvGrpSpPr>
            <p:grpSpPr>
              <a:xfrm>
                <a:off x="3983072" y="1781089"/>
                <a:ext cx="1548872" cy="3392836"/>
                <a:chOff x="3983072" y="1781089"/>
                <a:chExt cx="1548872" cy="3392836"/>
              </a:xfrm>
            </p:grpSpPr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7B6AF1D8-17DD-60AD-DF75-FC76811B36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4761" y="3210161"/>
                  <a:ext cx="1547183" cy="1145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947B540A-0829-F54D-6256-B13C66295C6D}"/>
                    </a:ext>
                  </a:extLst>
                </p:cNvPr>
                <p:cNvGrpSpPr/>
                <p:nvPr/>
              </p:nvGrpSpPr>
              <p:grpSpPr>
                <a:xfrm>
                  <a:off x="3983072" y="1781089"/>
                  <a:ext cx="1530829" cy="1118632"/>
                  <a:chOff x="2797497" y="1473650"/>
                  <a:chExt cx="1530829" cy="1296792"/>
                </a:xfrm>
              </p:grpSpPr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30208B4A-C428-F068-AD8F-4F91DC191A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97497" y="1473650"/>
                    <a:ext cx="832429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>
                    <a:extLst>
                      <a:ext uri="{FF2B5EF4-FFF2-40B4-BE49-F238E27FC236}">
                        <a16:creationId xmlns:a16="http://schemas.microsoft.com/office/drawing/2014/main" id="{D2A78CEA-3EB1-5177-6F89-0EDFF6C7E3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9926" y="1473650"/>
                    <a:ext cx="0" cy="1296792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Straight Arrow Connector 138">
                    <a:extLst>
                      <a:ext uri="{FF2B5EF4-FFF2-40B4-BE49-F238E27FC236}">
                        <a16:creationId xmlns:a16="http://schemas.microsoft.com/office/drawing/2014/main" id="{0E246E6B-F95B-E346-1575-0AF6A75A81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9926" y="2770442"/>
                    <a:ext cx="698400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CCBAA9B1-1E85-66CF-B016-044EB39B61A8}"/>
                    </a:ext>
                  </a:extLst>
                </p:cNvPr>
                <p:cNvGrpSpPr/>
                <p:nvPr/>
              </p:nvGrpSpPr>
              <p:grpSpPr>
                <a:xfrm flipV="1">
                  <a:off x="3983072" y="3441548"/>
                  <a:ext cx="1530829" cy="1732377"/>
                  <a:chOff x="2797497" y="1473650"/>
                  <a:chExt cx="1530829" cy="2384827"/>
                </a:xfrm>
              </p:grpSpPr>
              <p:cxnSp>
                <p:nvCxnSpPr>
                  <p:cNvPr id="144" name="Straight Connector 143">
                    <a:extLst>
                      <a:ext uri="{FF2B5EF4-FFF2-40B4-BE49-F238E27FC236}">
                        <a16:creationId xmlns:a16="http://schemas.microsoft.com/office/drawing/2014/main" id="{B05C093E-7189-9E44-121E-95DD7B4805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97497" y="1473650"/>
                    <a:ext cx="832429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Straight Connector 144">
                    <a:extLst>
                      <a:ext uri="{FF2B5EF4-FFF2-40B4-BE49-F238E27FC236}">
                        <a16:creationId xmlns:a16="http://schemas.microsoft.com/office/drawing/2014/main" id="{56A21E13-C044-7685-9573-A516D8BE6B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9926" y="1473650"/>
                    <a:ext cx="0" cy="2384827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Arrow Connector 145">
                    <a:extLst>
                      <a:ext uri="{FF2B5EF4-FFF2-40B4-BE49-F238E27FC236}">
                        <a16:creationId xmlns:a16="http://schemas.microsoft.com/office/drawing/2014/main" id="{5ADAC01A-EA72-96F7-D423-A17A85A45C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9926" y="3851097"/>
                    <a:ext cx="698400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4C7E8256-96CA-33F2-8EC4-7114F5AB1530}"/>
                  </a:ext>
                </a:extLst>
              </p:cNvPr>
              <p:cNvGrpSpPr/>
              <p:nvPr/>
            </p:nvGrpSpPr>
            <p:grpSpPr>
              <a:xfrm>
                <a:off x="6984955" y="1781089"/>
                <a:ext cx="1535470" cy="3186005"/>
                <a:chOff x="6984955" y="1781089"/>
                <a:chExt cx="1535470" cy="3186005"/>
              </a:xfrm>
            </p:grpSpPr>
            <p:grpSp>
              <p:nvGrpSpPr>
                <p:cNvPr id="148" name="Group 147">
                  <a:extLst>
                    <a:ext uri="{FF2B5EF4-FFF2-40B4-BE49-F238E27FC236}">
                      <a16:creationId xmlns:a16="http://schemas.microsoft.com/office/drawing/2014/main" id="{B97B7FBB-F3CE-9BB3-F351-DE909DA4A4D3}"/>
                    </a:ext>
                  </a:extLst>
                </p:cNvPr>
                <p:cNvGrpSpPr/>
                <p:nvPr/>
              </p:nvGrpSpPr>
              <p:grpSpPr>
                <a:xfrm flipH="1">
                  <a:off x="6984955" y="1781089"/>
                  <a:ext cx="1530829" cy="1067806"/>
                  <a:chOff x="2797497" y="1711153"/>
                  <a:chExt cx="1530829" cy="1067806"/>
                </a:xfrm>
              </p:grpSpPr>
              <p:cxnSp>
                <p:nvCxnSpPr>
                  <p:cNvPr id="149" name="Straight Connector 148">
                    <a:extLst>
                      <a:ext uri="{FF2B5EF4-FFF2-40B4-BE49-F238E27FC236}">
                        <a16:creationId xmlns:a16="http://schemas.microsoft.com/office/drawing/2014/main" id="{DD110FA4-72F4-6856-755F-21C1F7169C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97497" y="1711153"/>
                    <a:ext cx="832429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Straight Connector 149">
                    <a:extLst>
                      <a:ext uri="{FF2B5EF4-FFF2-40B4-BE49-F238E27FC236}">
                        <a16:creationId xmlns:a16="http://schemas.microsoft.com/office/drawing/2014/main" id="{A83B4108-6194-42BD-5E37-BD7E68D652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29926" y="1711153"/>
                    <a:ext cx="0" cy="1067806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Straight Arrow Connector 150">
                    <a:extLst>
                      <a:ext uri="{FF2B5EF4-FFF2-40B4-BE49-F238E27FC236}">
                        <a16:creationId xmlns:a16="http://schemas.microsoft.com/office/drawing/2014/main" id="{341D8B4D-91E3-DD75-74BA-BDBDEE0566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9926" y="2778959"/>
                    <a:ext cx="698400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EFD8A903-A87E-F76C-5D3A-6E6BFA88C337}"/>
                    </a:ext>
                  </a:extLst>
                </p:cNvPr>
                <p:cNvGrpSpPr/>
                <p:nvPr/>
              </p:nvGrpSpPr>
              <p:grpSpPr>
                <a:xfrm flipH="1" flipV="1">
                  <a:off x="6984955" y="3504863"/>
                  <a:ext cx="1530829" cy="1462231"/>
                  <a:chOff x="2797497" y="2229121"/>
                  <a:chExt cx="1530829" cy="1462231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625B5ADA-A2E3-BAE7-9127-01D030A127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97497" y="2229640"/>
                    <a:ext cx="832429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Straight Connector 153">
                    <a:extLst>
                      <a:ext uri="{FF2B5EF4-FFF2-40B4-BE49-F238E27FC236}">
                        <a16:creationId xmlns:a16="http://schemas.microsoft.com/office/drawing/2014/main" id="{B46D6207-3024-9F3E-047D-971F3D1927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629926" y="2229121"/>
                    <a:ext cx="0" cy="1462231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Straight Arrow Connector 154">
                    <a:extLst>
                      <a:ext uri="{FF2B5EF4-FFF2-40B4-BE49-F238E27FC236}">
                        <a16:creationId xmlns:a16="http://schemas.microsoft.com/office/drawing/2014/main" id="{975B730D-22A6-6FA4-A8C0-5EFBA7091D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29926" y="3691352"/>
                    <a:ext cx="698400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0" name="Elbow Connector 159">
                  <a:extLst>
                    <a:ext uri="{FF2B5EF4-FFF2-40B4-BE49-F238E27FC236}">
                      <a16:creationId xmlns:a16="http://schemas.microsoft.com/office/drawing/2014/main" id="{ACD09230-1D58-5EB0-4C64-EC88E9A686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7000111" y="2736778"/>
                  <a:ext cx="1487711" cy="310163"/>
                </a:xfrm>
                <a:prstGeom prst="bentConnector3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Elbow Connector 161">
                  <a:extLst>
                    <a:ext uri="{FF2B5EF4-FFF2-40B4-BE49-F238E27FC236}">
                      <a16:creationId xmlns:a16="http://schemas.microsoft.com/office/drawing/2014/main" id="{334F88A1-3E9F-889F-1C25-65D09AA90C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995320" y="3286564"/>
                  <a:ext cx="1525105" cy="239486"/>
                </a:xfrm>
                <a:prstGeom prst="bentConnector3">
                  <a:avLst>
                    <a:gd name="adj1" fmla="val 50001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9FE4D88D-4809-8344-5D5B-30EFDEC86BC4}"/>
              </a:ext>
            </a:extLst>
          </p:cNvPr>
          <p:cNvSpPr txBox="1"/>
          <p:nvPr/>
        </p:nvSpPr>
        <p:spPr>
          <a:xfrm>
            <a:off x="9464152" y="5402993"/>
            <a:ext cx="1205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Other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91E847A-39CC-4827-2E6F-E8C35DC60A05}"/>
              </a:ext>
            </a:extLst>
          </p:cNvPr>
          <p:cNvGrpSpPr/>
          <p:nvPr/>
        </p:nvGrpSpPr>
        <p:grpSpPr>
          <a:xfrm>
            <a:off x="246888" y="1781090"/>
            <a:ext cx="2430566" cy="3654029"/>
            <a:chOff x="246888" y="1781090"/>
            <a:chExt cx="2430566" cy="3654029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F247769-FF94-71B3-9EA8-EEC51FF8AECE}"/>
                </a:ext>
              </a:extLst>
            </p:cNvPr>
            <p:cNvGrpSpPr/>
            <p:nvPr/>
          </p:nvGrpSpPr>
          <p:grpSpPr>
            <a:xfrm>
              <a:off x="365760" y="2421462"/>
              <a:ext cx="1348011" cy="2268743"/>
              <a:chOff x="365760" y="2421462"/>
              <a:chExt cx="1348011" cy="2268743"/>
            </a:xfrm>
          </p:grpSpPr>
          <p:sp>
            <p:nvSpPr>
              <p:cNvPr id="49" name="Round Same Side Corner Rectangle 17">
                <a:extLst>
                  <a:ext uri="{FF2B5EF4-FFF2-40B4-BE49-F238E27FC236}">
                    <a16:creationId xmlns:a16="http://schemas.microsoft.com/office/drawing/2014/main" id="{D673FEC9-2E29-B363-1F2E-26FCC0C04F11}"/>
                  </a:ext>
                </a:extLst>
              </p:cNvPr>
              <p:cNvSpPr/>
              <p:nvPr/>
            </p:nvSpPr>
            <p:spPr>
              <a:xfrm>
                <a:off x="365760" y="2421462"/>
                <a:ext cx="1348011" cy="1643383"/>
              </a:xfrm>
              <a:prstGeom prst="round2SameRect">
                <a:avLst/>
              </a:prstGeom>
              <a:no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M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F11DA53B-2857-27DC-DA60-F8652E511F48}"/>
                  </a:ext>
                </a:extLst>
              </p:cNvPr>
              <p:cNvGrpSpPr/>
              <p:nvPr/>
            </p:nvGrpSpPr>
            <p:grpSpPr>
              <a:xfrm>
                <a:off x="542649" y="2790623"/>
                <a:ext cx="993548" cy="1899582"/>
                <a:chOff x="542649" y="2790623"/>
                <a:chExt cx="993548" cy="1899582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3A0065E3-7701-02B4-85B3-4E5572A5B4E1}"/>
                    </a:ext>
                  </a:extLst>
                </p:cNvPr>
                <p:cNvSpPr/>
                <p:nvPr/>
              </p:nvSpPr>
              <p:spPr>
                <a:xfrm>
                  <a:off x="542786" y="2790623"/>
                  <a:ext cx="993411" cy="209206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000" b="1" dirty="0">
                      <a:solidFill>
                        <a:prstClr val="white"/>
                      </a:solidFill>
                      <a:latin typeface="Arial" panose="020B0604020202020204"/>
                    </a:rPr>
                    <a:t>SARS-COV-2</a:t>
                  </a:r>
                  <a:endPara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5084E043-0AC2-D39F-0FA3-77A5BD743656}"/>
                    </a:ext>
                  </a:extLst>
                </p:cNvPr>
                <p:cNvSpPr/>
                <p:nvPr/>
              </p:nvSpPr>
              <p:spPr>
                <a:xfrm>
                  <a:off x="542785" y="3097641"/>
                  <a:ext cx="993412" cy="209206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TY</a:t>
                  </a:r>
                  <a:r>
                    <a:rPr lang="en-US" sz="1200" b="1" dirty="0">
                      <a:solidFill>
                        <a:prstClr val="white"/>
                      </a:solidFill>
                      <a:latin typeface="Arial" panose="020B0604020202020204"/>
                    </a:rPr>
                    <a:t>PHOID</a:t>
                  </a:r>
                  <a:endPara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13DC5940-28C1-7C61-F934-821572E03782}"/>
                    </a:ext>
                  </a:extLst>
                </p:cNvPr>
                <p:cNvSpPr/>
                <p:nvPr/>
              </p:nvSpPr>
              <p:spPr>
                <a:xfrm>
                  <a:off x="542785" y="3404659"/>
                  <a:ext cx="993412" cy="209206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CHOLERA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485E5DF-61AE-7D6A-2CF8-16F06C78FAA7}"/>
                    </a:ext>
                  </a:extLst>
                </p:cNvPr>
                <p:cNvSpPr/>
                <p:nvPr/>
              </p:nvSpPr>
              <p:spPr>
                <a:xfrm>
                  <a:off x="542784" y="3701051"/>
                  <a:ext cx="993412" cy="209206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POLIO</a:t>
                  </a: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2600034-C33B-2B3E-A638-3872D9D88C2E}"/>
                    </a:ext>
                  </a:extLst>
                </p:cNvPr>
                <p:cNvSpPr txBox="1"/>
                <p:nvPr/>
              </p:nvSpPr>
              <p:spPr>
                <a:xfrm>
                  <a:off x="542785" y="4128728"/>
                  <a:ext cx="993412" cy="230832"/>
                </a:xfrm>
                <a:prstGeom prst="rect">
                  <a:avLst/>
                </a:prstGeom>
                <a:solidFill>
                  <a:srgbClr val="0070C0"/>
                </a:solidFill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algn="ctr">
                    <a:defRPr sz="1200" b="1">
                      <a:solidFill>
                        <a:schemeClr val="bg1"/>
                      </a:solidFill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Unified Form</a:t>
                  </a: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3641EC5-0750-C090-2256-E45EF0616195}"/>
                    </a:ext>
                  </a:extLst>
                </p:cNvPr>
                <p:cNvSpPr txBox="1"/>
                <p:nvPr/>
              </p:nvSpPr>
              <p:spPr>
                <a:xfrm>
                  <a:off x="542649" y="4459373"/>
                  <a:ext cx="993412" cy="230832"/>
                </a:xfrm>
                <a:prstGeom prst="rect">
                  <a:avLst/>
                </a:prstGeom>
                <a:solidFill>
                  <a:srgbClr val="0070C0"/>
                </a:solidFill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One</a:t>
                  </a:r>
                  <a:r>
                    <a:rPr kumimoji="0" lang="en-US" sz="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 </a:t>
                  </a:r>
                  <a:r>
                    <a:rPr kumimoji="0" lang="en-US" sz="9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System</a:t>
                  </a:r>
                  <a:endParaRPr kumimoji="0" 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endParaRPr>
                </a:p>
              </p:txBody>
            </p:sp>
          </p:grpSp>
        </p:grp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id="{2FCC69C6-BAED-A266-6DE6-2DA4D123D806}"/>
                </a:ext>
              </a:extLst>
            </p:cNvPr>
            <p:cNvCxnSpPr>
              <a:cxnSpLocks/>
              <a:stCxn id="49" idx="3"/>
            </p:cNvCxnSpPr>
            <p:nvPr/>
          </p:nvCxnSpPr>
          <p:spPr>
            <a:xfrm rot="5400000" flipH="1" flipV="1">
              <a:off x="1538424" y="1282432"/>
              <a:ext cx="640372" cy="1637688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3787322-3A64-B8AB-49BF-851C7D4820EA}"/>
                </a:ext>
              </a:extLst>
            </p:cNvPr>
            <p:cNvCxnSpPr/>
            <p:nvPr/>
          </p:nvCxnSpPr>
          <p:spPr>
            <a:xfrm>
              <a:off x="1713771" y="3553338"/>
              <a:ext cx="96368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561BCD74-8A8D-78C0-B814-4E84EC7A17F7}"/>
                </a:ext>
              </a:extLst>
            </p:cNvPr>
            <p:cNvCxnSpPr>
              <a:stCxn id="58" idx="2"/>
            </p:cNvCxnSpPr>
            <p:nvPr/>
          </p:nvCxnSpPr>
          <p:spPr>
            <a:xfrm rot="16200000" flipH="1">
              <a:off x="1485947" y="4243612"/>
              <a:ext cx="744914" cy="1638099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6C1D10B-B120-BBA3-BD95-DB5D7EE1B2E2}"/>
                </a:ext>
              </a:extLst>
            </p:cNvPr>
            <p:cNvSpPr/>
            <p:nvPr/>
          </p:nvSpPr>
          <p:spPr>
            <a:xfrm>
              <a:off x="246888" y="2307811"/>
              <a:ext cx="1598139" cy="2501933"/>
            </a:xfrm>
            <a:prstGeom prst="rect">
              <a:avLst/>
            </a:prstGeom>
            <a:noFill/>
            <a:ln>
              <a:solidFill>
                <a:srgbClr val="00748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0AAAA00-8C3F-83DC-E5F2-51975785F29E}"/>
              </a:ext>
            </a:extLst>
          </p:cNvPr>
          <p:cNvSpPr/>
          <p:nvPr/>
        </p:nvSpPr>
        <p:spPr>
          <a:xfrm>
            <a:off x="2828126" y="2371182"/>
            <a:ext cx="1677037" cy="18766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Catchement</a:t>
            </a:r>
            <a:r>
              <a:rPr lang="en-US" sz="1400" b="1" dirty="0"/>
              <a:t> area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E8466E-8ACC-2C27-4BFE-ADA62EAEBB07}"/>
              </a:ext>
            </a:extLst>
          </p:cNvPr>
          <p:cNvSpPr/>
          <p:nvPr/>
        </p:nvSpPr>
        <p:spPr>
          <a:xfrm>
            <a:off x="2647552" y="48786"/>
            <a:ext cx="8391834" cy="47344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Flow vision and integration of data and systems </a:t>
            </a:r>
            <a:endParaRPr lang="pt-PT" sz="28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F5B29DB-707D-741B-72FA-2D2F8F495FF9}"/>
              </a:ext>
            </a:extLst>
          </p:cNvPr>
          <p:cNvCxnSpPr>
            <a:cxnSpLocks/>
          </p:cNvCxnSpPr>
          <p:nvPr/>
        </p:nvCxnSpPr>
        <p:spPr>
          <a:xfrm>
            <a:off x="6876127" y="5326067"/>
            <a:ext cx="0" cy="50024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901FF103-1A6C-2F45-779B-6E07323D15D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66616" y="4578540"/>
            <a:ext cx="722419" cy="76574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3FF0820-1F1C-50CF-BBAC-FD94498C8939}"/>
              </a:ext>
            </a:extLst>
          </p:cNvPr>
          <p:cNvSpPr/>
          <p:nvPr/>
        </p:nvSpPr>
        <p:spPr>
          <a:xfrm>
            <a:off x="5736909" y="5531487"/>
            <a:ext cx="1062602" cy="294826"/>
          </a:xfrm>
          <a:prstGeom prst="rect">
            <a:avLst/>
          </a:prstGeom>
          <a:solidFill>
            <a:srgbClr val="0074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Arial" panose="020B0604020202020204"/>
              </a:rPr>
              <a:t>Le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vel </a:t>
            </a:r>
            <a:r>
              <a:rPr lang="en-US" sz="1600" dirty="0">
                <a:solidFill>
                  <a:prstClr val="white"/>
                </a:solidFill>
                <a:latin typeface="Arial" panose="020B0604020202020204"/>
              </a:rPr>
              <a:t>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E8ABB7-4206-CF61-BD3F-3E0A22D44ADC}"/>
              </a:ext>
            </a:extLst>
          </p:cNvPr>
          <p:cNvSpPr txBox="1"/>
          <p:nvPr/>
        </p:nvSpPr>
        <p:spPr>
          <a:xfrm>
            <a:off x="7113086" y="4746759"/>
            <a:ext cx="1253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48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Integrated Data Analysis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48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(predefined indicators)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EEE378-4499-F3F3-AEF3-B957A309B4AB}"/>
              </a:ext>
            </a:extLst>
          </p:cNvPr>
          <p:cNvSpPr txBox="1"/>
          <p:nvPr/>
        </p:nvSpPr>
        <p:spPr>
          <a:xfrm>
            <a:off x="8904527" y="4422651"/>
            <a:ext cx="23243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100" dirty="0"/>
              <a:t>(PCR and Sequencing)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79F84AEF-B662-623E-98DB-B6B4B85FAC1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80812" y="5996333"/>
            <a:ext cx="806864" cy="6801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389C367-C1CB-AE02-AF7F-D5A7F367AF31}"/>
              </a:ext>
            </a:extLst>
          </p:cNvPr>
          <p:cNvSpPr/>
          <p:nvPr/>
        </p:nvSpPr>
        <p:spPr>
          <a:xfrm>
            <a:off x="553668" y="2474935"/>
            <a:ext cx="993411" cy="20920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INFLUENZA</a:t>
            </a:r>
          </a:p>
        </p:txBody>
      </p:sp>
    </p:spTree>
    <p:extLst>
      <p:ext uri="{BB962C8B-B14F-4D97-AF65-F5344CB8AC3E}">
        <p14:creationId xmlns:p14="http://schemas.microsoft.com/office/powerpoint/2010/main" val="950464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25C4-2CF9-8ED6-53BF-51AD7D1DF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024">
            <a:extLst>
              <a:ext uri="{FF2B5EF4-FFF2-40B4-BE49-F238E27FC236}">
                <a16:creationId xmlns:a16="http://schemas.microsoft.com/office/drawing/2014/main" id="{C777C279-5900-90FA-3B4A-33F10BC1D071}"/>
              </a:ext>
            </a:extLst>
          </p:cNvPr>
          <p:cNvSpPr/>
          <p:nvPr/>
        </p:nvSpPr>
        <p:spPr>
          <a:xfrm>
            <a:off x="9625497" y="4517922"/>
            <a:ext cx="2390246" cy="14592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ZA" sz="1200" dirty="0"/>
              <a:t>Public health programs (E.g. VPD)</a:t>
            </a:r>
            <a:endParaRPr lang="pt-PT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Operational emergency centers (MOH)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Health sector early warning system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Multisectoral initiatives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D04409-E6BF-C1A6-ACE4-D63DAE4291DA}"/>
              </a:ext>
            </a:extLst>
          </p:cNvPr>
          <p:cNvSpPr/>
          <p:nvPr/>
        </p:nvSpPr>
        <p:spPr>
          <a:xfrm>
            <a:off x="44257" y="1768208"/>
            <a:ext cx="2112264" cy="396955"/>
          </a:xfrm>
          <a:prstGeom prst="rect">
            <a:avLst/>
          </a:prstGeom>
          <a:solidFill>
            <a:srgbClr val="0074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FF0801-7603-A412-6364-958800B3159E}"/>
              </a:ext>
            </a:extLst>
          </p:cNvPr>
          <p:cNvSpPr txBox="1"/>
          <p:nvPr/>
        </p:nvSpPr>
        <p:spPr>
          <a:xfrm>
            <a:off x="-22614" y="1746830"/>
            <a:ext cx="22077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200" dirty="0" err="1">
                <a:solidFill>
                  <a:schemeClr val="bg1"/>
                </a:solidFill>
              </a:rPr>
              <a:t>Clinical</a:t>
            </a:r>
            <a:r>
              <a:rPr lang="pt-PT" sz="1200" dirty="0">
                <a:solidFill>
                  <a:schemeClr val="bg1"/>
                </a:solidFill>
              </a:rPr>
              <a:t> </a:t>
            </a:r>
            <a:r>
              <a:rPr lang="pt-PT" sz="1200" dirty="0" err="1">
                <a:solidFill>
                  <a:schemeClr val="bg1"/>
                </a:solidFill>
              </a:rPr>
              <a:t>and</a:t>
            </a:r>
            <a:r>
              <a:rPr lang="pt-PT" sz="1200" dirty="0">
                <a:solidFill>
                  <a:schemeClr val="bg1"/>
                </a:solidFill>
              </a:rPr>
              <a:t> </a:t>
            </a:r>
            <a:r>
              <a:rPr lang="pt-PT" sz="1200" dirty="0" err="1">
                <a:solidFill>
                  <a:schemeClr val="bg1"/>
                </a:solidFill>
              </a:rPr>
              <a:t>epidemiological</a:t>
            </a:r>
            <a:r>
              <a:rPr lang="pt-PT" sz="1200" dirty="0">
                <a:solidFill>
                  <a:schemeClr val="bg1"/>
                </a:solidFill>
              </a:rPr>
              <a:t> data</a:t>
            </a:r>
          </a:p>
        </p:txBody>
      </p:sp>
      <p:pic>
        <p:nvPicPr>
          <p:cNvPr id="17" name="Graphic 16" descr="Database">
            <a:extLst>
              <a:ext uri="{FF2B5EF4-FFF2-40B4-BE49-F238E27FC236}">
                <a16:creationId xmlns:a16="http://schemas.microsoft.com/office/drawing/2014/main" id="{80F95B7B-93E4-8609-F554-C6C8209FD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5620" y="1782193"/>
            <a:ext cx="1473723" cy="147372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E794DDF-516F-5C18-B92E-58194476568A}"/>
              </a:ext>
            </a:extLst>
          </p:cNvPr>
          <p:cNvSpPr txBox="1"/>
          <p:nvPr/>
        </p:nvSpPr>
        <p:spPr>
          <a:xfrm>
            <a:off x="2761045" y="1524722"/>
            <a:ext cx="1313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PostgreSQL</a:t>
            </a:r>
            <a:endParaRPr lang="pt-PT" sz="1400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634D73-2C5E-DF1E-C45A-04E0DE8F3EDF}"/>
              </a:ext>
            </a:extLst>
          </p:cNvPr>
          <p:cNvSpPr/>
          <p:nvPr/>
        </p:nvSpPr>
        <p:spPr>
          <a:xfrm>
            <a:off x="72899" y="1417328"/>
            <a:ext cx="2112264" cy="276056"/>
          </a:xfrm>
          <a:prstGeom prst="rect">
            <a:avLst/>
          </a:prstGeom>
          <a:solidFill>
            <a:srgbClr val="0074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4" name="Graphic 2">
            <a:extLst>
              <a:ext uri="{FF2B5EF4-FFF2-40B4-BE49-F238E27FC236}">
                <a16:creationId xmlns:a16="http://schemas.microsoft.com/office/drawing/2014/main" id="{06D0E8EA-2F16-333A-7C4B-76E3EC459ED2}"/>
              </a:ext>
            </a:extLst>
          </p:cNvPr>
          <p:cNvGrpSpPr/>
          <p:nvPr/>
        </p:nvGrpSpPr>
        <p:grpSpPr>
          <a:xfrm>
            <a:off x="723067" y="2263159"/>
            <a:ext cx="787380" cy="1323877"/>
            <a:chOff x="5662612" y="2700337"/>
            <a:chExt cx="868108" cy="1459611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13B9AE8-B98C-994F-60BB-CF5FC7A1093B}"/>
                </a:ext>
              </a:extLst>
            </p:cNvPr>
            <p:cNvSpPr/>
            <p:nvPr/>
          </p:nvSpPr>
          <p:spPr>
            <a:xfrm>
              <a:off x="5662612" y="2700337"/>
              <a:ext cx="868108" cy="1459611"/>
            </a:xfrm>
            <a:custGeom>
              <a:avLst/>
              <a:gdLst>
                <a:gd name="connsiteX0" fmla="*/ 65342 w 868108"/>
                <a:gd name="connsiteY0" fmla="*/ 1459611 h 1459611"/>
                <a:gd name="connsiteX1" fmla="*/ 0 w 868108"/>
                <a:gd name="connsiteY1" fmla="*/ 1377601 h 1459611"/>
                <a:gd name="connsiteX2" fmla="*/ 0 w 868108"/>
                <a:gd name="connsiteY2" fmla="*/ 82010 h 1459611"/>
                <a:gd name="connsiteX3" fmla="*/ 65342 w 868108"/>
                <a:gd name="connsiteY3" fmla="*/ 0 h 1459611"/>
                <a:gd name="connsiteX4" fmla="*/ 802672 w 868108"/>
                <a:gd name="connsiteY4" fmla="*/ 0 h 1459611"/>
                <a:gd name="connsiteX5" fmla="*/ 868109 w 868108"/>
                <a:gd name="connsiteY5" fmla="*/ 82010 h 1459611"/>
                <a:gd name="connsiteX6" fmla="*/ 868109 w 868108"/>
                <a:gd name="connsiteY6" fmla="*/ 1377601 h 1459611"/>
                <a:gd name="connsiteX7" fmla="*/ 802672 w 868108"/>
                <a:gd name="connsiteY7" fmla="*/ 1459611 h 1459611"/>
                <a:gd name="connsiteX8" fmla="*/ 65342 w 868108"/>
                <a:gd name="connsiteY8" fmla="*/ 1459611 h 1459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8108" h="1459611">
                  <a:moveTo>
                    <a:pt x="65342" y="1459611"/>
                  </a:moveTo>
                  <a:cubicBezTo>
                    <a:pt x="29337" y="1459611"/>
                    <a:pt x="0" y="1422845"/>
                    <a:pt x="0" y="1377601"/>
                  </a:cubicBezTo>
                  <a:lnTo>
                    <a:pt x="0" y="82010"/>
                  </a:lnTo>
                  <a:cubicBezTo>
                    <a:pt x="0" y="36767"/>
                    <a:pt x="29337" y="0"/>
                    <a:pt x="65342" y="0"/>
                  </a:cubicBezTo>
                  <a:lnTo>
                    <a:pt x="802672" y="0"/>
                  </a:lnTo>
                  <a:cubicBezTo>
                    <a:pt x="838772" y="0"/>
                    <a:pt x="868109" y="36767"/>
                    <a:pt x="868109" y="82010"/>
                  </a:cubicBezTo>
                  <a:lnTo>
                    <a:pt x="868109" y="1377601"/>
                  </a:lnTo>
                  <a:cubicBezTo>
                    <a:pt x="868109" y="1422845"/>
                    <a:pt x="838772" y="1459611"/>
                    <a:pt x="802672" y="1459611"/>
                  </a:cubicBezTo>
                  <a:lnTo>
                    <a:pt x="65342" y="1459611"/>
                  </a:lnTo>
                  <a:close/>
                </a:path>
              </a:pathLst>
            </a:custGeom>
            <a:solidFill>
              <a:srgbClr val="84848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9033D4E-9E2E-1C0D-0DE0-4933EC4CFAB1}"/>
                </a:ext>
              </a:extLst>
            </p:cNvPr>
            <p:cNvSpPr/>
            <p:nvPr/>
          </p:nvSpPr>
          <p:spPr>
            <a:xfrm>
              <a:off x="5668041" y="2707195"/>
              <a:ext cx="857154" cy="1445990"/>
            </a:xfrm>
            <a:custGeom>
              <a:avLst/>
              <a:gdLst>
                <a:gd name="connsiteX0" fmla="*/ 59912 w 857154"/>
                <a:gd name="connsiteY0" fmla="*/ 1445895 h 1445990"/>
                <a:gd name="connsiteX1" fmla="*/ 0 w 857154"/>
                <a:gd name="connsiteY1" fmla="*/ 1370743 h 1445990"/>
                <a:gd name="connsiteX2" fmla="*/ 0 w 857154"/>
                <a:gd name="connsiteY2" fmla="*/ 75152 h 1445990"/>
                <a:gd name="connsiteX3" fmla="*/ 59912 w 857154"/>
                <a:gd name="connsiteY3" fmla="*/ 0 h 1445990"/>
                <a:gd name="connsiteX4" fmla="*/ 797242 w 857154"/>
                <a:gd name="connsiteY4" fmla="*/ 0 h 1445990"/>
                <a:gd name="connsiteX5" fmla="*/ 857155 w 857154"/>
                <a:gd name="connsiteY5" fmla="*/ 75248 h 1445990"/>
                <a:gd name="connsiteX6" fmla="*/ 857155 w 857154"/>
                <a:gd name="connsiteY6" fmla="*/ 1370838 h 1445990"/>
                <a:gd name="connsiteX7" fmla="*/ 797242 w 857154"/>
                <a:gd name="connsiteY7" fmla="*/ 1445990 h 1445990"/>
                <a:gd name="connsiteX8" fmla="*/ 59912 w 857154"/>
                <a:gd name="connsiteY8" fmla="*/ 1445990 h 1445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7154" h="1445990">
                  <a:moveTo>
                    <a:pt x="59912" y="1445895"/>
                  </a:moveTo>
                  <a:cubicBezTo>
                    <a:pt x="26861" y="1445895"/>
                    <a:pt x="0" y="1412177"/>
                    <a:pt x="0" y="1370743"/>
                  </a:cubicBezTo>
                  <a:lnTo>
                    <a:pt x="0" y="75152"/>
                  </a:lnTo>
                  <a:cubicBezTo>
                    <a:pt x="0" y="33719"/>
                    <a:pt x="26956" y="0"/>
                    <a:pt x="59912" y="0"/>
                  </a:cubicBezTo>
                  <a:lnTo>
                    <a:pt x="797242" y="0"/>
                  </a:lnTo>
                  <a:cubicBezTo>
                    <a:pt x="830294" y="0"/>
                    <a:pt x="857155" y="33719"/>
                    <a:pt x="857155" y="75248"/>
                  </a:cubicBezTo>
                  <a:lnTo>
                    <a:pt x="857155" y="1370838"/>
                  </a:lnTo>
                  <a:cubicBezTo>
                    <a:pt x="857155" y="1412272"/>
                    <a:pt x="830294" y="1445990"/>
                    <a:pt x="797242" y="1445990"/>
                  </a:cubicBezTo>
                  <a:lnTo>
                    <a:pt x="59912" y="1445990"/>
                  </a:lnTo>
                  <a:close/>
                </a:path>
              </a:pathLst>
            </a:custGeom>
            <a:solidFill>
              <a:srgbClr val="E9E9E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8FA9751-EF84-C32A-B8D6-4D4B93EA2252}"/>
                </a:ext>
              </a:extLst>
            </p:cNvPr>
            <p:cNvSpPr/>
            <p:nvPr/>
          </p:nvSpPr>
          <p:spPr>
            <a:xfrm>
              <a:off x="5673470" y="2714053"/>
              <a:ext cx="846391" cy="1432274"/>
            </a:xfrm>
            <a:custGeom>
              <a:avLst/>
              <a:gdLst>
                <a:gd name="connsiteX0" fmla="*/ 846392 w 846391"/>
                <a:gd name="connsiteY0" fmla="*/ 1363885 h 1432274"/>
                <a:gd name="connsiteX1" fmla="*/ 791909 w 846391"/>
                <a:gd name="connsiteY1" fmla="*/ 1432274 h 1432274"/>
                <a:gd name="connsiteX2" fmla="*/ 54483 w 846391"/>
                <a:gd name="connsiteY2" fmla="*/ 1432274 h 1432274"/>
                <a:gd name="connsiteX3" fmla="*/ 0 w 846391"/>
                <a:gd name="connsiteY3" fmla="*/ 1363885 h 1432274"/>
                <a:gd name="connsiteX4" fmla="*/ 0 w 846391"/>
                <a:gd name="connsiteY4" fmla="*/ 68294 h 1432274"/>
                <a:gd name="connsiteX5" fmla="*/ 54483 w 846391"/>
                <a:gd name="connsiteY5" fmla="*/ 0 h 1432274"/>
                <a:gd name="connsiteX6" fmla="*/ 791813 w 846391"/>
                <a:gd name="connsiteY6" fmla="*/ 0 h 1432274"/>
                <a:gd name="connsiteX7" fmla="*/ 846296 w 846391"/>
                <a:gd name="connsiteY7" fmla="*/ 68390 h 1432274"/>
                <a:gd name="connsiteX8" fmla="*/ 846296 w 846391"/>
                <a:gd name="connsiteY8" fmla="*/ 1363980 h 1432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6391" h="1432274">
                  <a:moveTo>
                    <a:pt x="846392" y="1363885"/>
                  </a:moveTo>
                  <a:cubicBezTo>
                    <a:pt x="846392" y="1401509"/>
                    <a:pt x="821817" y="1432274"/>
                    <a:pt x="791909" y="1432274"/>
                  </a:cubicBezTo>
                  <a:lnTo>
                    <a:pt x="54483" y="1432274"/>
                  </a:lnTo>
                  <a:cubicBezTo>
                    <a:pt x="24479" y="1432274"/>
                    <a:pt x="0" y="1401509"/>
                    <a:pt x="0" y="1363885"/>
                  </a:cubicBezTo>
                  <a:lnTo>
                    <a:pt x="0" y="68294"/>
                  </a:lnTo>
                  <a:cubicBezTo>
                    <a:pt x="0" y="30670"/>
                    <a:pt x="24575" y="0"/>
                    <a:pt x="54483" y="0"/>
                  </a:cubicBezTo>
                  <a:lnTo>
                    <a:pt x="791813" y="0"/>
                  </a:lnTo>
                  <a:cubicBezTo>
                    <a:pt x="821817" y="0"/>
                    <a:pt x="846296" y="30766"/>
                    <a:pt x="846296" y="68390"/>
                  </a:cubicBezTo>
                  <a:lnTo>
                    <a:pt x="846296" y="1363980"/>
                  </a:lnTo>
                  <a:close/>
                </a:path>
              </a:pathLst>
            </a:custGeom>
            <a:gradFill>
              <a:gsLst>
                <a:gs pos="0">
                  <a:srgbClr val="020202"/>
                </a:gs>
                <a:gs pos="50000">
                  <a:srgbClr val="0A0A0A"/>
                </a:gs>
                <a:gs pos="100000">
                  <a:srgbClr val="121212"/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00AEF3E-F87B-1E3C-4008-02D46AFED8FA}"/>
                </a:ext>
              </a:extLst>
            </p:cNvPr>
            <p:cNvSpPr/>
            <p:nvPr/>
          </p:nvSpPr>
          <p:spPr>
            <a:xfrm>
              <a:off x="5715094" y="2854070"/>
              <a:ext cx="763238" cy="1145381"/>
            </a:xfrm>
            <a:custGeom>
              <a:avLst/>
              <a:gdLst>
                <a:gd name="connsiteX0" fmla="*/ 0 w 763238"/>
                <a:gd name="connsiteY0" fmla="*/ 0 h 1145381"/>
                <a:gd name="connsiteX1" fmla="*/ 763238 w 763238"/>
                <a:gd name="connsiteY1" fmla="*/ 0 h 1145381"/>
                <a:gd name="connsiteX2" fmla="*/ 763238 w 763238"/>
                <a:gd name="connsiteY2" fmla="*/ 1145381 h 1145381"/>
                <a:gd name="connsiteX3" fmla="*/ 0 w 763238"/>
                <a:gd name="connsiteY3" fmla="*/ 1145381 h 1145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3238" h="1145381">
                  <a:moveTo>
                    <a:pt x="0" y="0"/>
                  </a:moveTo>
                  <a:lnTo>
                    <a:pt x="763238" y="0"/>
                  </a:lnTo>
                  <a:lnTo>
                    <a:pt x="763238" y="1145381"/>
                  </a:lnTo>
                  <a:lnTo>
                    <a:pt x="0" y="11453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dirty="0"/>
            </a:p>
          </p:txBody>
        </p:sp>
        <p:grpSp>
          <p:nvGrpSpPr>
            <p:cNvPr id="10" name="Graphic 2">
              <a:extLst>
                <a:ext uri="{FF2B5EF4-FFF2-40B4-BE49-F238E27FC236}">
                  <a16:creationId xmlns:a16="http://schemas.microsoft.com/office/drawing/2014/main" id="{9965C78C-A611-3DD5-23E6-3B4A0A509E1A}"/>
                </a:ext>
              </a:extLst>
            </p:cNvPr>
            <p:cNvGrpSpPr/>
            <p:nvPr/>
          </p:nvGrpSpPr>
          <p:grpSpPr>
            <a:xfrm>
              <a:off x="6088570" y="2769107"/>
              <a:ext cx="15144" cy="19050"/>
              <a:chOff x="6088570" y="2769107"/>
              <a:chExt cx="15144" cy="19050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8821962-E7B0-8584-8013-1F6DA2786B1C}"/>
                  </a:ext>
                </a:extLst>
              </p:cNvPr>
              <p:cNvSpPr/>
              <p:nvPr/>
            </p:nvSpPr>
            <p:spPr>
              <a:xfrm>
                <a:off x="6088570" y="2769107"/>
                <a:ext cx="15144" cy="19050"/>
              </a:xfrm>
              <a:custGeom>
                <a:avLst/>
                <a:gdLst>
                  <a:gd name="connsiteX0" fmla="*/ 15145 w 15144"/>
                  <a:gd name="connsiteY0" fmla="*/ 9525 h 19050"/>
                  <a:gd name="connsiteX1" fmla="*/ 7525 w 15144"/>
                  <a:gd name="connsiteY1" fmla="*/ 19050 h 19050"/>
                  <a:gd name="connsiteX2" fmla="*/ 0 w 15144"/>
                  <a:gd name="connsiteY2" fmla="*/ 9525 h 19050"/>
                  <a:gd name="connsiteX3" fmla="*/ 7525 w 15144"/>
                  <a:gd name="connsiteY3" fmla="*/ 0 h 19050"/>
                  <a:gd name="connsiteX4" fmla="*/ 15145 w 15144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44" h="19050">
                    <a:moveTo>
                      <a:pt x="15145" y="9525"/>
                    </a:moveTo>
                    <a:cubicBezTo>
                      <a:pt x="15145" y="14764"/>
                      <a:pt x="11716" y="19050"/>
                      <a:pt x="7525" y="19050"/>
                    </a:cubicBezTo>
                    <a:cubicBezTo>
                      <a:pt x="3334" y="19050"/>
                      <a:pt x="0" y="14764"/>
                      <a:pt x="0" y="9525"/>
                    </a:cubicBezTo>
                    <a:cubicBezTo>
                      <a:pt x="0" y="4286"/>
                      <a:pt x="3429" y="0"/>
                      <a:pt x="7525" y="0"/>
                    </a:cubicBezTo>
                    <a:cubicBezTo>
                      <a:pt x="11620" y="0"/>
                      <a:pt x="15145" y="4286"/>
                      <a:pt x="15145" y="9525"/>
                    </a:cubicBezTo>
                    <a:close/>
                  </a:path>
                </a:pathLst>
              </a:custGeom>
              <a:solidFill>
                <a:srgbClr val="F7F7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PT" dirty="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EF25854-2314-A951-7EE4-2ACAA74B2CBB}"/>
                  </a:ext>
                </a:extLst>
              </p:cNvPr>
              <p:cNvSpPr/>
              <p:nvPr/>
            </p:nvSpPr>
            <p:spPr>
              <a:xfrm>
                <a:off x="6088950" y="2769202"/>
                <a:ext cx="14287" cy="17906"/>
              </a:xfrm>
              <a:custGeom>
                <a:avLst/>
                <a:gdLst>
                  <a:gd name="connsiteX0" fmla="*/ 14288 w 14287"/>
                  <a:gd name="connsiteY0" fmla="*/ 8954 h 17906"/>
                  <a:gd name="connsiteX1" fmla="*/ 7144 w 14287"/>
                  <a:gd name="connsiteY1" fmla="*/ 17907 h 17906"/>
                  <a:gd name="connsiteX2" fmla="*/ 0 w 14287"/>
                  <a:gd name="connsiteY2" fmla="*/ 8954 h 17906"/>
                  <a:gd name="connsiteX3" fmla="*/ 7144 w 14287"/>
                  <a:gd name="connsiteY3" fmla="*/ 0 h 17906"/>
                  <a:gd name="connsiteX4" fmla="*/ 14288 w 14287"/>
                  <a:gd name="connsiteY4" fmla="*/ 8954 h 17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" h="17906">
                    <a:moveTo>
                      <a:pt x="14288" y="8954"/>
                    </a:moveTo>
                    <a:cubicBezTo>
                      <a:pt x="14288" y="13906"/>
                      <a:pt x="11049" y="17907"/>
                      <a:pt x="7144" y="17907"/>
                    </a:cubicBezTo>
                    <a:cubicBezTo>
                      <a:pt x="3239" y="17907"/>
                      <a:pt x="0" y="13906"/>
                      <a:pt x="0" y="8954"/>
                    </a:cubicBezTo>
                    <a:cubicBezTo>
                      <a:pt x="0" y="4001"/>
                      <a:pt x="3239" y="0"/>
                      <a:pt x="7144" y="0"/>
                    </a:cubicBezTo>
                    <a:cubicBezTo>
                      <a:pt x="11049" y="0"/>
                      <a:pt x="14288" y="4001"/>
                      <a:pt x="14288" y="8954"/>
                    </a:cubicBezTo>
                    <a:close/>
                  </a:path>
                </a:pathLst>
              </a:custGeom>
              <a:solidFill>
                <a:srgbClr val="C4C4C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PT" dirty="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AA2B57A0-8496-FB70-0E18-5D381EA08DE4}"/>
                  </a:ext>
                </a:extLst>
              </p:cNvPr>
              <p:cNvSpPr/>
              <p:nvPr/>
            </p:nvSpPr>
            <p:spPr>
              <a:xfrm>
                <a:off x="6094189" y="2775775"/>
                <a:ext cx="3809" cy="4762"/>
              </a:xfrm>
              <a:custGeom>
                <a:avLst/>
                <a:gdLst>
                  <a:gd name="connsiteX0" fmla="*/ 3810 w 3809"/>
                  <a:gd name="connsiteY0" fmla="*/ 2381 h 4762"/>
                  <a:gd name="connsiteX1" fmla="*/ 1905 w 3809"/>
                  <a:gd name="connsiteY1" fmla="*/ 4763 h 4762"/>
                  <a:gd name="connsiteX2" fmla="*/ 0 w 3809"/>
                  <a:gd name="connsiteY2" fmla="*/ 2381 h 4762"/>
                  <a:gd name="connsiteX3" fmla="*/ 1905 w 3809"/>
                  <a:gd name="connsiteY3" fmla="*/ 0 h 4762"/>
                  <a:gd name="connsiteX4" fmla="*/ 3810 w 3809"/>
                  <a:gd name="connsiteY4" fmla="*/ 2381 h 4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09" h="4762">
                    <a:moveTo>
                      <a:pt x="3810" y="2381"/>
                    </a:moveTo>
                    <a:cubicBezTo>
                      <a:pt x="3810" y="3715"/>
                      <a:pt x="2953" y="4763"/>
                      <a:pt x="1905" y="4763"/>
                    </a:cubicBezTo>
                    <a:cubicBezTo>
                      <a:pt x="857" y="4763"/>
                      <a:pt x="0" y="3715"/>
                      <a:pt x="0" y="2381"/>
                    </a:cubicBezTo>
                    <a:cubicBezTo>
                      <a:pt x="0" y="1048"/>
                      <a:pt x="857" y="0"/>
                      <a:pt x="1905" y="0"/>
                    </a:cubicBezTo>
                    <a:cubicBezTo>
                      <a:pt x="2953" y="0"/>
                      <a:pt x="3810" y="1048"/>
                      <a:pt x="3810" y="2381"/>
                    </a:cubicBezTo>
                    <a:close/>
                  </a:path>
                </a:pathLst>
              </a:custGeom>
              <a:solidFill>
                <a:srgbClr val="B5B5B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PT" dirty="0"/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9C272A7-792E-5EC0-F16B-6EA9EA759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27667" y="3043713"/>
              <a:ext cx="762000" cy="762000"/>
            </a:xfrm>
            <a:custGeom>
              <a:avLst/>
              <a:gdLst>
                <a:gd name="connsiteX0" fmla="*/ -203 w 762000"/>
                <a:gd name="connsiteY0" fmla="*/ -174 h 762000"/>
                <a:gd name="connsiteX1" fmla="*/ 761797 w 762000"/>
                <a:gd name="connsiteY1" fmla="*/ -174 h 762000"/>
                <a:gd name="connsiteX2" fmla="*/ 761797 w 762000"/>
                <a:gd name="connsiteY2" fmla="*/ 761826 h 762000"/>
                <a:gd name="connsiteX3" fmla="*/ -203 w 762000"/>
                <a:gd name="connsiteY3" fmla="*/ 761826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762000">
                  <a:moveTo>
                    <a:pt x="-203" y="-174"/>
                  </a:moveTo>
                  <a:lnTo>
                    <a:pt x="761797" y="-174"/>
                  </a:lnTo>
                  <a:lnTo>
                    <a:pt x="761797" y="761826"/>
                  </a:lnTo>
                  <a:lnTo>
                    <a:pt x="-203" y="761826"/>
                  </a:lnTo>
                  <a:close/>
                </a:path>
              </a:pathLst>
            </a:cu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DC0C4D0-5CCA-0AA3-BC13-F1C80D828FD4}"/>
              </a:ext>
            </a:extLst>
          </p:cNvPr>
          <p:cNvSpPr txBox="1"/>
          <p:nvPr/>
        </p:nvSpPr>
        <p:spPr>
          <a:xfrm>
            <a:off x="194514" y="1403981"/>
            <a:ext cx="1864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DATA COLLECTION</a:t>
            </a:r>
            <a:endParaRPr lang="pt-PT" sz="1400" b="1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C36E82-CC52-FC07-F901-E2EAC0AEAFC2}"/>
              </a:ext>
            </a:extLst>
          </p:cNvPr>
          <p:cNvSpPr/>
          <p:nvPr/>
        </p:nvSpPr>
        <p:spPr>
          <a:xfrm>
            <a:off x="393193" y="1693384"/>
            <a:ext cx="2112264" cy="1991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38167AE-377D-9225-01BB-805512647D62}"/>
              </a:ext>
            </a:extLst>
          </p:cNvPr>
          <p:cNvGrpSpPr/>
          <p:nvPr/>
        </p:nvGrpSpPr>
        <p:grpSpPr>
          <a:xfrm>
            <a:off x="4440662" y="1419686"/>
            <a:ext cx="2112264" cy="2887139"/>
            <a:chOff x="6996687" y="1419686"/>
            <a:chExt cx="2112264" cy="288713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B9A8B63-4599-EC3F-4793-4FFB991DD66F}"/>
                </a:ext>
              </a:extLst>
            </p:cNvPr>
            <p:cNvSpPr/>
            <p:nvPr/>
          </p:nvSpPr>
          <p:spPr>
            <a:xfrm>
              <a:off x="6996687" y="1433135"/>
              <a:ext cx="2112264" cy="276056"/>
            </a:xfrm>
            <a:prstGeom prst="rect">
              <a:avLst/>
            </a:prstGeom>
            <a:solidFill>
              <a:srgbClr val="0074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E42591BD-DC64-2EE0-1C7E-BD29D427A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69497" y="1818151"/>
              <a:ext cx="1351407" cy="1452447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357734-006B-D969-42E2-8F4425736C48}"/>
                </a:ext>
              </a:extLst>
            </p:cNvPr>
            <p:cNvSpPr txBox="1"/>
            <p:nvPr/>
          </p:nvSpPr>
          <p:spPr>
            <a:xfrm>
              <a:off x="7158412" y="1419686"/>
              <a:ext cx="15853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solidFill>
                    <a:schemeClr val="bg1"/>
                  </a:solidFill>
                </a:rPr>
                <a:t>DATA ANALYSIS</a:t>
              </a:r>
              <a:endParaRPr lang="pt-PT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D116C4C-3195-057C-DAE6-7F3622216551}"/>
                </a:ext>
              </a:extLst>
            </p:cNvPr>
            <p:cNvSpPr/>
            <p:nvPr/>
          </p:nvSpPr>
          <p:spPr>
            <a:xfrm>
              <a:off x="6996687" y="1709191"/>
              <a:ext cx="2112264" cy="25976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120F472-C985-1569-1EF1-50B94D65AC39}"/>
              </a:ext>
            </a:extLst>
          </p:cNvPr>
          <p:cNvCxnSpPr>
            <a:cxnSpLocks/>
          </p:cNvCxnSpPr>
          <p:nvPr/>
        </p:nvCxnSpPr>
        <p:spPr>
          <a:xfrm>
            <a:off x="2185163" y="2055452"/>
            <a:ext cx="630773" cy="468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ISMA - Ministério da Saúde">
            <a:extLst>
              <a:ext uri="{FF2B5EF4-FFF2-40B4-BE49-F238E27FC236}">
                <a16:creationId xmlns:a16="http://schemas.microsoft.com/office/drawing/2014/main" id="{00338B3B-008A-539F-8208-0053946C4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908" y="3522081"/>
            <a:ext cx="970385" cy="970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7D13CB5-57C6-9409-A662-F202EF720C8E}"/>
              </a:ext>
            </a:extLst>
          </p:cNvPr>
          <p:cNvSpPr txBox="1"/>
          <p:nvPr/>
        </p:nvSpPr>
        <p:spPr>
          <a:xfrm>
            <a:off x="2657344" y="4570684"/>
            <a:ext cx="1645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400" b="1" dirty="0"/>
              <a:t>SIS-MA (DHIS-2)</a:t>
            </a:r>
            <a:endParaRPr lang="pt-PT" sz="1400" b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8955A74-3A52-E11D-1DD7-1C6F96A9011D}"/>
              </a:ext>
            </a:extLst>
          </p:cNvPr>
          <p:cNvCxnSpPr>
            <a:cxnSpLocks/>
          </p:cNvCxnSpPr>
          <p:nvPr/>
        </p:nvCxnSpPr>
        <p:spPr>
          <a:xfrm>
            <a:off x="3372481" y="3167561"/>
            <a:ext cx="0" cy="289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ECD5563-B409-8962-7087-C2A7286FDC40}"/>
              </a:ext>
            </a:extLst>
          </p:cNvPr>
          <p:cNvCxnSpPr>
            <a:cxnSpLocks/>
          </p:cNvCxnSpPr>
          <p:nvPr/>
        </p:nvCxnSpPr>
        <p:spPr>
          <a:xfrm>
            <a:off x="3872026" y="2428564"/>
            <a:ext cx="8088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B4040C3-F43E-A3C5-031F-6467B416AD54}"/>
              </a:ext>
            </a:extLst>
          </p:cNvPr>
          <p:cNvCxnSpPr>
            <a:cxnSpLocks/>
          </p:cNvCxnSpPr>
          <p:nvPr/>
        </p:nvCxnSpPr>
        <p:spPr>
          <a:xfrm flipV="1">
            <a:off x="3905529" y="2920030"/>
            <a:ext cx="705335" cy="932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Graphic 45">
            <a:extLst>
              <a:ext uri="{FF2B5EF4-FFF2-40B4-BE49-F238E27FC236}">
                <a16:creationId xmlns:a16="http://schemas.microsoft.com/office/drawing/2014/main" id="{55825D8B-339D-215E-E664-1F7C964D38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64548" y="1757891"/>
            <a:ext cx="1083122" cy="91304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9A07603-DFAE-A107-07CC-8865C9288F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6597" y="3063507"/>
            <a:ext cx="643378" cy="89753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C4F4C9C9-3B26-CBDF-BFED-E3000B762471}"/>
              </a:ext>
            </a:extLst>
          </p:cNvPr>
          <p:cNvSpPr/>
          <p:nvPr/>
        </p:nvSpPr>
        <p:spPr>
          <a:xfrm>
            <a:off x="7186352" y="1417430"/>
            <a:ext cx="2112264" cy="276056"/>
          </a:xfrm>
          <a:prstGeom prst="rect">
            <a:avLst/>
          </a:prstGeom>
          <a:solidFill>
            <a:srgbClr val="0074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682AC4E-55EE-68B3-142D-5C45963C904D}"/>
              </a:ext>
            </a:extLst>
          </p:cNvPr>
          <p:cNvSpPr txBox="1"/>
          <p:nvPr/>
        </p:nvSpPr>
        <p:spPr>
          <a:xfrm>
            <a:off x="7702947" y="1403981"/>
            <a:ext cx="1325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PRODUCTS</a:t>
            </a:r>
            <a:endParaRPr lang="pt-PT" sz="1400" b="1" dirty="0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78BC93-86C2-06AB-D602-39CA2C949763}"/>
              </a:ext>
            </a:extLst>
          </p:cNvPr>
          <p:cNvSpPr/>
          <p:nvPr/>
        </p:nvSpPr>
        <p:spPr>
          <a:xfrm>
            <a:off x="8397385" y="1694664"/>
            <a:ext cx="2112264" cy="2597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320E2ED-F632-6FBA-97DC-AE311FBF65DE}"/>
              </a:ext>
            </a:extLst>
          </p:cNvPr>
          <p:cNvCxnSpPr>
            <a:cxnSpLocks/>
          </p:cNvCxnSpPr>
          <p:nvPr/>
        </p:nvCxnSpPr>
        <p:spPr>
          <a:xfrm>
            <a:off x="6329368" y="2774134"/>
            <a:ext cx="8778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10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B4CB714-1044-EB55-C1BC-3B2AC7B1A0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95733" y="3559536"/>
            <a:ext cx="620927" cy="596672"/>
          </a:xfrm>
          <a:prstGeom prst="rect">
            <a:avLst/>
          </a:prstGeom>
        </p:spPr>
      </p:pic>
      <p:pic>
        <p:nvPicPr>
          <p:cNvPr id="1032" name="Picture 103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BE8068-F9E8-9FA1-EC6F-A6B35616DC7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26609" y="1775784"/>
            <a:ext cx="620928" cy="389379"/>
          </a:xfrm>
          <a:prstGeom prst="rect">
            <a:avLst/>
          </a:prstGeom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A7A4EF85-50C4-6A40-38EC-9FFC325B4728}"/>
              </a:ext>
            </a:extLst>
          </p:cNvPr>
          <p:cNvSpPr txBox="1"/>
          <p:nvPr/>
        </p:nvSpPr>
        <p:spPr>
          <a:xfrm>
            <a:off x="10235027" y="2244637"/>
            <a:ext cx="1165705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Public access </a:t>
            </a:r>
            <a:endParaRPr lang="pt-PT" dirty="0"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B7D7496E-0736-A78D-7A80-E244DA8939E3}"/>
              </a:ext>
            </a:extLst>
          </p:cNvPr>
          <p:cNvSpPr txBox="1"/>
          <p:nvPr/>
        </p:nvSpPr>
        <p:spPr>
          <a:xfrm>
            <a:off x="10192504" y="4176944"/>
            <a:ext cx="1317990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ZA" dirty="0"/>
              <a:t>Decision makers</a:t>
            </a:r>
            <a:endParaRPr lang="pt-PT" dirty="0"/>
          </a:p>
        </p:txBody>
      </p:sp>
      <p:cxnSp>
        <p:nvCxnSpPr>
          <p:cNvPr id="1036" name="Straight Arrow Connector 1035">
            <a:extLst>
              <a:ext uri="{FF2B5EF4-FFF2-40B4-BE49-F238E27FC236}">
                <a16:creationId xmlns:a16="http://schemas.microsoft.com/office/drawing/2014/main" id="{66EB3E91-96EF-854D-4DD7-EEEC79A85EE4}"/>
              </a:ext>
            </a:extLst>
          </p:cNvPr>
          <p:cNvCxnSpPr>
            <a:cxnSpLocks/>
          </p:cNvCxnSpPr>
          <p:nvPr/>
        </p:nvCxnSpPr>
        <p:spPr>
          <a:xfrm>
            <a:off x="9469126" y="2386285"/>
            <a:ext cx="5675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7FFD385-69BC-3C8E-2A2E-47AE2BEF0F3D}"/>
              </a:ext>
            </a:extLst>
          </p:cNvPr>
          <p:cNvSpPr/>
          <p:nvPr/>
        </p:nvSpPr>
        <p:spPr>
          <a:xfrm>
            <a:off x="7080034" y="4349220"/>
            <a:ext cx="2287857" cy="192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dirty="0" err="1"/>
              <a:t>Summary</a:t>
            </a:r>
            <a:r>
              <a:rPr lang="pt-PT" sz="1200" dirty="0"/>
              <a:t> </a:t>
            </a:r>
            <a:r>
              <a:rPr lang="pt-PT" sz="1200" dirty="0" err="1"/>
              <a:t>information</a:t>
            </a:r>
            <a:r>
              <a:rPr lang="pt-PT" sz="1200" dirty="0"/>
              <a:t> </a:t>
            </a:r>
            <a:r>
              <a:rPr lang="pt-PT" sz="1200" dirty="0" err="1"/>
              <a:t>sheets</a:t>
            </a:r>
            <a:endParaRPr lang="pt-PT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6E55BC-E504-D359-42AC-9DF616E28676}"/>
              </a:ext>
            </a:extLst>
          </p:cNvPr>
          <p:cNvSpPr/>
          <p:nvPr/>
        </p:nvSpPr>
        <p:spPr>
          <a:xfrm>
            <a:off x="7070922" y="4622920"/>
            <a:ext cx="2296024" cy="192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dirty="0" err="1"/>
              <a:t>Epidemiological</a:t>
            </a:r>
            <a:r>
              <a:rPr lang="pt-PT" sz="1200" dirty="0"/>
              <a:t> </a:t>
            </a:r>
            <a:r>
              <a:rPr lang="pt-PT" sz="1200" dirty="0" err="1"/>
              <a:t>reports</a:t>
            </a:r>
            <a:r>
              <a:rPr lang="pt-PT" sz="1200" dirty="0"/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69187C-037B-E067-6243-C9BAF148A8B3}"/>
              </a:ext>
            </a:extLst>
          </p:cNvPr>
          <p:cNvSpPr/>
          <p:nvPr/>
        </p:nvSpPr>
        <p:spPr>
          <a:xfrm>
            <a:off x="7080034" y="4896620"/>
            <a:ext cx="2296023" cy="2313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dirty="0" err="1"/>
              <a:t>Brochures</a:t>
            </a:r>
            <a:r>
              <a:rPr lang="pt-PT" sz="1200" dirty="0"/>
              <a:t> </a:t>
            </a:r>
            <a:r>
              <a:rPr lang="pt-PT" sz="1200" dirty="0" err="1"/>
              <a:t>and</a:t>
            </a:r>
            <a:r>
              <a:rPr lang="pt-PT" sz="1200" dirty="0"/>
              <a:t> </a:t>
            </a:r>
            <a:r>
              <a:rPr lang="pt-PT" sz="1200" dirty="0" err="1"/>
              <a:t>infographics</a:t>
            </a:r>
            <a:r>
              <a:rPr lang="pt-PT" sz="1200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1E5480-DAEE-2418-945F-5B445C05EE7F}"/>
              </a:ext>
            </a:extLst>
          </p:cNvPr>
          <p:cNvSpPr/>
          <p:nvPr/>
        </p:nvSpPr>
        <p:spPr>
          <a:xfrm>
            <a:off x="7070921" y="5186539"/>
            <a:ext cx="2296023" cy="2313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dirty="0"/>
              <a:t>Scientific papers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3B6D40-A447-0A79-783A-6162772F169F}"/>
              </a:ext>
            </a:extLst>
          </p:cNvPr>
          <p:cNvSpPr/>
          <p:nvPr/>
        </p:nvSpPr>
        <p:spPr>
          <a:xfrm>
            <a:off x="7070921" y="4055508"/>
            <a:ext cx="2286096" cy="2120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dirty="0" err="1"/>
              <a:t>Epidemiological</a:t>
            </a:r>
            <a:r>
              <a:rPr lang="pt-PT" sz="1200" dirty="0"/>
              <a:t> </a:t>
            </a:r>
            <a:r>
              <a:rPr lang="pt-PT" sz="1200" dirty="0" err="1"/>
              <a:t>bulletin</a:t>
            </a:r>
            <a:endParaRPr lang="pt-PT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F27861-3F30-7751-5D8A-9B96A2F0BFF9}"/>
              </a:ext>
            </a:extLst>
          </p:cNvPr>
          <p:cNvSpPr/>
          <p:nvPr/>
        </p:nvSpPr>
        <p:spPr>
          <a:xfrm>
            <a:off x="7442980" y="2713186"/>
            <a:ext cx="1619621" cy="192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ZA" sz="1200" dirty="0"/>
              <a:t>Dashboard</a:t>
            </a:r>
            <a:endParaRPr lang="pt-PT" sz="12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E818DEE-729F-5444-6C43-FBD4FBA397CE}"/>
              </a:ext>
            </a:extLst>
          </p:cNvPr>
          <p:cNvGrpSpPr/>
          <p:nvPr/>
        </p:nvGrpSpPr>
        <p:grpSpPr>
          <a:xfrm>
            <a:off x="4526872" y="3370948"/>
            <a:ext cx="1789837" cy="1264839"/>
            <a:chOff x="4973187" y="3370948"/>
            <a:chExt cx="1789837" cy="126483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C72E82F-C952-9439-C75B-FBF6C4E149E0}"/>
                </a:ext>
              </a:extLst>
            </p:cNvPr>
            <p:cNvSpPr txBox="1"/>
            <p:nvPr/>
          </p:nvSpPr>
          <p:spPr>
            <a:xfrm>
              <a:off x="4973187" y="3370948"/>
              <a:ext cx="1789836" cy="27699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indent="0" algn="ctr">
                <a:buNone/>
              </a:pPr>
              <a:r>
                <a:rPr lang="pt-PT" sz="1200" dirty="0" err="1">
                  <a:solidFill>
                    <a:schemeClr val="bg1"/>
                  </a:solidFill>
                </a:rPr>
                <a:t>Descriptive</a:t>
              </a:r>
              <a:r>
                <a:rPr lang="pt-PT" sz="1200" dirty="0">
                  <a:solidFill>
                    <a:schemeClr val="bg1"/>
                  </a:solidFill>
                </a:rPr>
                <a:t> </a:t>
              </a:r>
              <a:r>
                <a:rPr lang="pt-PT" sz="1200" dirty="0" err="1">
                  <a:solidFill>
                    <a:schemeClr val="bg1"/>
                  </a:solidFill>
                </a:rPr>
                <a:t>analysis</a:t>
              </a:r>
              <a:endParaRPr lang="pt-PT" sz="1200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3C0B32C-14DF-6E07-BFF0-67E479F6DEC5}"/>
                </a:ext>
              </a:extLst>
            </p:cNvPr>
            <p:cNvSpPr txBox="1"/>
            <p:nvPr/>
          </p:nvSpPr>
          <p:spPr>
            <a:xfrm>
              <a:off x="4973187" y="3700228"/>
              <a:ext cx="1789836" cy="27699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indent="0" algn="ctr">
                <a:buNone/>
              </a:pPr>
              <a:r>
                <a:rPr lang="pt-PT" sz="1200" dirty="0" err="1">
                  <a:solidFill>
                    <a:schemeClr val="bg1"/>
                  </a:solidFill>
                </a:rPr>
                <a:t>Spatial</a:t>
              </a:r>
              <a:r>
                <a:rPr lang="pt-PT" sz="1200" dirty="0">
                  <a:solidFill>
                    <a:schemeClr val="bg1"/>
                  </a:solidFill>
                </a:rPr>
                <a:t> </a:t>
              </a:r>
              <a:r>
                <a:rPr lang="pt-PT" sz="1200" dirty="0" err="1">
                  <a:solidFill>
                    <a:schemeClr val="bg1"/>
                  </a:solidFill>
                </a:rPr>
                <a:t>analysis</a:t>
              </a:r>
              <a:endParaRPr lang="pt-PT" sz="1200" dirty="0">
                <a:solidFill>
                  <a:schemeClr val="bg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184385D-F1FE-74BE-D591-DDEA07237CB5}"/>
                </a:ext>
              </a:extLst>
            </p:cNvPr>
            <p:cNvSpPr txBox="1"/>
            <p:nvPr/>
          </p:nvSpPr>
          <p:spPr>
            <a:xfrm>
              <a:off x="4973188" y="4029508"/>
              <a:ext cx="1789836" cy="27699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indent="0" algn="ctr">
                <a:buNone/>
              </a:pPr>
              <a:r>
                <a:rPr lang="pt-PT" sz="1200" dirty="0">
                  <a:solidFill>
                    <a:schemeClr val="bg1"/>
                  </a:solidFill>
                </a:rPr>
                <a:t>Data </a:t>
              </a:r>
              <a:r>
                <a:rPr lang="pt-PT" sz="1200" dirty="0" err="1">
                  <a:solidFill>
                    <a:schemeClr val="bg1"/>
                  </a:solidFill>
                </a:rPr>
                <a:t>triangulation</a:t>
              </a:r>
              <a:endParaRPr lang="pt-PT" sz="1200" dirty="0">
                <a:solidFill>
                  <a:schemeClr val="bg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99CCBBB-9186-4AF1-40E9-ACE6A11D5750}"/>
                </a:ext>
              </a:extLst>
            </p:cNvPr>
            <p:cNvSpPr txBox="1"/>
            <p:nvPr/>
          </p:nvSpPr>
          <p:spPr>
            <a:xfrm>
              <a:off x="4973188" y="4358788"/>
              <a:ext cx="1789836" cy="27699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indent="0" algn="ctr">
                <a:buNone/>
              </a:pPr>
              <a:r>
                <a:rPr lang="pt-PT" sz="1200" dirty="0">
                  <a:solidFill>
                    <a:schemeClr val="bg1"/>
                  </a:solidFill>
                </a:rPr>
                <a:t>Data </a:t>
              </a:r>
              <a:r>
                <a:rPr lang="pt-PT" sz="1200" dirty="0" err="1">
                  <a:solidFill>
                    <a:schemeClr val="bg1"/>
                  </a:solidFill>
                </a:rPr>
                <a:t>modeling</a:t>
              </a:r>
              <a:endParaRPr lang="en-ZA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8E6CEFFC-0C87-1832-B628-18E46A1BCA32}"/>
              </a:ext>
            </a:extLst>
          </p:cNvPr>
          <p:cNvSpPr txBox="1"/>
          <p:nvPr/>
        </p:nvSpPr>
        <p:spPr>
          <a:xfrm>
            <a:off x="122344" y="3778509"/>
            <a:ext cx="1976713" cy="27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200" dirty="0" err="1">
                <a:solidFill>
                  <a:schemeClr val="bg1"/>
                </a:solidFill>
              </a:rPr>
              <a:t>Laboratory</a:t>
            </a:r>
            <a:r>
              <a:rPr lang="pt-PT" sz="1200" dirty="0">
                <a:solidFill>
                  <a:schemeClr val="bg1"/>
                </a:solidFill>
              </a:rPr>
              <a:t> data</a:t>
            </a:r>
          </a:p>
        </p:txBody>
      </p:sp>
      <p:grpSp>
        <p:nvGrpSpPr>
          <p:cNvPr id="44" name="Graphic 2">
            <a:extLst>
              <a:ext uri="{FF2B5EF4-FFF2-40B4-BE49-F238E27FC236}">
                <a16:creationId xmlns:a16="http://schemas.microsoft.com/office/drawing/2014/main" id="{64B99BF7-D569-1C7B-8808-E2A4F7993829}"/>
              </a:ext>
            </a:extLst>
          </p:cNvPr>
          <p:cNvGrpSpPr/>
          <p:nvPr/>
        </p:nvGrpSpPr>
        <p:grpSpPr>
          <a:xfrm>
            <a:off x="1377973" y="4275223"/>
            <a:ext cx="533192" cy="1031655"/>
            <a:chOff x="5662612" y="2700337"/>
            <a:chExt cx="868108" cy="1459611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D2AD5C3-76AB-6924-A3D2-02FA5DC6275F}"/>
                </a:ext>
              </a:extLst>
            </p:cNvPr>
            <p:cNvSpPr/>
            <p:nvPr/>
          </p:nvSpPr>
          <p:spPr>
            <a:xfrm>
              <a:off x="5662612" y="2700337"/>
              <a:ext cx="868108" cy="1459611"/>
            </a:xfrm>
            <a:custGeom>
              <a:avLst/>
              <a:gdLst>
                <a:gd name="connsiteX0" fmla="*/ 65342 w 868108"/>
                <a:gd name="connsiteY0" fmla="*/ 1459611 h 1459611"/>
                <a:gd name="connsiteX1" fmla="*/ 0 w 868108"/>
                <a:gd name="connsiteY1" fmla="*/ 1377601 h 1459611"/>
                <a:gd name="connsiteX2" fmla="*/ 0 w 868108"/>
                <a:gd name="connsiteY2" fmla="*/ 82010 h 1459611"/>
                <a:gd name="connsiteX3" fmla="*/ 65342 w 868108"/>
                <a:gd name="connsiteY3" fmla="*/ 0 h 1459611"/>
                <a:gd name="connsiteX4" fmla="*/ 802672 w 868108"/>
                <a:gd name="connsiteY4" fmla="*/ 0 h 1459611"/>
                <a:gd name="connsiteX5" fmla="*/ 868109 w 868108"/>
                <a:gd name="connsiteY5" fmla="*/ 82010 h 1459611"/>
                <a:gd name="connsiteX6" fmla="*/ 868109 w 868108"/>
                <a:gd name="connsiteY6" fmla="*/ 1377601 h 1459611"/>
                <a:gd name="connsiteX7" fmla="*/ 802672 w 868108"/>
                <a:gd name="connsiteY7" fmla="*/ 1459611 h 1459611"/>
                <a:gd name="connsiteX8" fmla="*/ 65342 w 868108"/>
                <a:gd name="connsiteY8" fmla="*/ 1459611 h 1459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8108" h="1459611">
                  <a:moveTo>
                    <a:pt x="65342" y="1459611"/>
                  </a:moveTo>
                  <a:cubicBezTo>
                    <a:pt x="29337" y="1459611"/>
                    <a:pt x="0" y="1422845"/>
                    <a:pt x="0" y="1377601"/>
                  </a:cubicBezTo>
                  <a:lnTo>
                    <a:pt x="0" y="82010"/>
                  </a:lnTo>
                  <a:cubicBezTo>
                    <a:pt x="0" y="36767"/>
                    <a:pt x="29337" y="0"/>
                    <a:pt x="65342" y="0"/>
                  </a:cubicBezTo>
                  <a:lnTo>
                    <a:pt x="802672" y="0"/>
                  </a:lnTo>
                  <a:cubicBezTo>
                    <a:pt x="838772" y="0"/>
                    <a:pt x="868109" y="36767"/>
                    <a:pt x="868109" y="82010"/>
                  </a:cubicBezTo>
                  <a:lnTo>
                    <a:pt x="868109" y="1377601"/>
                  </a:lnTo>
                  <a:cubicBezTo>
                    <a:pt x="868109" y="1422845"/>
                    <a:pt x="838772" y="1459611"/>
                    <a:pt x="802672" y="1459611"/>
                  </a:cubicBezTo>
                  <a:lnTo>
                    <a:pt x="65342" y="1459611"/>
                  </a:lnTo>
                  <a:close/>
                </a:path>
              </a:pathLst>
            </a:custGeom>
            <a:solidFill>
              <a:srgbClr val="84848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374EDB1-A0C8-55FD-307D-70D356D5519A}"/>
                </a:ext>
              </a:extLst>
            </p:cNvPr>
            <p:cNvSpPr/>
            <p:nvPr/>
          </p:nvSpPr>
          <p:spPr>
            <a:xfrm>
              <a:off x="5668041" y="2707195"/>
              <a:ext cx="857154" cy="1445990"/>
            </a:xfrm>
            <a:custGeom>
              <a:avLst/>
              <a:gdLst>
                <a:gd name="connsiteX0" fmla="*/ 59912 w 857154"/>
                <a:gd name="connsiteY0" fmla="*/ 1445895 h 1445990"/>
                <a:gd name="connsiteX1" fmla="*/ 0 w 857154"/>
                <a:gd name="connsiteY1" fmla="*/ 1370743 h 1445990"/>
                <a:gd name="connsiteX2" fmla="*/ 0 w 857154"/>
                <a:gd name="connsiteY2" fmla="*/ 75152 h 1445990"/>
                <a:gd name="connsiteX3" fmla="*/ 59912 w 857154"/>
                <a:gd name="connsiteY3" fmla="*/ 0 h 1445990"/>
                <a:gd name="connsiteX4" fmla="*/ 797242 w 857154"/>
                <a:gd name="connsiteY4" fmla="*/ 0 h 1445990"/>
                <a:gd name="connsiteX5" fmla="*/ 857155 w 857154"/>
                <a:gd name="connsiteY5" fmla="*/ 75248 h 1445990"/>
                <a:gd name="connsiteX6" fmla="*/ 857155 w 857154"/>
                <a:gd name="connsiteY6" fmla="*/ 1370838 h 1445990"/>
                <a:gd name="connsiteX7" fmla="*/ 797242 w 857154"/>
                <a:gd name="connsiteY7" fmla="*/ 1445990 h 1445990"/>
                <a:gd name="connsiteX8" fmla="*/ 59912 w 857154"/>
                <a:gd name="connsiteY8" fmla="*/ 1445990 h 1445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7154" h="1445990">
                  <a:moveTo>
                    <a:pt x="59912" y="1445895"/>
                  </a:moveTo>
                  <a:cubicBezTo>
                    <a:pt x="26861" y="1445895"/>
                    <a:pt x="0" y="1412177"/>
                    <a:pt x="0" y="1370743"/>
                  </a:cubicBezTo>
                  <a:lnTo>
                    <a:pt x="0" y="75152"/>
                  </a:lnTo>
                  <a:cubicBezTo>
                    <a:pt x="0" y="33719"/>
                    <a:pt x="26956" y="0"/>
                    <a:pt x="59912" y="0"/>
                  </a:cubicBezTo>
                  <a:lnTo>
                    <a:pt x="797242" y="0"/>
                  </a:lnTo>
                  <a:cubicBezTo>
                    <a:pt x="830294" y="0"/>
                    <a:pt x="857155" y="33719"/>
                    <a:pt x="857155" y="75248"/>
                  </a:cubicBezTo>
                  <a:lnTo>
                    <a:pt x="857155" y="1370838"/>
                  </a:lnTo>
                  <a:cubicBezTo>
                    <a:pt x="857155" y="1412272"/>
                    <a:pt x="830294" y="1445990"/>
                    <a:pt x="797242" y="1445990"/>
                  </a:cubicBezTo>
                  <a:lnTo>
                    <a:pt x="59912" y="1445990"/>
                  </a:lnTo>
                  <a:close/>
                </a:path>
              </a:pathLst>
            </a:custGeom>
            <a:solidFill>
              <a:srgbClr val="E9E9E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1719973-386E-2F13-86C9-343AD69AC658}"/>
                </a:ext>
              </a:extLst>
            </p:cNvPr>
            <p:cNvSpPr/>
            <p:nvPr/>
          </p:nvSpPr>
          <p:spPr>
            <a:xfrm>
              <a:off x="5673470" y="2714053"/>
              <a:ext cx="846391" cy="1432274"/>
            </a:xfrm>
            <a:custGeom>
              <a:avLst/>
              <a:gdLst>
                <a:gd name="connsiteX0" fmla="*/ 846392 w 846391"/>
                <a:gd name="connsiteY0" fmla="*/ 1363885 h 1432274"/>
                <a:gd name="connsiteX1" fmla="*/ 791909 w 846391"/>
                <a:gd name="connsiteY1" fmla="*/ 1432274 h 1432274"/>
                <a:gd name="connsiteX2" fmla="*/ 54483 w 846391"/>
                <a:gd name="connsiteY2" fmla="*/ 1432274 h 1432274"/>
                <a:gd name="connsiteX3" fmla="*/ 0 w 846391"/>
                <a:gd name="connsiteY3" fmla="*/ 1363885 h 1432274"/>
                <a:gd name="connsiteX4" fmla="*/ 0 w 846391"/>
                <a:gd name="connsiteY4" fmla="*/ 68294 h 1432274"/>
                <a:gd name="connsiteX5" fmla="*/ 54483 w 846391"/>
                <a:gd name="connsiteY5" fmla="*/ 0 h 1432274"/>
                <a:gd name="connsiteX6" fmla="*/ 791813 w 846391"/>
                <a:gd name="connsiteY6" fmla="*/ 0 h 1432274"/>
                <a:gd name="connsiteX7" fmla="*/ 846296 w 846391"/>
                <a:gd name="connsiteY7" fmla="*/ 68390 h 1432274"/>
                <a:gd name="connsiteX8" fmla="*/ 846296 w 846391"/>
                <a:gd name="connsiteY8" fmla="*/ 1363980 h 1432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6391" h="1432274">
                  <a:moveTo>
                    <a:pt x="846392" y="1363885"/>
                  </a:moveTo>
                  <a:cubicBezTo>
                    <a:pt x="846392" y="1401509"/>
                    <a:pt x="821817" y="1432274"/>
                    <a:pt x="791909" y="1432274"/>
                  </a:cubicBezTo>
                  <a:lnTo>
                    <a:pt x="54483" y="1432274"/>
                  </a:lnTo>
                  <a:cubicBezTo>
                    <a:pt x="24479" y="1432274"/>
                    <a:pt x="0" y="1401509"/>
                    <a:pt x="0" y="1363885"/>
                  </a:cubicBezTo>
                  <a:lnTo>
                    <a:pt x="0" y="68294"/>
                  </a:lnTo>
                  <a:cubicBezTo>
                    <a:pt x="0" y="30670"/>
                    <a:pt x="24575" y="0"/>
                    <a:pt x="54483" y="0"/>
                  </a:cubicBezTo>
                  <a:lnTo>
                    <a:pt x="791813" y="0"/>
                  </a:lnTo>
                  <a:cubicBezTo>
                    <a:pt x="821817" y="0"/>
                    <a:pt x="846296" y="30766"/>
                    <a:pt x="846296" y="68390"/>
                  </a:cubicBezTo>
                  <a:lnTo>
                    <a:pt x="846296" y="1363980"/>
                  </a:lnTo>
                  <a:close/>
                </a:path>
              </a:pathLst>
            </a:custGeom>
            <a:gradFill>
              <a:gsLst>
                <a:gs pos="0">
                  <a:srgbClr val="020202"/>
                </a:gs>
                <a:gs pos="50000">
                  <a:srgbClr val="0A0A0A"/>
                </a:gs>
                <a:gs pos="100000">
                  <a:srgbClr val="121212"/>
                </a:gs>
              </a:gsLst>
              <a:lin ang="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FFF2AF9-9EFF-CA08-407D-D8F2E26ACB5D}"/>
                </a:ext>
              </a:extLst>
            </p:cNvPr>
            <p:cNvSpPr/>
            <p:nvPr/>
          </p:nvSpPr>
          <p:spPr>
            <a:xfrm>
              <a:off x="5715094" y="2854070"/>
              <a:ext cx="763238" cy="1145381"/>
            </a:xfrm>
            <a:custGeom>
              <a:avLst/>
              <a:gdLst>
                <a:gd name="connsiteX0" fmla="*/ 0 w 763238"/>
                <a:gd name="connsiteY0" fmla="*/ 0 h 1145381"/>
                <a:gd name="connsiteX1" fmla="*/ 763238 w 763238"/>
                <a:gd name="connsiteY1" fmla="*/ 0 h 1145381"/>
                <a:gd name="connsiteX2" fmla="*/ 763238 w 763238"/>
                <a:gd name="connsiteY2" fmla="*/ 1145381 h 1145381"/>
                <a:gd name="connsiteX3" fmla="*/ 0 w 763238"/>
                <a:gd name="connsiteY3" fmla="*/ 1145381 h 1145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3238" h="1145381">
                  <a:moveTo>
                    <a:pt x="0" y="0"/>
                  </a:moveTo>
                  <a:lnTo>
                    <a:pt x="763238" y="0"/>
                  </a:lnTo>
                  <a:lnTo>
                    <a:pt x="763238" y="1145381"/>
                  </a:lnTo>
                  <a:lnTo>
                    <a:pt x="0" y="11453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 dirty="0"/>
            </a:p>
          </p:txBody>
        </p:sp>
        <p:grpSp>
          <p:nvGrpSpPr>
            <p:cNvPr id="51" name="Graphic 2">
              <a:extLst>
                <a:ext uri="{FF2B5EF4-FFF2-40B4-BE49-F238E27FC236}">
                  <a16:creationId xmlns:a16="http://schemas.microsoft.com/office/drawing/2014/main" id="{2BD6E30C-4FD5-2327-99BB-5060B24B84E8}"/>
                </a:ext>
              </a:extLst>
            </p:cNvPr>
            <p:cNvGrpSpPr/>
            <p:nvPr/>
          </p:nvGrpSpPr>
          <p:grpSpPr>
            <a:xfrm>
              <a:off x="6088570" y="2769107"/>
              <a:ext cx="15144" cy="19050"/>
              <a:chOff x="6088570" y="2769107"/>
              <a:chExt cx="15144" cy="19050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61DA900-FCA5-2E87-AF2F-0350A4A7EDDD}"/>
                  </a:ext>
                </a:extLst>
              </p:cNvPr>
              <p:cNvSpPr/>
              <p:nvPr/>
            </p:nvSpPr>
            <p:spPr>
              <a:xfrm>
                <a:off x="6088570" y="2769107"/>
                <a:ext cx="15144" cy="19050"/>
              </a:xfrm>
              <a:custGeom>
                <a:avLst/>
                <a:gdLst>
                  <a:gd name="connsiteX0" fmla="*/ 15145 w 15144"/>
                  <a:gd name="connsiteY0" fmla="*/ 9525 h 19050"/>
                  <a:gd name="connsiteX1" fmla="*/ 7525 w 15144"/>
                  <a:gd name="connsiteY1" fmla="*/ 19050 h 19050"/>
                  <a:gd name="connsiteX2" fmla="*/ 0 w 15144"/>
                  <a:gd name="connsiteY2" fmla="*/ 9525 h 19050"/>
                  <a:gd name="connsiteX3" fmla="*/ 7525 w 15144"/>
                  <a:gd name="connsiteY3" fmla="*/ 0 h 19050"/>
                  <a:gd name="connsiteX4" fmla="*/ 15145 w 15144"/>
                  <a:gd name="connsiteY4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44" h="19050">
                    <a:moveTo>
                      <a:pt x="15145" y="9525"/>
                    </a:moveTo>
                    <a:cubicBezTo>
                      <a:pt x="15145" y="14764"/>
                      <a:pt x="11716" y="19050"/>
                      <a:pt x="7525" y="19050"/>
                    </a:cubicBezTo>
                    <a:cubicBezTo>
                      <a:pt x="3334" y="19050"/>
                      <a:pt x="0" y="14764"/>
                      <a:pt x="0" y="9525"/>
                    </a:cubicBezTo>
                    <a:cubicBezTo>
                      <a:pt x="0" y="4286"/>
                      <a:pt x="3429" y="0"/>
                      <a:pt x="7525" y="0"/>
                    </a:cubicBezTo>
                    <a:cubicBezTo>
                      <a:pt x="11620" y="0"/>
                      <a:pt x="15145" y="4286"/>
                      <a:pt x="15145" y="9525"/>
                    </a:cubicBezTo>
                    <a:close/>
                  </a:path>
                </a:pathLst>
              </a:custGeom>
              <a:solidFill>
                <a:srgbClr val="F7F7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PT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F7BBD295-350B-3773-B224-687DA5C2BD34}"/>
                  </a:ext>
                </a:extLst>
              </p:cNvPr>
              <p:cNvSpPr/>
              <p:nvPr/>
            </p:nvSpPr>
            <p:spPr>
              <a:xfrm>
                <a:off x="6088950" y="2769202"/>
                <a:ext cx="14287" cy="17906"/>
              </a:xfrm>
              <a:custGeom>
                <a:avLst/>
                <a:gdLst>
                  <a:gd name="connsiteX0" fmla="*/ 14288 w 14287"/>
                  <a:gd name="connsiteY0" fmla="*/ 8954 h 17906"/>
                  <a:gd name="connsiteX1" fmla="*/ 7144 w 14287"/>
                  <a:gd name="connsiteY1" fmla="*/ 17907 h 17906"/>
                  <a:gd name="connsiteX2" fmla="*/ 0 w 14287"/>
                  <a:gd name="connsiteY2" fmla="*/ 8954 h 17906"/>
                  <a:gd name="connsiteX3" fmla="*/ 7144 w 14287"/>
                  <a:gd name="connsiteY3" fmla="*/ 0 h 17906"/>
                  <a:gd name="connsiteX4" fmla="*/ 14288 w 14287"/>
                  <a:gd name="connsiteY4" fmla="*/ 8954 h 17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" h="17906">
                    <a:moveTo>
                      <a:pt x="14288" y="8954"/>
                    </a:moveTo>
                    <a:cubicBezTo>
                      <a:pt x="14288" y="13906"/>
                      <a:pt x="11049" y="17907"/>
                      <a:pt x="7144" y="17907"/>
                    </a:cubicBezTo>
                    <a:cubicBezTo>
                      <a:pt x="3239" y="17907"/>
                      <a:pt x="0" y="13906"/>
                      <a:pt x="0" y="8954"/>
                    </a:cubicBezTo>
                    <a:cubicBezTo>
                      <a:pt x="0" y="4001"/>
                      <a:pt x="3239" y="0"/>
                      <a:pt x="7144" y="0"/>
                    </a:cubicBezTo>
                    <a:cubicBezTo>
                      <a:pt x="11049" y="0"/>
                      <a:pt x="14288" y="4001"/>
                      <a:pt x="14288" y="8954"/>
                    </a:cubicBezTo>
                    <a:close/>
                  </a:path>
                </a:pathLst>
              </a:custGeom>
              <a:solidFill>
                <a:srgbClr val="C4C4C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PT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F2AF017-C166-C26F-E4AC-3D46989D752A}"/>
                  </a:ext>
                </a:extLst>
              </p:cNvPr>
              <p:cNvSpPr/>
              <p:nvPr/>
            </p:nvSpPr>
            <p:spPr>
              <a:xfrm>
                <a:off x="6094189" y="2775775"/>
                <a:ext cx="3809" cy="4762"/>
              </a:xfrm>
              <a:custGeom>
                <a:avLst/>
                <a:gdLst>
                  <a:gd name="connsiteX0" fmla="*/ 3810 w 3809"/>
                  <a:gd name="connsiteY0" fmla="*/ 2381 h 4762"/>
                  <a:gd name="connsiteX1" fmla="*/ 1905 w 3809"/>
                  <a:gd name="connsiteY1" fmla="*/ 4763 h 4762"/>
                  <a:gd name="connsiteX2" fmla="*/ 0 w 3809"/>
                  <a:gd name="connsiteY2" fmla="*/ 2381 h 4762"/>
                  <a:gd name="connsiteX3" fmla="*/ 1905 w 3809"/>
                  <a:gd name="connsiteY3" fmla="*/ 0 h 4762"/>
                  <a:gd name="connsiteX4" fmla="*/ 3810 w 3809"/>
                  <a:gd name="connsiteY4" fmla="*/ 2381 h 4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09" h="4762">
                    <a:moveTo>
                      <a:pt x="3810" y="2381"/>
                    </a:moveTo>
                    <a:cubicBezTo>
                      <a:pt x="3810" y="3715"/>
                      <a:pt x="2953" y="4763"/>
                      <a:pt x="1905" y="4763"/>
                    </a:cubicBezTo>
                    <a:cubicBezTo>
                      <a:pt x="857" y="4763"/>
                      <a:pt x="0" y="3715"/>
                      <a:pt x="0" y="2381"/>
                    </a:cubicBezTo>
                    <a:cubicBezTo>
                      <a:pt x="0" y="1048"/>
                      <a:pt x="857" y="0"/>
                      <a:pt x="1905" y="0"/>
                    </a:cubicBezTo>
                    <a:cubicBezTo>
                      <a:pt x="2953" y="0"/>
                      <a:pt x="3810" y="1048"/>
                      <a:pt x="3810" y="2381"/>
                    </a:cubicBezTo>
                    <a:close/>
                  </a:path>
                </a:pathLst>
              </a:custGeom>
              <a:solidFill>
                <a:srgbClr val="B5B5B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PT" dirty="0"/>
              </a:p>
            </p:txBody>
          </p:sp>
        </p:grp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DE63007-7191-8B8E-E43E-2CF0D0B1C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27667" y="3043713"/>
              <a:ext cx="762000" cy="762000"/>
            </a:xfrm>
            <a:custGeom>
              <a:avLst/>
              <a:gdLst>
                <a:gd name="connsiteX0" fmla="*/ -203 w 762000"/>
                <a:gd name="connsiteY0" fmla="*/ -174 h 762000"/>
                <a:gd name="connsiteX1" fmla="*/ 761797 w 762000"/>
                <a:gd name="connsiteY1" fmla="*/ -174 h 762000"/>
                <a:gd name="connsiteX2" fmla="*/ 761797 w 762000"/>
                <a:gd name="connsiteY2" fmla="*/ 761826 h 762000"/>
                <a:gd name="connsiteX3" fmla="*/ -203 w 762000"/>
                <a:gd name="connsiteY3" fmla="*/ 761826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762000">
                  <a:moveTo>
                    <a:pt x="-203" y="-174"/>
                  </a:moveTo>
                  <a:lnTo>
                    <a:pt x="761797" y="-174"/>
                  </a:lnTo>
                  <a:lnTo>
                    <a:pt x="761797" y="761826"/>
                  </a:lnTo>
                  <a:lnTo>
                    <a:pt x="-203" y="761826"/>
                  </a:lnTo>
                  <a:close/>
                </a:path>
              </a:pathLst>
            </a:custGeom>
          </p:spPr>
        </p:pic>
      </p:grpSp>
      <p:pic>
        <p:nvPicPr>
          <p:cNvPr id="60" name="Picture 2" descr="DISA Lab | Gias Uddin">
            <a:extLst>
              <a:ext uri="{FF2B5EF4-FFF2-40B4-BE49-F238E27FC236}">
                <a16:creationId xmlns:a16="http://schemas.microsoft.com/office/drawing/2014/main" id="{C8A83BF7-8E50-5841-618F-1EF60AB6F8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18" b="20165"/>
          <a:stretch/>
        </p:blipFill>
        <p:spPr bwMode="auto">
          <a:xfrm>
            <a:off x="97157" y="4491426"/>
            <a:ext cx="1003233" cy="59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49C7B08-D05C-1B3E-BC17-E21B9B7DF161}"/>
              </a:ext>
            </a:extLst>
          </p:cNvPr>
          <p:cNvCxnSpPr>
            <a:cxnSpLocks/>
          </p:cNvCxnSpPr>
          <p:nvPr/>
        </p:nvCxnSpPr>
        <p:spPr>
          <a:xfrm>
            <a:off x="739621" y="4737599"/>
            <a:ext cx="5551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A1528B98-8B39-C8BB-1865-EF5F826D6FC6}"/>
              </a:ext>
            </a:extLst>
          </p:cNvPr>
          <p:cNvCxnSpPr>
            <a:cxnSpLocks/>
          </p:cNvCxnSpPr>
          <p:nvPr/>
        </p:nvCxnSpPr>
        <p:spPr>
          <a:xfrm flipV="1">
            <a:off x="1890354" y="2865913"/>
            <a:ext cx="992624" cy="762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ight Bracket 40">
            <a:extLst>
              <a:ext uri="{FF2B5EF4-FFF2-40B4-BE49-F238E27FC236}">
                <a16:creationId xmlns:a16="http://schemas.microsoft.com/office/drawing/2014/main" id="{B18E5981-CC1B-E096-AFB9-A380C695908D}"/>
              </a:ext>
            </a:extLst>
          </p:cNvPr>
          <p:cNvSpPr/>
          <p:nvPr/>
        </p:nvSpPr>
        <p:spPr>
          <a:xfrm>
            <a:off x="9321154" y="1768209"/>
            <a:ext cx="137888" cy="3672637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A8F463-A5CB-6BFD-38DE-343786756895}"/>
              </a:ext>
            </a:extLst>
          </p:cNvPr>
          <p:cNvSpPr/>
          <p:nvPr/>
        </p:nvSpPr>
        <p:spPr>
          <a:xfrm>
            <a:off x="1900083" y="76138"/>
            <a:ext cx="8391834" cy="47344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Flow vision and integration of data and systems </a:t>
            </a:r>
            <a:endParaRPr lang="pt-PT" sz="2800" b="1" dirty="0">
              <a:solidFill>
                <a:schemeClr val="tx1"/>
              </a:solidFill>
            </a:endParaRP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F6AB7EF2-B923-3947-12D6-3B03DF590AD3}"/>
              </a:ext>
            </a:extLst>
          </p:cNvPr>
          <p:cNvSpPr/>
          <p:nvPr/>
        </p:nvSpPr>
        <p:spPr>
          <a:xfrm>
            <a:off x="9709345" y="1433133"/>
            <a:ext cx="2112264" cy="276056"/>
          </a:xfrm>
          <a:prstGeom prst="rect">
            <a:avLst/>
          </a:prstGeom>
          <a:solidFill>
            <a:srgbClr val="0074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b="1" dirty="0"/>
              <a:t>DATA TO ACTION</a:t>
            </a:r>
          </a:p>
        </p:txBody>
      </p:sp>
      <p:cxnSp>
        <p:nvCxnSpPr>
          <p:cNvPr id="1028" name="Straight Arrow Connector 1027">
            <a:extLst>
              <a:ext uri="{FF2B5EF4-FFF2-40B4-BE49-F238E27FC236}">
                <a16:creationId xmlns:a16="http://schemas.microsoft.com/office/drawing/2014/main" id="{D1BC3FCB-E965-49B6-97FD-95896F8D203E}"/>
              </a:ext>
            </a:extLst>
          </p:cNvPr>
          <p:cNvCxnSpPr>
            <a:cxnSpLocks/>
          </p:cNvCxnSpPr>
          <p:nvPr/>
        </p:nvCxnSpPr>
        <p:spPr>
          <a:xfrm>
            <a:off x="9490894" y="4323942"/>
            <a:ext cx="5457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F0C577E5-FB6D-E4BC-9842-67225DAE1995}"/>
              </a:ext>
            </a:extLst>
          </p:cNvPr>
          <p:cNvSpPr/>
          <p:nvPr/>
        </p:nvSpPr>
        <p:spPr>
          <a:xfrm>
            <a:off x="9647267" y="2579860"/>
            <a:ext cx="2390246" cy="670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GB" sz="1200" dirty="0"/>
              <a:t>INS Website</a:t>
            </a:r>
            <a:endParaRPr lang="pt-PT" sz="1200" dirty="0"/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Retro information to the community</a:t>
            </a:r>
          </a:p>
        </p:txBody>
      </p:sp>
    </p:spTree>
    <p:extLst>
      <p:ext uri="{BB962C8B-B14F-4D97-AF65-F5344CB8AC3E}">
        <p14:creationId xmlns:p14="http://schemas.microsoft.com/office/powerpoint/2010/main" val="1764302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12C83-F26F-2864-8900-5875F4312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7407B-A55F-F228-5594-7F2813E62627}"/>
              </a:ext>
            </a:extLst>
          </p:cNvPr>
          <p:cNvSpPr txBox="1">
            <a:spLocks/>
          </p:cNvSpPr>
          <p:nvPr/>
        </p:nvSpPr>
        <p:spPr bwMode="auto">
          <a:xfrm>
            <a:off x="468086" y="16177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GB" dirty="0"/>
              <a:t>IDS integrated data analysis plan</a:t>
            </a:r>
            <a:endParaRPr lang="en-GB" sz="1800" dirty="0">
              <a:highlight>
                <a:srgbClr val="FFFF00"/>
              </a:highlight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7F6791C-8570-73C3-7CF5-22F8F9B9EF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4010670"/>
              </p:ext>
            </p:extLst>
          </p:nvPr>
        </p:nvGraphicFramePr>
        <p:xfrm>
          <a:off x="751115" y="1159177"/>
          <a:ext cx="9441546" cy="5394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88762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ata analysis&#10;&#10;Description automatically generated">
            <a:extLst>
              <a:ext uri="{FF2B5EF4-FFF2-40B4-BE49-F238E27FC236}">
                <a16:creationId xmlns:a16="http://schemas.microsoft.com/office/drawing/2014/main" id="{46DDF1FF-2994-7737-ADF5-4513482DD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36" y="110965"/>
            <a:ext cx="10523093" cy="663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39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491F5A-D07E-F48D-BAF2-F0D6E262F846}"/>
              </a:ext>
            </a:extLst>
          </p:cNvPr>
          <p:cNvSpPr txBox="1">
            <a:spLocks/>
          </p:cNvSpPr>
          <p:nvPr/>
        </p:nvSpPr>
        <p:spPr bwMode="auto">
          <a:xfrm>
            <a:off x="718457" y="952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GB" dirty="0"/>
              <a:t>IDS information systems</a:t>
            </a:r>
            <a:endParaRPr lang="en-GB" sz="1800" dirty="0">
              <a:highlight>
                <a:srgbClr val="FFFF00"/>
              </a:highlight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9689BAF-68DF-E31F-9A75-CE53B9B5F717}"/>
              </a:ext>
            </a:extLst>
          </p:cNvPr>
          <p:cNvSpPr/>
          <p:nvPr/>
        </p:nvSpPr>
        <p:spPr>
          <a:xfrm>
            <a:off x="9795819" y="1885436"/>
            <a:ext cx="1474231" cy="7617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E902F2C-92B6-43B9-F111-82028E05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ADC6E50-4E10-DCC6-DE31-8427C1336E48}"/>
              </a:ext>
            </a:extLst>
          </p:cNvPr>
          <p:cNvSpPr/>
          <p:nvPr/>
        </p:nvSpPr>
        <p:spPr>
          <a:xfrm>
            <a:off x="3059312" y="2528325"/>
            <a:ext cx="4512539" cy="2774454"/>
          </a:xfrm>
          <a:custGeom>
            <a:avLst/>
            <a:gdLst>
              <a:gd name="connsiteX0" fmla="*/ 2537651 w 5099050"/>
              <a:gd name="connsiteY0" fmla="*/ 0 h 2676698"/>
              <a:gd name="connsiteX1" fmla="*/ 3303225 w 5099050"/>
              <a:gd name="connsiteY1" fmla="*/ 623961 h 2676698"/>
              <a:gd name="connsiteX2" fmla="*/ 3305055 w 5099050"/>
              <a:gd name="connsiteY2" fmla="*/ 642114 h 2676698"/>
              <a:gd name="connsiteX3" fmla="*/ 3319370 w 5099050"/>
              <a:gd name="connsiteY3" fmla="*/ 624395 h 2676698"/>
              <a:gd name="connsiteX4" fmla="*/ 3649143 w 5099050"/>
              <a:gd name="connsiteY4" fmla="*/ 484905 h 2676698"/>
              <a:gd name="connsiteX5" fmla="*/ 4106037 w 5099050"/>
              <a:gd name="connsiteY5" fmla="*/ 865174 h 2676698"/>
              <a:gd name="connsiteX6" fmla="*/ 4114109 w 5099050"/>
              <a:gd name="connsiteY6" fmla="*/ 946938 h 2676698"/>
              <a:gd name="connsiteX7" fmla="*/ 4132216 w 5099050"/>
              <a:gd name="connsiteY7" fmla="*/ 941199 h 2676698"/>
              <a:gd name="connsiteX8" fmla="*/ 4226205 w 5099050"/>
              <a:gd name="connsiteY8" fmla="*/ 931523 h 2676698"/>
              <a:gd name="connsiteX9" fmla="*/ 4655924 w 5099050"/>
              <a:gd name="connsiteY9" fmla="*/ 1222395 h 2676698"/>
              <a:gd name="connsiteX10" fmla="*/ 4679257 w 5099050"/>
              <a:gd name="connsiteY10" fmla="*/ 1299153 h 2676698"/>
              <a:gd name="connsiteX11" fmla="*/ 4726670 w 5099050"/>
              <a:gd name="connsiteY11" fmla="*/ 1304034 h 2676698"/>
              <a:gd name="connsiteX12" fmla="*/ 5099050 w 5099050"/>
              <a:gd name="connsiteY12" fmla="*/ 1770608 h 2676698"/>
              <a:gd name="connsiteX13" fmla="*/ 4632681 w 5099050"/>
              <a:gd name="connsiteY13" fmla="*/ 2246858 h 2676698"/>
              <a:gd name="connsiteX14" fmla="*/ 4302909 w 5099050"/>
              <a:gd name="connsiteY14" fmla="*/ 2107368 h 2676698"/>
              <a:gd name="connsiteX15" fmla="*/ 4279257 w 5099050"/>
              <a:gd name="connsiteY15" fmla="*/ 2078094 h 2676698"/>
              <a:gd name="connsiteX16" fmla="*/ 4272885 w 5099050"/>
              <a:gd name="connsiteY16" fmla="*/ 2141299 h 2676698"/>
              <a:gd name="connsiteX17" fmla="*/ 3767631 w 5099050"/>
              <a:gd name="connsiteY17" fmla="*/ 2553093 h 2676698"/>
              <a:gd name="connsiteX18" fmla="*/ 3339978 w 5099050"/>
              <a:gd name="connsiteY18" fmla="*/ 2325712 h 2676698"/>
              <a:gd name="connsiteX19" fmla="*/ 3338416 w 5099050"/>
              <a:gd name="connsiteY19" fmla="*/ 2322834 h 2676698"/>
              <a:gd name="connsiteX20" fmla="*/ 3329373 w 5099050"/>
              <a:gd name="connsiteY20" fmla="*/ 2351963 h 2676698"/>
              <a:gd name="connsiteX21" fmla="*/ 2854170 w 5099050"/>
              <a:gd name="connsiteY21" fmla="*/ 2666949 h 2676698"/>
              <a:gd name="connsiteX22" fmla="*/ 2489493 w 5099050"/>
              <a:gd name="connsiteY22" fmla="*/ 2515895 h 2676698"/>
              <a:gd name="connsiteX23" fmla="*/ 2489073 w 5099050"/>
              <a:gd name="connsiteY23" fmla="*/ 2515386 h 2676698"/>
              <a:gd name="connsiteX24" fmla="*/ 2480610 w 5099050"/>
              <a:gd name="connsiteY24" fmla="*/ 2525644 h 2676698"/>
              <a:gd name="connsiteX25" fmla="*/ 2115932 w 5099050"/>
              <a:gd name="connsiteY25" fmla="*/ 2676698 h 2676698"/>
              <a:gd name="connsiteX26" fmla="*/ 1640729 w 5099050"/>
              <a:gd name="connsiteY26" fmla="*/ 2361712 h 2676698"/>
              <a:gd name="connsiteX27" fmla="*/ 1636381 w 5099050"/>
              <a:gd name="connsiteY27" fmla="*/ 2347705 h 2676698"/>
              <a:gd name="connsiteX28" fmla="*/ 1613110 w 5099050"/>
              <a:gd name="connsiteY28" fmla="*/ 2375909 h 2676698"/>
              <a:gd name="connsiteX29" fmla="*/ 1276350 w 5099050"/>
              <a:gd name="connsiteY29" fmla="*/ 2515399 h 2676698"/>
              <a:gd name="connsiteX30" fmla="*/ 809776 w 5099050"/>
              <a:gd name="connsiteY30" fmla="*/ 2135130 h 2676698"/>
              <a:gd name="connsiteX31" fmla="*/ 807410 w 5099050"/>
              <a:gd name="connsiteY31" fmla="*/ 2111661 h 2676698"/>
              <a:gd name="connsiteX32" fmla="*/ 796469 w 5099050"/>
              <a:gd name="connsiteY32" fmla="*/ 2123136 h 2676698"/>
              <a:gd name="connsiteX33" fmla="*/ 476250 w 5099050"/>
              <a:gd name="connsiteY33" fmla="*/ 2246857 h 2676698"/>
              <a:gd name="connsiteX34" fmla="*/ 0 w 5099050"/>
              <a:gd name="connsiteY34" fmla="*/ 1770607 h 2676698"/>
              <a:gd name="connsiteX35" fmla="*/ 290872 w 5099050"/>
              <a:gd name="connsiteY35" fmla="*/ 1331783 h 2676698"/>
              <a:gd name="connsiteX36" fmla="*/ 344632 w 5099050"/>
              <a:gd name="connsiteY36" fmla="*/ 1315095 h 2676698"/>
              <a:gd name="connsiteX37" fmla="*/ 361276 w 5099050"/>
              <a:gd name="connsiteY37" fmla="*/ 1261477 h 2676698"/>
              <a:gd name="connsiteX38" fmla="*/ 800100 w 5099050"/>
              <a:gd name="connsiteY38" fmla="*/ 970605 h 2676698"/>
              <a:gd name="connsiteX39" fmla="*/ 885694 w 5099050"/>
              <a:gd name="connsiteY39" fmla="*/ 979234 h 2676698"/>
              <a:gd name="connsiteX40" fmla="*/ 888027 w 5099050"/>
              <a:gd name="connsiteY40" fmla="*/ 956088 h 2676698"/>
              <a:gd name="connsiteX41" fmla="*/ 1453590 w 5099050"/>
              <a:gd name="connsiteY41" fmla="*/ 495141 h 2676698"/>
              <a:gd name="connsiteX42" fmla="*/ 1776359 w 5099050"/>
              <a:gd name="connsiteY42" fmla="*/ 593733 h 2676698"/>
              <a:gd name="connsiteX43" fmla="*/ 1780420 w 5099050"/>
              <a:gd name="connsiteY43" fmla="*/ 597084 h 2676698"/>
              <a:gd name="connsiteX44" fmla="*/ 1817611 w 5099050"/>
              <a:gd name="connsiteY44" fmla="*/ 477274 h 2676698"/>
              <a:gd name="connsiteX45" fmla="*/ 2537651 w 5099050"/>
              <a:gd name="connsiteY45" fmla="*/ 0 h 2676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099050" h="2676698">
                <a:moveTo>
                  <a:pt x="2537651" y="0"/>
                </a:moveTo>
                <a:cubicBezTo>
                  <a:pt x="2915286" y="0"/>
                  <a:pt x="3230357" y="267867"/>
                  <a:pt x="3303225" y="623961"/>
                </a:cubicBezTo>
                <a:lnTo>
                  <a:pt x="3305055" y="642114"/>
                </a:lnTo>
                <a:lnTo>
                  <a:pt x="3319370" y="624395"/>
                </a:lnTo>
                <a:cubicBezTo>
                  <a:pt x="3403767" y="538211"/>
                  <a:pt x="3520359" y="484905"/>
                  <a:pt x="3649143" y="484905"/>
                </a:cubicBezTo>
                <a:cubicBezTo>
                  <a:pt x="3874515" y="484905"/>
                  <a:pt x="4062550" y="648155"/>
                  <a:pt x="4106037" y="865174"/>
                </a:cubicBezTo>
                <a:lnTo>
                  <a:pt x="4114109" y="946938"/>
                </a:lnTo>
                <a:lnTo>
                  <a:pt x="4132216" y="941199"/>
                </a:lnTo>
                <a:cubicBezTo>
                  <a:pt x="4162575" y="934855"/>
                  <a:pt x="4194009" y="931523"/>
                  <a:pt x="4226205" y="931523"/>
                </a:cubicBezTo>
                <a:cubicBezTo>
                  <a:pt x="4419381" y="931523"/>
                  <a:pt x="4585126" y="1051461"/>
                  <a:pt x="4655924" y="1222395"/>
                </a:cubicBezTo>
                <a:lnTo>
                  <a:pt x="4679257" y="1299153"/>
                </a:lnTo>
                <a:lnTo>
                  <a:pt x="4726670" y="1304034"/>
                </a:lnTo>
                <a:cubicBezTo>
                  <a:pt x="4939187" y="1348442"/>
                  <a:pt x="5099050" y="1540460"/>
                  <a:pt x="5099050" y="1770608"/>
                </a:cubicBezTo>
                <a:cubicBezTo>
                  <a:pt x="5099050" y="2033634"/>
                  <a:pt x="4890249" y="2246858"/>
                  <a:pt x="4632681" y="2246858"/>
                </a:cubicBezTo>
                <a:cubicBezTo>
                  <a:pt x="4503897" y="2246858"/>
                  <a:pt x="4387305" y="2193552"/>
                  <a:pt x="4302909" y="2107368"/>
                </a:cubicBezTo>
                <a:lnTo>
                  <a:pt x="4279257" y="2078094"/>
                </a:lnTo>
                <a:lnTo>
                  <a:pt x="4272885" y="2141299"/>
                </a:lnTo>
                <a:cubicBezTo>
                  <a:pt x="4224795" y="2376310"/>
                  <a:pt x="4016858" y="2553093"/>
                  <a:pt x="3767631" y="2553093"/>
                </a:cubicBezTo>
                <a:cubicBezTo>
                  <a:pt x="3589612" y="2553093"/>
                  <a:pt x="3432659" y="2462898"/>
                  <a:pt x="3339978" y="2325712"/>
                </a:cubicBezTo>
                <a:lnTo>
                  <a:pt x="3338416" y="2322834"/>
                </a:lnTo>
                <a:lnTo>
                  <a:pt x="3329373" y="2351963"/>
                </a:lnTo>
                <a:cubicBezTo>
                  <a:pt x="3251081" y="2537067"/>
                  <a:pt x="3067793" y="2666949"/>
                  <a:pt x="2854170" y="2666949"/>
                </a:cubicBezTo>
                <a:cubicBezTo>
                  <a:pt x="2711755" y="2666949"/>
                  <a:pt x="2582822" y="2609224"/>
                  <a:pt x="2489493" y="2515895"/>
                </a:cubicBezTo>
                <a:lnTo>
                  <a:pt x="2489073" y="2515386"/>
                </a:lnTo>
                <a:lnTo>
                  <a:pt x="2480610" y="2525644"/>
                </a:lnTo>
                <a:cubicBezTo>
                  <a:pt x="2387281" y="2618973"/>
                  <a:pt x="2258348" y="2676698"/>
                  <a:pt x="2115932" y="2676698"/>
                </a:cubicBezTo>
                <a:cubicBezTo>
                  <a:pt x="1902309" y="2676698"/>
                  <a:pt x="1719021" y="2546816"/>
                  <a:pt x="1640729" y="2361712"/>
                </a:cubicBezTo>
                <a:lnTo>
                  <a:pt x="1636381" y="2347705"/>
                </a:lnTo>
                <a:lnTo>
                  <a:pt x="1613110" y="2375909"/>
                </a:lnTo>
                <a:cubicBezTo>
                  <a:pt x="1526926" y="2462093"/>
                  <a:pt x="1407863" y="2515399"/>
                  <a:pt x="1276350" y="2515399"/>
                </a:cubicBezTo>
                <a:cubicBezTo>
                  <a:pt x="1046203" y="2515399"/>
                  <a:pt x="854184" y="2352150"/>
                  <a:pt x="809776" y="2135130"/>
                </a:cubicBezTo>
                <a:lnTo>
                  <a:pt x="807410" y="2111661"/>
                </a:lnTo>
                <a:lnTo>
                  <a:pt x="796469" y="2123136"/>
                </a:lnTo>
                <a:cubicBezTo>
                  <a:pt x="711893" y="2200006"/>
                  <a:pt x="599543" y="2246857"/>
                  <a:pt x="476250" y="2246857"/>
                </a:cubicBezTo>
                <a:cubicBezTo>
                  <a:pt x="213224" y="2246857"/>
                  <a:pt x="0" y="2033633"/>
                  <a:pt x="0" y="1770607"/>
                </a:cubicBezTo>
                <a:cubicBezTo>
                  <a:pt x="0" y="1573338"/>
                  <a:pt x="119938" y="1404082"/>
                  <a:pt x="290872" y="1331783"/>
                </a:cubicBezTo>
                <a:lnTo>
                  <a:pt x="344632" y="1315095"/>
                </a:lnTo>
                <a:lnTo>
                  <a:pt x="361276" y="1261477"/>
                </a:lnTo>
                <a:cubicBezTo>
                  <a:pt x="433574" y="1090544"/>
                  <a:pt x="602830" y="970605"/>
                  <a:pt x="800100" y="970605"/>
                </a:cubicBezTo>
                <a:lnTo>
                  <a:pt x="885694" y="979234"/>
                </a:lnTo>
                <a:lnTo>
                  <a:pt x="888027" y="956088"/>
                </a:lnTo>
                <a:cubicBezTo>
                  <a:pt x="941858" y="693026"/>
                  <a:pt x="1174614" y="495141"/>
                  <a:pt x="1453590" y="495141"/>
                </a:cubicBezTo>
                <a:cubicBezTo>
                  <a:pt x="1573151" y="495141"/>
                  <a:pt x="1684222" y="531487"/>
                  <a:pt x="1776359" y="593733"/>
                </a:cubicBezTo>
                <a:lnTo>
                  <a:pt x="1780420" y="597084"/>
                </a:lnTo>
                <a:lnTo>
                  <a:pt x="1817611" y="477274"/>
                </a:lnTo>
                <a:cubicBezTo>
                  <a:pt x="1936242" y="196800"/>
                  <a:pt x="2213964" y="0"/>
                  <a:pt x="2537651" y="0"/>
                </a:cubicBezTo>
                <a:close/>
              </a:path>
            </a:pathLst>
          </a:custGeom>
          <a:solidFill>
            <a:srgbClr val="0087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8F9B9C-FA22-F37D-BA49-D2DB276613F8}"/>
              </a:ext>
            </a:extLst>
          </p:cNvPr>
          <p:cNvGrpSpPr/>
          <p:nvPr/>
        </p:nvGrpSpPr>
        <p:grpSpPr>
          <a:xfrm>
            <a:off x="678183" y="2296148"/>
            <a:ext cx="1302449" cy="1094306"/>
            <a:chOff x="2949307" y="3268087"/>
            <a:chExt cx="622352" cy="789206"/>
          </a:xfrm>
        </p:grpSpPr>
        <p:pic>
          <p:nvPicPr>
            <p:cNvPr id="21" name="Graphic 20" descr="Tablet with solid fill">
              <a:extLst>
                <a:ext uri="{FF2B5EF4-FFF2-40B4-BE49-F238E27FC236}">
                  <a16:creationId xmlns:a16="http://schemas.microsoft.com/office/drawing/2014/main" id="{62241AAE-D6E2-A519-377E-A00BA9945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49307" y="3268087"/>
              <a:ext cx="616428" cy="639586"/>
            </a:xfrm>
            <a:prstGeom prst="rect">
              <a:avLst/>
            </a:prstGeom>
          </p:spPr>
        </p:pic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BAB4DE3-CBB7-03E2-3250-5C02F56E3149}"/>
                </a:ext>
              </a:extLst>
            </p:cNvPr>
            <p:cNvSpPr/>
            <p:nvPr/>
          </p:nvSpPr>
          <p:spPr>
            <a:xfrm rot="1414499">
              <a:off x="3263929" y="3716791"/>
              <a:ext cx="307730" cy="340502"/>
            </a:xfrm>
            <a:custGeom>
              <a:avLst/>
              <a:gdLst>
                <a:gd name="connsiteX0" fmla="*/ 568600 w 586697"/>
                <a:gd name="connsiteY0" fmla="*/ 507255 h 649177"/>
                <a:gd name="connsiteX1" fmla="*/ 557170 w 586697"/>
                <a:gd name="connsiteY1" fmla="*/ 313897 h 649177"/>
                <a:gd name="connsiteX2" fmla="*/ 493353 w 586697"/>
                <a:gd name="connsiteY2" fmla="*/ 172927 h 649177"/>
                <a:gd name="connsiteX3" fmla="*/ 424773 w 586697"/>
                <a:gd name="connsiteY3" fmla="*/ 147210 h 649177"/>
                <a:gd name="connsiteX4" fmla="*/ 399055 w 586697"/>
                <a:gd name="connsiteY4" fmla="*/ 171975 h 649177"/>
                <a:gd name="connsiteX5" fmla="*/ 397150 w 586697"/>
                <a:gd name="connsiteY5" fmla="*/ 171975 h 649177"/>
                <a:gd name="connsiteX6" fmla="*/ 389530 w 586697"/>
                <a:gd name="connsiteY6" fmla="*/ 159592 h 649177"/>
                <a:gd name="connsiteX7" fmla="*/ 350478 w 586697"/>
                <a:gd name="connsiteY7" fmla="*/ 139590 h 649177"/>
                <a:gd name="connsiteX8" fmla="*/ 300948 w 586697"/>
                <a:gd name="connsiteY8" fmla="*/ 171022 h 649177"/>
                <a:gd name="connsiteX9" fmla="*/ 299043 w 586697"/>
                <a:gd name="connsiteY9" fmla="*/ 171022 h 649177"/>
                <a:gd name="connsiteX10" fmla="*/ 227605 w 586697"/>
                <a:gd name="connsiteY10" fmla="*/ 162450 h 649177"/>
                <a:gd name="connsiteX11" fmla="*/ 210460 w 586697"/>
                <a:gd name="connsiteY11" fmla="*/ 210075 h 649177"/>
                <a:gd name="connsiteX12" fmla="*/ 209508 w 586697"/>
                <a:gd name="connsiteY12" fmla="*/ 210075 h 649177"/>
                <a:gd name="connsiteX13" fmla="*/ 127593 w 586697"/>
                <a:gd name="connsiteY13" fmla="*/ 27195 h 649177"/>
                <a:gd name="connsiteX14" fmla="*/ 70443 w 586697"/>
                <a:gd name="connsiteY14" fmla="*/ 3382 h 649177"/>
                <a:gd name="connsiteX15" fmla="*/ 46630 w 586697"/>
                <a:gd name="connsiteY15" fmla="*/ 60532 h 649177"/>
                <a:gd name="connsiteX16" fmla="*/ 47583 w 586697"/>
                <a:gd name="connsiteY16" fmla="*/ 62437 h 649177"/>
                <a:gd name="connsiteX17" fmla="*/ 212365 w 586697"/>
                <a:gd name="connsiteY17" fmla="*/ 431055 h 649177"/>
                <a:gd name="connsiteX18" fmla="*/ 186648 w 586697"/>
                <a:gd name="connsiteY18" fmla="*/ 436770 h 649177"/>
                <a:gd name="connsiteX19" fmla="*/ 70443 w 586697"/>
                <a:gd name="connsiteY19" fmla="*/ 356760 h 649177"/>
                <a:gd name="connsiteX20" fmla="*/ 10435 w 586697"/>
                <a:gd name="connsiteY20" fmla="*/ 363427 h 649177"/>
                <a:gd name="connsiteX21" fmla="*/ 19008 w 586697"/>
                <a:gd name="connsiteY21" fmla="*/ 428197 h 649177"/>
                <a:gd name="connsiteX22" fmla="*/ 199983 w 586697"/>
                <a:gd name="connsiteY22" fmla="*/ 552022 h 649177"/>
                <a:gd name="connsiteX23" fmla="*/ 215223 w 586697"/>
                <a:gd name="connsiteY23" fmla="*/ 558690 h 649177"/>
                <a:gd name="connsiteX24" fmla="*/ 328570 w 586697"/>
                <a:gd name="connsiteY24" fmla="*/ 585360 h 649177"/>
                <a:gd name="connsiteX25" fmla="*/ 332380 w 586697"/>
                <a:gd name="connsiteY25" fmla="*/ 590122 h 649177"/>
                <a:gd name="connsiteX26" fmla="*/ 359050 w 586697"/>
                <a:gd name="connsiteY26" fmla="*/ 649177 h 649177"/>
                <a:gd name="connsiteX27" fmla="*/ 586698 w 586697"/>
                <a:gd name="connsiteY27" fmla="*/ 546307 h 649177"/>
                <a:gd name="connsiteX28" fmla="*/ 568600 w 586697"/>
                <a:gd name="connsiteY28" fmla="*/ 507255 h 649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6697" h="649177">
                  <a:moveTo>
                    <a:pt x="568600" y="507255"/>
                  </a:moveTo>
                  <a:cubicBezTo>
                    <a:pt x="543835" y="452010"/>
                    <a:pt x="604795" y="418672"/>
                    <a:pt x="557170" y="313897"/>
                  </a:cubicBezTo>
                  <a:cubicBezTo>
                    <a:pt x="545740" y="289132"/>
                    <a:pt x="508593" y="206265"/>
                    <a:pt x="493353" y="172927"/>
                  </a:cubicBezTo>
                  <a:cubicBezTo>
                    <a:pt x="481923" y="147210"/>
                    <a:pt x="451443" y="134827"/>
                    <a:pt x="424773" y="147210"/>
                  </a:cubicBezTo>
                  <a:cubicBezTo>
                    <a:pt x="413343" y="151972"/>
                    <a:pt x="404770" y="160545"/>
                    <a:pt x="399055" y="171975"/>
                  </a:cubicBezTo>
                  <a:cubicBezTo>
                    <a:pt x="399055" y="172927"/>
                    <a:pt x="398103" y="172927"/>
                    <a:pt x="397150" y="171975"/>
                  </a:cubicBezTo>
                  <a:cubicBezTo>
                    <a:pt x="395245" y="167212"/>
                    <a:pt x="393340" y="163402"/>
                    <a:pt x="389530" y="159592"/>
                  </a:cubicBezTo>
                  <a:cubicBezTo>
                    <a:pt x="380005" y="147210"/>
                    <a:pt x="365718" y="139590"/>
                    <a:pt x="350478" y="139590"/>
                  </a:cubicBezTo>
                  <a:cubicBezTo>
                    <a:pt x="328570" y="138637"/>
                    <a:pt x="309520" y="151972"/>
                    <a:pt x="300948" y="171022"/>
                  </a:cubicBezTo>
                  <a:cubicBezTo>
                    <a:pt x="300948" y="171975"/>
                    <a:pt x="299995" y="171975"/>
                    <a:pt x="299043" y="171022"/>
                  </a:cubicBezTo>
                  <a:cubicBezTo>
                    <a:pt x="281898" y="149115"/>
                    <a:pt x="250465" y="145305"/>
                    <a:pt x="227605" y="162450"/>
                  </a:cubicBezTo>
                  <a:cubicBezTo>
                    <a:pt x="214270" y="171975"/>
                    <a:pt x="206650" y="191025"/>
                    <a:pt x="210460" y="210075"/>
                  </a:cubicBezTo>
                  <a:cubicBezTo>
                    <a:pt x="210460" y="211027"/>
                    <a:pt x="209508" y="211027"/>
                    <a:pt x="209508" y="210075"/>
                  </a:cubicBezTo>
                  <a:lnTo>
                    <a:pt x="127593" y="27195"/>
                  </a:lnTo>
                  <a:cubicBezTo>
                    <a:pt x="118068" y="5287"/>
                    <a:pt x="92350" y="-6143"/>
                    <a:pt x="70443" y="3382"/>
                  </a:cubicBezTo>
                  <a:cubicBezTo>
                    <a:pt x="48535" y="12907"/>
                    <a:pt x="37105" y="38625"/>
                    <a:pt x="46630" y="60532"/>
                  </a:cubicBezTo>
                  <a:cubicBezTo>
                    <a:pt x="46630" y="61485"/>
                    <a:pt x="47583" y="61485"/>
                    <a:pt x="47583" y="62437"/>
                  </a:cubicBezTo>
                  <a:lnTo>
                    <a:pt x="212365" y="431055"/>
                  </a:lnTo>
                  <a:lnTo>
                    <a:pt x="186648" y="436770"/>
                  </a:lnTo>
                  <a:lnTo>
                    <a:pt x="70443" y="356760"/>
                  </a:lnTo>
                  <a:cubicBezTo>
                    <a:pt x="51393" y="343425"/>
                    <a:pt x="24723" y="346282"/>
                    <a:pt x="10435" y="363427"/>
                  </a:cubicBezTo>
                  <a:cubicBezTo>
                    <a:pt x="-6710" y="383430"/>
                    <a:pt x="-1947" y="413910"/>
                    <a:pt x="19008" y="428197"/>
                  </a:cubicBezTo>
                  <a:lnTo>
                    <a:pt x="199983" y="552022"/>
                  </a:lnTo>
                  <a:cubicBezTo>
                    <a:pt x="204745" y="554880"/>
                    <a:pt x="209508" y="557737"/>
                    <a:pt x="215223" y="558690"/>
                  </a:cubicBezTo>
                  <a:lnTo>
                    <a:pt x="328570" y="585360"/>
                  </a:lnTo>
                  <a:lnTo>
                    <a:pt x="332380" y="590122"/>
                  </a:lnTo>
                  <a:lnTo>
                    <a:pt x="359050" y="649177"/>
                  </a:lnTo>
                  <a:lnTo>
                    <a:pt x="586698" y="546307"/>
                  </a:lnTo>
                  <a:lnTo>
                    <a:pt x="568600" y="507255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65BD836-79FF-E4A6-6860-A789335524E8}"/>
              </a:ext>
            </a:extLst>
          </p:cNvPr>
          <p:cNvGrpSpPr/>
          <p:nvPr/>
        </p:nvGrpSpPr>
        <p:grpSpPr>
          <a:xfrm>
            <a:off x="3503879" y="3153419"/>
            <a:ext cx="1669245" cy="1546752"/>
            <a:chOff x="6096000" y="3775369"/>
            <a:chExt cx="1781400" cy="2062432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B8CC2E0-BFEE-B0F1-025D-6F391F7EF7CC}"/>
                </a:ext>
              </a:extLst>
            </p:cNvPr>
            <p:cNvSpPr/>
            <p:nvPr/>
          </p:nvSpPr>
          <p:spPr>
            <a:xfrm>
              <a:off x="6238258" y="4154683"/>
              <a:ext cx="1573283" cy="101568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Graphic 2" descr="Television with solid fill">
              <a:extLst>
                <a:ext uri="{FF2B5EF4-FFF2-40B4-BE49-F238E27FC236}">
                  <a16:creationId xmlns:a16="http://schemas.microsoft.com/office/drawing/2014/main" id="{99642597-3E99-C22A-7B1F-062759A96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96000" y="3775369"/>
              <a:ext cx="1781400" cy="2062432"/>
            </a:xfrm>
            <a:prstGeom prst="rect">
              <a:avLst/>
            </a:prstGeom>
          </p:spPr>
        </p:pic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D12BD91-3D56-34CB-D2B3-A3E0A596A0BD}"/>
              </a:ext>
            </a:extLst>
          </p:cNvPr>
          <p:cNvSpPr/>
          <p:nvPr/>
        </p:nvSpPr>
        <p:spPr>
          <a:xfrm>
            <a:off x="3612737" y="3431207"/>
            <a:ext cx="1474231" cy="7617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BF2822D-EC2C-7A56-1BEC-D3A11318FF88}"/>
              </a:ext>
            </a:extLst>
          </p:cNvPr>
          <p:cNvGrpSpPr/>
          <p:nvPr/>
        </p:nvGrpSpPr>
        <p:grpSpPr>
          <a:xfrm>
            <a:off x="5199365" y="3149443"/>
            <a:ext cx="1669245" cy="1546752"/>
            <a:chOff x="10311795" y="3880355"/>
            <a:chExt cx="1669245" cy="1546752"/>
          </a:xfrm>
        </p:grpSpPr>
        <p:pic>
          <p:nvPicPr>
            <p:cNvPr id="50" name="Graphic 49" descr="Television with solid fill">
              <a:extLst>
                <a:ext uri="{FF2B5EF4-FFF2-40B4-BE49-F238E27FC236}">
                  <a16:creationId xmlns:a16="http://schemas.microsoft.com/office/drawing/2014/main" id="{46A39E84-8B0C-5002-D488-E2F8FFA3D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311795" y="3880355"/>
              <a:ext cx="1669245" cy="1546752"/>
            </a:xfrm>
            <a:prstGeom prst="rect">
              <a:avLst/>
            </a:prstGeom>
          </p:spPr>
        </p:pic>
        <p:grpSp>
          <p:nvGrpSpPr>
            <p:cNvPr id="52" name="Graphic 299" descr="Bar chart with solid fill">
              <a:extLst>
                <a:ext uri="{FF2B5EF4-FFF2-40B4-BE49-F238E27FC236}">
                  <a16:creationId xmlns:a16="http://schemas.microsoft.com/office/drawing/2014/main" id="{987E4F1F-44B4-7CF0-116A-F46C4CC9405E}"/>
                </a:ext>
              </a:extLst>
            </p:cNvPr>
            <p:cNvGrpSpPr/>
            <p:nvPr/>
          </p:nvGrpSpPr>
          <p:grpSpPr>
            <a:xfrm>
              <a:off x="10762884" y="4261391"/>
              <a:ext cx="747477" cy="598247"/>
              <a:chOff x="7932105" y="2398826"/>
              <a:chExt cx="647700" cy="647700"/>
            </a:xfrm>
            <a:solidFill>
              <a:srgbClr val="000000"/>
            </a:solidFill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1242B5B1-0914-C43A-83AE-2ADE8F0E9C2B}"/>
                  </a:ext>
                </a:extLst>
              </p:cNvPr>
              <p:cNvSpPr/>
              <p:nvPr/>
            </p:nvSpPr>
            <p:spPr>
              <a:xfrm>
                <a:off x="7932105" y="2398826"/>
                <a:ext cx="647700" cy="647700"/>
              </a:xfrm>
              <a:custGeom>
                <a:avLst/>
                <a:gdLst>
                  <a:gd name="connsiteX0" fmla="*/ 590550 w 647700"/>
                  <a:gd name="connsiteY0" fmla="*/ 0 h 647700"/>
                  <a:gd name="connsiteX1" fmla="*/ 647700 w 647700"/>
                  <a:gd name="connsiteY1" fmla="*/ 0 h 647700"/>
                  <a:gd name="connsiteX2" fmla="*/ 647700 w 647700"/>
                  <a:gd name="connsiteY2" fmla="*/ 647700 h 647700"/>
                  <a:gd name="connsiteX3" fmla="*/ 0 w 647700"/>
                  <a:gd name="connsiteY3" fmla="*/ 647700 h 647700"/>
                  <a:gd name="connsiteX4" fmla="*/ 0 w 647700"/>
                  <a:gd name="connsiteY4" fmla="*/ 590550 h 647700"/>
                  <a:gd name="connsiteX5" fmla="*/ 5905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90550" y="0"/>
                    </a:moveTo>
                    <a:lnTo>
                      <a:pt x="647700" y="0"/>
                    </a:lnTo>
                    <a:lnTo>
                      <a:pt x="647700" y="647700"/>
                    </a:lnTo>
                    <a:lnTo>
                      <a:pt x="0" y="647700"/>
                    </a:lnTo>
                    <a:lnTo>
                      <a:pt x="0" y="590550"/>
                    </a:lnTo>
                    <a:lnTo>
                      <a:pt x="590550" y="59055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FBEF2554-EF5B-223F-D705-4CAD2BAC83DF}"/>
                  </a:ext>
                </a:extLst>
              </p:cNvPr>
              <p:cNvSpPr/>
              <p:nvPr/>
            </p:nvSpPr>
            <p:spPr>
              <a:xfrm>
                <a:off x="8360730" y="2598851"/>
                <a:ext cx="104775" cy="333375"/>
              </a:xfrm>
              <a:custGeom>
                <a:avLst/>
                <a:gdLst>
                  <a:gd name="connsiteX0" fmla="*/ 0 w 104775"/>
                  <a:gd name="connsiteY0" fmla="*/ 0 h 333375"/>
                  <a:gd name="connsiteX1" fmla="*/ 104775 w 104775"/>
                  <a:gd name="connsiteY1" fmla="*/ 0 h 333375"/>
                  <a:gd name="connsiteX2" fmla="*/ 104775 w 104775"/>
                  <a:gd name="connsiteY2" fmla="*/ 333375 h 333375"/>
                  <a:gd name="connsiteX3" fmla="*/ 0 w 104775"/>
                  <a:gd name="connsiteY3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333375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DCD8B76B-F61D-68D1-B958-05EDC5A1183A}"/>
                  </a:ext>
                </a:extLst>
              </p:cNvPr>
              <p:cNvSpPr/>
              <p:nvPr/>
            </p:nvSpPr>
            <p:spPr>
              <a:xfrm>
                <a:off x="8217855" y="2398826"/>
                <a:ext cx="104775" cy="533400"/>
              </a:xfrm>
              <a:custGeom>
                <a:avLst/>
                <a:gdLst>
                  <a:gd name="connsiteX0" fmla="*/ 0 w 104775"/>
                  <a:gd name="connsiteY0" fmla="*/ 0 h 533400"/>
                  <a:gd name="connsiteX1" fmla="*/ 104775 w 104775"/>
                  <a:gd name="connsiteY1" fmla="*/ 0 h 533400"/>
                  <a:gd name="connsiteX2" fmla="*/ 104775 w 104775"/>
                  <a:gd name="connsiteY2" fmla="*/ 533400 h 533400"/>
                  <a:gd name="connsiteX3" fmla="*/ 0 w 104775"/>
                  <a:gd name="connsiteY3" fmla="*/ 533400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533400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solidFill>
                <a:srgbClr val="00B0F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886D421C-0D58-6C53-6FDB-41122F4B88AD}"/>
                  </a:ext>
                </a:extLst>
              </p:cNvPr>
              <p:cNvSpPr/>
              <p:nvPr/>
            </p:nvSpPr>
            <p:spPr>
              <a:xfrm>
                <a:off x="8074980" y="2598851"/>
                <a:ext cx="104775" cy="333375"/>
              </a:xfrm>
              <a:custGeom>
                <a:avLst/>
                <a:gdLst>
                  <a:gd name="connsiteX0" fmla="*/ 0 w 104775"/>
                  <a:gd name="connsiteY0" fmla="*/ 0 h 333375"/>
                  <a:gd name="connsiteX1" fmla="*/ 104775 w 104775"/>
                  <a:gd name="connsiteY1" fmla="*/ 0 h 333375"/>
                  <a:gd name="connsiteX2" fmla="*/ 104775 w 104775"/>
                  <a:gd name="connsiteY2" fmla="*/ 333375 h 333375"/>
                  <a:gd name="connsiteX3" fmla="*/ 0 w 104775"/>
                  <a:gd name="connsiteY3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333375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0070C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2A4CCB0-65E6-1BDD-F2C5-8FC08F76D33D}"/>
                  </a:ext>
                </a:extLst>
              </p:cNvPr>
              <p:cNvSpPr/>
              <p:nvPr/>
            </p:nvSpPr>
            <p:spPr>
              <a:xfrm>
                <a:off x="7932105" y="2760776"/>
                <a:ext cx="104775" cy="171450"/>
              </a:xfrm>
              <a:custGeom>
                <a:avLst/>
                <a:gdLst>
                  <a:gd name="connsiteX0" fmla="*/ 0 w 104775"/>
                  <a:gd name="connsiteY0" fmla="*/ 0 h 171450"/>
                  <a:gd name="connsiteX1" fmla="*/ 104775 w 104775"/>
                  <a:gd name="connsiteY1" fmla="*/ 0 h 171450"/>
                  <a:gd name="connsiteX2" fmla="*/ 104775 w 104775"/>
                  <a:gd name="connsiteY2" fmla="*/ 171450 h 171450"/>
                  <a:gd name="connsiteX3" fmla="*/ 0 w 104775"/>
                  <a:gd name="connsiteY3" fmla="*/ 171450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171450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75" name="Oval 74">
            <a:extLst>
              <a:ext uri="{FF2B5EF4-FFF2-40B4-BE49-F238E27FC236}">
                <a16:creationId xmlns:a16="http://schemas.microsoft.com/office/drawing/2014/main" id="{F8A155C5-836B-860D-3349-E8D2D3D16B59}"/>
              </a:ext>
            </a:extLst>
          </p:cNvPr>
          <p:cNvSpPr/>
          <p:nvPr/>
        </p:nvSpPr>
        <p:spPr>
          <a:xfrm>
            <a:off x="4316146" y="3532877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A5E7337-948B-2E1F-A54E-EF1FC8EDEE70}"/>
              </a:ext>
            </a:extLst>
          </p:cNvPr>
          <p:cNvSpPr/>
          <p:nvPr/>
        </p:nvSpPr>
        <p:spPr>
          <a:xfrm>
            <a:off x="4152611" y="3616607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019EBC8-6D16-15A9-03F3-E630AF28E00E}"/>
              </a:ext>
            </a:extLst>
          </p:cNvPr>
          <p:cNvSpPr/>
          <p:nvPr/>
        </p:nvSpPr>
        <p:spPr>
          <a:xfrm>
            <a:off x="4256142" y="3812072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A918BF0-78A2-E268-B9A0-64AC2F1E3B1C}"/>
              </a:ext>
            </a:extLst>
          </p:cNvPr>
          <p:cNvSpPr/>
          <p:nvPr/>
        </p:nvSpPr>
        <p:spPr>
          <a:xfrm>
            <a:off x="3803069" y="3894416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D698E08-362B-2C68-BCD0-4D5F554068FE}"/>
              </a:ext>
            </a:extLst>
          </p:cNvPr>
          <p:cNvSpPr/>
          <p:nvPr/>
        </p:nvSpPr>
        <p:spPr>
          <a:xfrm>
            <a:off x="4037368" y="3894780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61CBECF-E334-62AF-76BE-8BE84543E785}"/>
              </a:ext>
            </a:extLst>
          </p:cNvPr>
          <p:cNvSpPr/>
          <p:nvPr/>
        </p:nvSpPr>
        <p:spPr>
          <a:xfrm>
            <a:off x="4621033" y="3870128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4208962-4BC3-686D-88CF-4405816AA706}"/>
              </a:ext>
            </a:extLst>
          </p:cNvPr>
          <p:cNvSpPr/>
          <p:nvPr/>
        </p:nvSpPr>
        <p:spPr>
          <a:xfrm>
            <a:off x="4409166" y="3880963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6D33C55-115B-34F8-2AF7-DDDE96CE6EA2}"/>
              </a:ext>
            </a:extLst>
          </p:cNvPr>
          <p:cNvCxnSpPr>
            <a:stCxn id="76" idx="4"/>
            <a:endCxn id="82" idx="0"/>
          </p:cNvCxnSpPr>
          <p:nvPr/>
        </p:nvCxnSpPr>
        <p:spPr>
          <a:xfrm flipH="1">
            <a:off x="3868973" y="3748415"/>
            <a:ext cx="349542" cy="1460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50814E2-93CA-8161-C8B9-C32CA3FE92BE}"/>
              </a:ext>
            </a:extLst>
          </p:cNvPr>
          <p:cNvCxnSpPr>
            <a:cxnSpLocks/>
          </p:cNvCxnSpPr>
          <p:nvPr/>
        </p:nvCxnSpPr>
        <p:spPr>
          <a:xfrm flipH="1" flipV="1">
            <a:off x="4080920" y="3830443"/>
            <a:ext cx="775515" cy="1609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3017920-39FA-525A-3EAD-FEF8FA0EECF0}"/>
              </a:ext>
            </a:extLst>
          </p:cNvPr>
          <p:cNvCxnSpPr/>
          <p:nvPr/>
        </p:nvCxnSpPr>
        <p:spPr>
          <a:xfrm>
            <a:off x="6854110" y="3791675"/>
            <a:ext cx="0" cy="806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DD8684E-D012-4024-46FA-1CC26A990C4C}"/>
              </a:ext>
            </a:extLst>
          </p:cNvPr>
          <p:cNvCxnSpPr/>
          <p:nvPr/>
        </p:nvCxnSpPr>
        <p:spPr>
          <a:xfrm>
            <a:off x="7044863" y="3792039"/>
            <a:ext cx="0" cy="806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08B8D3E2-1996-572E-71A6-8789A9E3EBED}"/>
              </a:ext>
            </a:extLst>
          </p:cNvPr>
          <p:cNvSpPr/>
          <p:nvPr/>
        </p:nvSpPr>
        <p:spPr>
          <a:xfrm>
            <a:off x="4768240" y="3674264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0BE18BA-7EE9-18FC-68EC-2F7215754E84}"/>
              </a:ext>
            </a:extLst>
          </p:cNvPr>
          <p:cNvSpPr/>
          <p:nvPr/>
        </p:nvSpPr>
        <p:spPr>
          <a:xfrm>
            <a:off x="4577315" y="3716168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EE921B7-635D-013F-3BEF-0C60F385F9B2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flipV="1">
            <a:off x="4218515" y="3598781"/>
            <a:ext cx="97631" cy="178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3103121-A0EC-2FD5-73C4-D0BA8DFDAEF2}"/>
              </a:ext>
            </a:extLst>
          </p:cNvPr>
          <p:cNvCxnSpPr>
            <a:cxnSpLocks/>
          </p:cNvCxnSpPr>
          <p:nvPr/>
        </p:nvCxnSpPr>
        <p:spPr>
          <a:xfrm flipH="1" flipV="1">
            <a:off x="2149890" y="3598781"/>
            <a:ext cx="1953382" cy="835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88BF721-3DDF-660A-08CD-63189D97EFC9}"/>
              </a:ext>
            </a:extLst>
          </p:cNvPr>
          <p:cNvCxnSpPr>
            <a:endCxn id="78" idx="0"/>
          </p:cNvCxnSpPr>
          <p:nvPr/>
        </p:nvCxnSpPr>
        <p:spPr>
          <a:xfrm>
            <a:off x="4444421" y="3641049"/>
            <a:ext cx="198798" cy="751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FAA58C1-5CE8-4D32-BFD5-CBE7C1A60B00}"/>
              </a:ext>
            </a:extLst>
          </p:cNvPr>
          <p:cNvCxnSpPr>
            <a:cxnSpLocks/>
            <a:stCxn id="75" idx="6"/>
            <a:endCxn id="79" idx="0"/>
          </p:cNvCxnSpPr>
          <p:nvPr/>
        </p:nvCxnSpPr>
        <p:spPr>
          <a:xfrm>
            <a:off x="4447954" y="3598781"/>
            <a:ext cx="386190" cy="754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E6DFEC73-44BB-8236-7660-49168F3CE6AD}"/>
              </a:ext>
            </a:extLst>
          </p:cNvPr>
          <p:cNvSpPr txBox="1"/>
          <p:nvPr/>
        </p:nvSpPr>
        <p:spPr>
          <a:xfrm>
            <a:off x="3547440" y="2859852"/>
            <a:ext cx="1581290" cy="4616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Data management Dashboard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434B165-E312-8174-A985-8D14746D92B6}"/>
              </a:ext>
            </a:extLst>
          </p:cNvPr>
          <p:cNvSpPr txBox="1"/>
          <p:nvPr/>
        </p:nvSpPr>
        <p:spPr>
          <a:xfrm>
            <a:off x="5243344" y="2859856"/>
            <a:ext cx="1581290" cy="4616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Data Analysis portal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7BCE3C8C-6D89-61E5-E1BA-ED3AF88A3FFF}"/>
              </a:ext>
            </a:extLst>
          </p:cNvPr>
          <p:cNvCxnSpPr>
            <a:cxnSpLocks/>
          </p:cNvCxnSpPr>
          <p:nvPr/>
        </p:nvCxnSpPr>
        <p:spPr>
          <a:xfrm flipV="1">
            <a:off x="9017388" y="2093813"/>
            <a:ext cx="595875" cy="196645"/>
          </a:xfrm>
          <a:prstGeom prst="bentConnector3">
            <a:avLst>
              <a:gd name="adj1" fmla="val 53654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68F8BAB-D660-E05B-59E2-1F8C01E9CE41}"/>
              </a:ext>
            </a:extLst>
          </p:cNvPr>
          <p:cNvSpPr/>
          <p:nvPr/>
        </p:nvSpPr>
        <p:spPr>
          <a:xfrm>
            <a:off x="7348143" y="1900853"/>
            <a:ext cx="1420602" cy="7617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211D07C-C7BD-6937-3225-24FC0011AE43}"/>
              </a:ext>
            </a:extLst>
          </p:cNvPr>
          <p:cNvGrpSpPr/>
          <p:nvPr/>
        </p:nvGrpSpPr>
        <p:grpSpPr>
          <a:xfrm>
            <a:off x="7484763" y="1973857"/>
            <a:ext cx="1234461" cy="602795"/>
            <a:chOff x="7183848" y="1532533"/>
            <a:chExt cx="1213104" cy="740130"/>
          </a:xfrm>
        </p:grpSpPr>
        <p:grpSp>
          <p:nvGrpSpPr>
            <p:cNvPr id="118" name="Graphic 297" descr="Statistics outline">
              <a:extLst>
                <a:ext uri="{FF2B5EF4-FFF2-40B4-BE49-F238E27FC236}">
                  <a16:creationId xmlns:a16="http://schemas.microsoft.com/office/drawing/2014/main" id="{744924B7-7F89-F67B-18C7-FF8DA6F7EB41}"/>
                </a:ext>
              </a:extLst>
            </p:cNvPr>
            <p:cNvGrpSpPr/>
            <p:nvPr/>
          </p:nvGrpSpPr>
          <p:grpSpPr>
            <a:xfrm>
              <a:off x="8054233" y="1534168"/>
              <a:ext cx="319474" cy="319610"/>
              <a:chOff x="8802932" y="2380867"/>
              <a:chExt cx="647423" cy="647700"/>
            </a:xfrm>
            <a:solidFill>
              <a:srgbClr val="000000"/>
            </a:solidFill>
          </p:grpSpPr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A432AC6B-E3A4-30ED-DF83-A9EE0F434B22}"/>
                  </a:ext>
                </a:extLst>
              </p:cNvPr>
              <p:cNvSpPr/>
              <p:nvPr/>
            </p:nvSpPr>
            <p:spPr>
              <a:xfrm>
                <a:off x="8802932" y="2380867"/>
                <a:ext cx="647423" cy="647700"/>
              </a:xfrm>
              <a:custGeom>
                <a:avLst/>
                <a:gdLst>
                  <a:gd name="connsiteX0" fmla="*/ 19050 w 647423"/>
                  <a:gd name="connsiteY0" fmla="*/ 0 h 647700"/>
                  <a:gd name="connsiteX1" fmla="*/ 0 w 647423"/>
                  <a:gd name="connsiteY1" fmla="*/ 0 h 647700"/>
                  <a:gd name="connsiteX2" fmla="*/ 0 w 647423"/>
                  <a:gd name="connsiteY2" fmla="*/ 647700 h 647700"/>
                  <a:gd name="connsiteX3" fmla="*/ 647424 w 647423"/>
                  <a:gd name="connsiteY3" fmla="*/ 647700 h 647700"/>
                  <a:gd name="connsiteX4" fmla="*/ 647424 w 647423"/>
                  <a:gd name="connsiteY4" fmla="*/ 628650 h 647700"/>
                  <a:gd name="connsiteX5" fmla="*/ 19050 w 647423"/>
                  <a:gd name="connsiteY5" fmla="*/ 628650 h 647700"/>
                  <a:gd name="connsiteX6" fmla="*/ 19050 w 647423"/>
                  <a:gd name="connsiteY6" fmla="*/ 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7423" h="647700">
                    <a:moveTo>
                      <a:pt x="190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424" y="647700"/>
                    </a:lnTo>
                    <a:lnTo>
                      <a:pt x="647424" y="628650"/>
                    </a:lnTo>
                    <a:lnTo>
                      <a:pt x="19050" y="628650"/>
                    </a:lnTo>
                    <a:lnTo>
                      <a:pt x="19050" y="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69B2F775-1DF6-5605-8FD2-638E9CCA93AD}"/>
                  </a:ext>
                </a:extLst>
              </p:cNvPr>
              <p:cNvSpPr/>
              <p:nvPr/>
            </p:nvSpPr>
            <p:spPr>
              <a:xfrm>
                <a:off x="8907715" y="2409175"/>
                <a:ext cx="476517" cy="514617"/>
              </a:xfrm>
              <a:custGeom>
                <a:avLst/>
                <a:gdLst>
                  <a:gd name="connsiteX0" fmla="*/ 38101 w 476517"/>
                  <a:gd name="connsiteY0" fmla="*/ 514617 h 514617"/>
                  <a:gd name="connsiteX1" fmla="*/ 76163 w 476517"/>
                  <a:gd name="connsiteY1" fmla="*/ 476707 h 514617"/>
                  <a:gd name="connsiteX2" fmla="*/ 60961 w 476517"/>
                  <a:gd name="connsiteY2" fmla="*/ 446237 h 514617"/>
                  <a:gd name="connsiteX3" fmla="*/ 143638 w 476517"/>
                  <a:gd name="connsiteY3" fmla="*/ 190691 h 514617"/>
                  <a:gd name="connsiteX4" fmla="*/ 159449 w 476517"/>
                  <a:gd name="connsiteY4" fmla="*/ 186814 h 514617"/>
                  <a:gd name="connsiteX5" fmla="*/ 305468 w 476517"/>
                  <a:gd name="connsiteY5" fmla="*/ 298076 h 514617"/>
                  <a:gd name="connsiteX6" fmla="*/ 335805 w 476517"/>
                  <a:gd name="connsiteY6" fmla="*/ 342605 h 514617"/>
                  <a:gd name="connsiteX7" fmla="*/ 380334 w 476517"/>
                  <a:gd name="connsiteY7" fmla="*/ 312267 h 514617"/>
                  <a:gd name="connsiteX8" fmla="*/ 381001 w 476517"/>
                  <a:gd name="connsiteY8" fmla="*/ 305067 h 514617"/>
                  <a:gd name="connsiteX9" fmla="*/ 366551 w 476517"/>
                  <a:gd name="connsiteY9" fmla="*/ 275406 h 514617"/>
                  <a:gd name="connsiteX10" fmla="*/ 435503 w 476517"/>
                  <a:gd name="connsiteY10" fmla="*/ 76200 h 514617"/>
                  <a:gd name="connsiteX11" fmla="*/ 438151 w 476517"/>
                  <a:gd name="connsiteY11" fmla="*/ 76467 h 514617"/>
                  <a:gd name="connsiteX12" fmla="*/ 476518 w 476517"/>
                  <a:gd name="connsiteY12" fmla="*/ 38367 h 514617"/>
                  <a:gd name="connsiteX13" fmla="*/ 438418 w 476517"/>
                  <a:gd name="connsiteY13" fmla="*/ 0 h 514617"/>
                  <a:gd name="connsiteX14" fmla="*/ 400051 w 476517"/>
                  <a:gd name="connsiteY14" fmla="*/ 38100 h 514617"/>
                  <a:gd name="connsiteX15" fmla="*/ 417396 w 476517"/>
                  <a:gd name="connsiteY15" fmla="*/ 70257 h 514617"/>
                  <a:gd name="connsiteX16" fmla="*/ 349092 w 476517"/>
                  <a:gd name="connsiteY16" fmla="*/ 267586 h 514617"/>
                  <a:gd name="connsiteX17" fmla="*/ 342901 w 476517"/>
                  <a:gd name="connsiteY17" fmla="*/ 266967 h 514617"/>
                  <a:gd name="connsiteX18" fmla="*/ 313954 w 476517"/>
                  <a:gd name="connsiteY18" fmla="*/ 280559 h 514617"/>
                  <a:gd name="connsiteX19" fmla="*/ 174308 w 476517"/>
                  <a:gd name="connsiteY19" fmla="*/ 174165 h 514617"/>
                  <a:gd name="connsiteX20" fmla="*/ 164675 w 476517"/>
                  <a:gd name="connsiteY20" fmla="*/ 121055 h 514617"/>
                  <a:gd name="connsiteX21" fmla="*/ 111565 w 476517"/>
                  <a:gd name="connsiteY21" fmla="*/ 130690 h 514617"/>
                  <a:gd name="connsiteX22" fmla="*/ 121199 w 476517"/>
                  <a:gd name="connsiteY22" fmla="*/ 183799 h 514617"/>
                  <a:gd name="connsiteX23" fmla="*/ 125112 w 476517"/>
                  <a:gd name="connsiteY23" fmla="*/ 186176 h 514617"/>
                  <a:gd name="connsiteX24" fmla="*/ 43330 w 476517"/>
                  <a:gd name="connsiteY24" fmla="*/ 438941 h 514617"/>
                  <a:gd name="connsiteX25" fmla="*/ 376 w 476517"/>
                  <a:gd name="connsiteY25" fmla="*/ 471292 h 514617"/>
                  <a:gd name="connsiteX26" fmla="*/ 32727 w 476517"/>
                  <a:gd name="connsiteY26" fmla="*/ 514245 h 514617"/>
                  <a:gd name="connsiteX27" fmla="*/ 38101 w 476517"/>
                  <a:gd name="connsiteY27" fmla="*/ 514617 h 514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6517" h="514617">
                    <a:moveTo>
                      <a:pt x="38101" y="514617"/>
                    </a:moveTo>
                    <a:cubicBezTo>
                      <a:pt x="59080" y="514659"/>
                      <a:pt x="76121" y="497686"/>
                      <a:pt x="76163" y="476707"/>
                    </a:cubicBezTo>
                    <a:cubicBezTo>
                      <a:pt x="76187" y="464721"/>
                      <a:pt x="70552" y="453426"/>
                      <a:pt x="60961" y="446237"/>
                    </a:cubicBezTo>
                    <a:lnTo>
                      <a:pt x="143638" y="190691"/>
                    </a:lnTo>
                    <a:cubicBezTo>
                      <a:pt x="149127" y="190561"/>
                      <a:pt x="154522" y="189238"/>
                      <a:pt x="159449" y="186814"/>
                    </a:cubicBezTo>
                    <a:lnTo>
                      <a:pt x="305468" y="298076"/>
                    </a:lnTo>
                    <a:cubicBezTo>
                      <a:pt x="301549" y="318750"/>
                      <a:pt x="315132" y="338685"/>
                      <a:pt x="335805" y="342605"/>
                    </a:cubicBezTo>
                    <a:cubicBezTo>
                      <a:pt x="356479" y="346524"/>
                      <a:pt x="376416" y="332941"/>
                      <a:pt x="380334" y="312267"/>
                    </a:cubicBezTo>
                    <a:cubicBezTo>
                      <a:pt x="380785" y="309894"/>
                      <a:pt x="381008" y="307483"/>
                      <a:pt x="381001" y="305067"/>
                    </a:cubicBezTo>
                    <a:cubicBezTo>
                      <a:pt x="380972" y="293491"/>
                      <a:pt x="375649" y="282564"/>
                      <a:pt x="366551" y="275406"/>
                    </a:cubicBezTo>
                    <a:lnTo>
                      <a:pt x="435503" y="76200"/>
                    </a:lnTo>
                    <a:cubicBezTo>
                      <a:pt x="436398" y="76267"/>
                      <a:pt x="437246" y="76467"/>
                      <a:pt x="438151" y="76467"/>
                    </a:cubicBezTo>
                    <a:cubicBezTo>
                      <a:pt x="459267" y="76540"/>
                      <a:pt x="476443" y="59483"/>
                      <a:pt x="476518" y="38367"/>
                    </a:cubicBezTo>
                    <a:cubicBezTo>
                      <a:pt x="476591" y="17252"/>
                      <a:pt x="459534" y="75"/>
                      <a:pt x="438418" y="0"/>
                    </a:cubicBezTo>
                    <a:cubicBezTo>
                      <a:pt x="417303" y="-73"/>
                      <a:pt x="400125" y="16985"/>
                      <a:pt x="400051" y="38100"/>
                    </a:cubicBezTo>
                    <a:cubicBezTo>
                      <a:pt x="400006" y="51067"/>
                      <a:pt x="406536" y="63173"/>
                      <a:pt x="417396" y="70257"/>
                    </a:cubicBezTo>
                    <a:lnTo>
                      <a:pt x="349092" y="267586"/>
                    </a:lnTo>
                    <a:cubicBezTo>
                      <a:pt x="347048" y="267215"/>
                      <a:pt x="344978" y="267008"/>
                      <a:pt x="342901" y="266967"/>
                    </a:cubicBezTo>
                    <a:cubicBezTo>
                      <a:pt x="331718" y="266996"/>
                      <a:pt x="321120" y="271972"/>
                      <a:pt x="313954" y="280559"/>
                    </a:cubicBezTo>
                    <a:lnTo>
                      <a:pt x="174308" y="174165"/>
                    </a:lnTo>
                    <a:cubicBezTo>
                      <a:pt x="186314" y="156839"/>
                      <a:pt x="182001" y="133061"/>
                      <a:pt x="164675" y="121055"/>
                    </a:cubicBezTo>
                    <a:cubicBezTo>
                      <a:pt x="147348" y="109050"/>
                      <a:pt x="123571" y="113364"/>
                      <a:pt x="111565" y="130690"/>
                    </a:cubicBezTo>
                    <a:cubicBezTo>
                      <a:pt x="99560" y="148016"/>
                      <a:pt x="103873" y="171794"/>
                      <a:pt x="121199" y="183799"/>
                    </a:cubicBezTo>
                    <a:cubicBezTo>
                      <a:pt x="122454" y="184669"/>
                      <a:pt x="123761" y="185462"/>
                      <a:pt x="125112" y="186176"/>
                    </a:cubicBezTo>
                    <a:lnTo>
                      <a:pt x="43330" y="438941"/>
                    </a:lnTo>
                    <a:cubicBezTo>
                      <a:pt x="22535" y="436013"/>
                      <a:pt x="3304" y="450497"/>
                      <a:pt x="376" y="471292"/>
                    </a:cubicBezTo>
                    <a:cubicBezTo>
                      <a:pt x="-2552" y="492086"/>
                      <a:pt x="11932" y="511318"/>
                      <a:pt x="32727" y="514245"/>
                    </a:cubicBezTo>
                    <a:cubicBezTo>
                      <a:pt x="34507" y="514496"/>
                      <a:pt x="36303" y="514621"/>
                      <a:pt x="38101" y="514617"/>
                    </a:cubicBezTo>
                    <a:close/>
                  </a:path>
                </a:pathLst>
              </a:custGeom>
              <a:solidFill>
                <a:srgbClr val="0070C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9" name="Graphic 299" descr="Bar chart with solid fill">
              <a:extLst>
                <a:ext uri="{FF2B5EF4-FFF2-40B4-BE49-F238E27FC236}">
                  <a16:creationId xmlns:a16="http://schemas.microsoft.com/office/drawing/2014/main" id="{8B31407A-685F-790E-C650-6A539D4DBBFE}"/>
                </a:ext>
              </a:extLst>
            </p:cNvPr>
            <p:cNvGrpSpPr/>
            <p:nvPr/>
          </p:nvGrpSpPr>
          <p:grpSpPr>
            <a:xfrm>
              <a:off x="7624520" y="1543030"/>
              <a:ext cx="319610" cy="319610"/>
              <a:chOff x="7932105" y="2398826"/>
              <a:chExt cx="647700" cy="647700"/>
            </a:xfrm>
            <a:solidFill>
              <a:srgbClr val="000000"/>
            </a:solidFill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4264FE00-4EE2-44F9-26CB-EA885BC8E8CC}"/>
                  </a:ext>
                </a:extLst>
              </p:cNvPr>
              <p:cNvSpPr/>
              <p:nvPr/>
            </p:nvSpPr>
            <p:spPr>
              <a:xfrm>
                <a:off x="7932105" y="2398826"/>
                <a:ext cx="647700" cy="647700"/>
              </a:xfrm>
              <a:custGeom>
                <a:avLst/>
                <a:gdLst>
                  <a:gd name="connsiteX0" fmla="*/ 590550 w 647700"/>
                  <a:gd name="connsiteY0" fmla="*/ 0 h 647700"/>
                  <a:gd name="connsiteX1" fmla="*/ 647700 w 647700"/>
                  <a:gd name="connsiteY1" fmla="*/ 0 h 647700"/>
                  <a:gd name="connsiteX2" fmla="*/ 647700 w 647700"/>
                  <a:gd name="connsiteY2" fmla="*/ 647700 h 647700"/>
                  <a:gd name="connsiteX3" fmla="*/ 0 w 647700"/>
                  <a:gd name="connsiteY3" fmla="*/ 647700 h 647700"/>
                  <a:gd name="connsiteX4" fmla="*/ 0 w 647700"/>
                  <a:gd name="connsiteY4" fmla="*/ 590550 h 647700"/>
                  <a:gd name="connsiteX5" fmla="*/ 5905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90550" y="0"/>
                    </a:moveTo>
                    <a:lnTo>
                      <a:pt x="647700" y="0"/>
                    </a:lnTo>
                    <a:lnTo>
                      <a:pt x="647700" y="647700"/>
                    </a:lnTo>
                    <a:lnTo>
                      <a:pt x="0" y="647700"/>
                    </a:lnTo>
                    <a:lnTo>
                      <a:pt x="0" y="590550"/>
                    </a:lnTo>
                    <a:lnTo>
                      <a:pt x="590550" y="59055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A0DE75CD-6444-1309-B73E-A275F268D299}"/>
                  </a:ext>
                </a:extLst>
              </p:cNvPr>
              <p:cNvSpPr/>
              <p:nvPr/>
            </p:nvSpPr>
            <p:spPr>
              <a:xfrm>
                <a:off x="8360730" y="2598851"/>
                <a:ext cx="104775" cy="333375"/>
              </a:xfrm>
              <a:custGeom>
                <a:avLst/>
                <a:gdLst>
                  <a:gd name="connsiteX0" fmla="*/ 0 w 104775"/>
                  <a:gd name="connsiteY0" fmla="*/ 0 h 333375"/>
                  <a:gd name="connsiteX1" fmla="*/ 104775 w 104775"/>
                  <a:gd name="connsiteY1" fmla="*/ 0 h 333375"/>
                  <a:gd name="connsiteX2" fmla="*/ 104775 w 104775"/>
                  <a:gd name="connsiteY2" fmla="*/ 333375 h 333375"/>
                  <a:gd name="connsiteX3" fmla="*/ 0 w 104775"/>
                  <a:gd name="connsiteY3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333375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D72DA7-FF09-E98E-0F44-3DD9946DC548}"/>
                  </a:ext>
                </a:extLst>
              </p:cNvPr>
              <p:cNvSpPr/>
              <p:nvPr/>
            </p:nvSpPr>
            <p:spPr>
              <a:xfrm>
                <a:off x="8217855" y="2398826"/>
                <a:ext cx="104775" cy="533400"/>
              </a:xfrm>
              <a:custGeom>
                <a:avLst/>
                <a:gdLst>
                  <a:gd name="connsiteX0" fmla="*/ 0 w 104775"/>
                  <a:gd name="connsiteY0" fmla="*/ 0 h 533400"/>
                  <a:gd name="connsiteX1" fmla="*/ 104775 w 104775"/>
                  <a:gd name="connsiteY1" fmla="*/ 0 h 533400"/>
                  <a:gd name="connsiteX2" fmla="*/ 104775 w 104775"/>
                  <a:gd name="connsiteY2" fmla="*/ 533400 h 533400"/>
                  <a:gd name="connsiteX3" fmla="*/ 0 w 104775"/>
                  <a:gd name="connsiteY3" fmla="*/ 533400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533400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solidFill>
                <a:srgbClr val="00B0F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E2657761-4476-DBF0-698C-6654BF56D3DF}"/>
                  </a:ext>
                </a:extLst>
              </p:cNvPr>
              <p:cNvSpPr/>
              <p:nvPr/>
            </p:nvSpPr>
            <p:spPr>
              <a:xfrm>
                <a:off x="8074980" y="2598851"/>
                <a:ext cx="104775" cy="333375"/>
              </a:xfrm>
              <a:custGeom>
                <a:avLst/>
                <a:gdLst>
                  <a:gd name="connsiteX0" fmla="*/ 0 w 104775"/>
                  <a:gd name="connsiteY0" fmla="*/ 0 h 333375"/>
                  <a:gd name="connsiteX1" fmla="*/ 104775 w 104775"/>
                  <a:gd name="connsiteY1" fmla="*/ 0 h 333375"/>
                  <a:gd name="connsiteX2" fmla="*/ 104775 w 104775"/>
                  <a:gd name="connsiteY2" fmla="*/ 333375 h 333375"/>
                  <a:gd name="connsiteX3" fmla="*/ 0 w 104775"/>
                  <a:gd name="connsiteY3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333375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0070C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46488995-CF59-4948-8913-3FAFCC0AB6C5}"/>
                  </a:ext>
                </a:extLst>
              </p:cNvPr>
              <p:cNvSpPr/>
              <p:nvPr/>
            </p:nvSpPr>
            <p:spPr>
              <a:xfrm>
                <a:off x="7932105" y="2760776"/>
                <a:ext cx="104775" cy="171450"/>
              </a:xfrm>
              <a:custGeom>
                <a:avLst/>
                <a:gdLst>
                  <a:gd name="connsiteX0" fmla="*/ 0 w 104775"/>
                  <a:gd name="connsiteY0" fmla="*/ 0 h 171450"/>
                  <a:gd name="connsiteX1" fmla="*/ 104775 w 104775"/>
                  <a:gd name="connsiteY1" fmla="*/ 0 h 171450"/>
                  <a:gd name="connsiteX2" fmla="*/ 104775 w 104775"/>
                  <a:gd name="connsiteY2" fmla="*/ 171450 h 171450"/>
                  <a:gd name="connsiteX3" fmla="*/ 0 w 104775"/>
                  <a:gd name="connsiteY3" fmla="*/ 171450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171450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20" name="Graphic 301" descr="Pie chart with solid fill">
              <a:extLst>
                <a:ext uri="{FF2B5EF4-FFF2-40B4-BE49-F238E27FC236}">
                  <a16:creationId xmlns:a16="http://schemas.microsoft.com/office/drawing/2014/main" id="{51476498-A19A-B930-8EC6-5331B9CCDA83}"/>
                </a:ext>
              </a:extLst>
            </p:cNvPr>
            <p:cNvGrpSpPr/>
            <p:nvPr/>
          </p:nvGrpSpPr>
          <p:grpSpPr>
            <a:xfrm>
              <a:off x="7183848" y="1532533"/>
              <a:ext cx="356741" cy="357212"/>
              <a:chOff x="7039070" y="2377553"/>
              <a:chExt cx="722947" cy="723900"/>
            </a:xfrm>
            <a:solidFill>
              <a:srgbClr val="000000"/>
            </a:solidFill>
          </p:grpSpPr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3C64DD61-D3DF-7D59-1573-8F483D366F5D}"/>
                  </a:ext>
                </a:extLst>
              </p:cNvPr>
              <p:cNvSpPr/>
              <p:nvPr/>
            </p:nvSpPr>
            <p:spPr>
              <a:xfrm>
                <a:off x="7039070" y="2377553"/>
                <a:ext cx="603885" cy="723900"/>
              </a:xfrm>
              <a:custGeom>
                <a:avLst/>
                <a:gdLst>
                  <a:gd name="connsiteX0" fmla="*/ 342900 w 603885"/>
                  <a:gd name="connsiteY0" fmla="*/ 0 h 723900"/>
                  <a:gd name="connsiteX1" fmla="*/ 0 w 603885"/>
                  <a:gd name="connsiteY1" fmla="*/ 361950 h 723900"/>
                  <a:gd name="connsiteX2" fmla="*/ 361950 w 603885"/>
                  <a:gd name="connsiteY2" fmla="*/ 723900 h 723900"/>
                  <a:gd name="connsiteX3" fmla="*/ 603885 w 603885"/>
                  <a:gd name="connsiteY3" fmla="*/ 630555 h 723900"/>
                  <a:gd name="connsiteX4" fmla="*/ 342900 w 603885"/>
                  <a:gd name="connsiteY4" fmla="*/ 369570 h 723900"/>
                  <a:gd name="connsiteX5" fmla="*/ 342900 w 603885"/>
                  <a:gd name="connsiteY5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3885" h="723900">
                    <a:moveTo>
                      <a:pt x="342900" y="0"/>
                    </a:moveTo>
                    <a:cubicBezTo>
                      <a:pt x="152400" y="9525"/>
                      <a:pt x="0" y="16954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452438" y="723900"/>
                      <a:pt x="537210" y="691515"/>
                      <a:pt x="603885" y="630555"/>
                    </a:cubicBezTo>
                    <a:lnTo>
                      <a:pt x="342900" y="369570"/>
                    </a:lnTo>
                    <a:lnTo>
                      <a:pt x="342900" y="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C31C0BE3-CCF7-DCE6-09E6-177B6381FBB3}"/>
                  </a:ext>
                </a:extLst>
              </p:cNvPr>
              <p:cNvSpPr/>
              <p:nvPr/>
            </p:nvSpPr>
            <p:spPr>
              <a:xfrm>
                <a:off x="7420070" y="2377553"/>
                <a:ext cx="341947" cy="342900"/>
              </a:xfrm>
              <a:custGeom>
                <a:avLst/>
                <a:gdLst>
                  <a:gd name="connsiteX0" fmla="*/ 0 w 341947"/>
                  <a:gd name="connsiteY0" fmla="*/ 0 h 342900"/>
                  <a:gd name="connsiteX1" fmla="*/ 0 w 341947"/>
                  <a:gd name="connsiteY1" fmla="*/ 342900 h 342900"/>
                  <a:gd name="connsiteX2" fmla="*/ 341948 w 341947"/>
                  <a:gd name="connsiteY2" fmla="*/ 342900 h 342900"/>
                  <a:gd name="connsiteX3" fmla="*/ 0 w 341947"/>
                  <a:gd name="connsiteY3" fmla="*/ 0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947" h="342900">
                    <a:moveTo>
                      <a:pt x="0" y="0"/>
                    </a:moveTo>
                    <a:lnTo>
                      <a:pt x="0" y="342900"/>
                    </a:lnTo>
                    <a:lnTo>
                      <a:pt x="341948" y="342900"/>
                    </a:lnTo>
                    <a:cubicBezTo>
                      <a:pt x="332423" y="157163"/>
                      <a:pt x="184785" y="9525"/>
                      <a:pt x="0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4F980123-0348-D89E-5208-6D49170AC5D4}"/>
                  </a:ext>
                </a:extLst>
              </p:cNvPr>
              <p:cNvSpPr/>
              <p:nvPr/>
            </p:nvSpPr>
            <p:spPr>
              <a:xfrm>
                <a:off x="7446739" y="2758553"/>
                <a:ext cx="315277" cy="222885"/>
              </a:xfrm>
              <a:custGeom>
                <a:avLst/>
                <a:gdLst>
                  <a:gd name="connsiteX0" fmla="*/ 0 w 315277"/>
                  <a:gd name="connsiteY0" fmla="*/ 0 h 222885"/>
                  <a:gd name="connsiteX1" fmla="*/ 222885 w 315277"/>
                  <a:gd name="connsiteY1" fmla="*/ 222885 h 222885"/>
                  <a:gd name="connsiteX2" fmla="*/ 315278 w 315277"/>
                  <a:gd name="connsiteY2" fmla="*/ 0 h 222885"/>
                  <a:gd name="connsiteX3" fmla="*/ 0 w 315277"/>
                  <a:gd name="connsiteY3" fmla="*/ 0 h 222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277" h="222885">
                    <a:moveTo>
                      <a:pt x="0" y="0"/>
                    </a:moveTo>
                    <a:lnTo>
                      <a:pt x="222885" y="222885"/>
                    </a:lnTo>
                    <a:cubicBezTo>
                      <a:pt x="279083" y="160973"/>
                      <a:pt x="311468" y="82868"/>
                      <a:pt x="3152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0F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FB6BA14B-797B-912F-A3AE-E745A0579F8A}"/>
                </a:ext>
              </a:extLst>
            </p:cNvPr>
            <p:cNvGrpSpPr/>
            <p:nvPr/>
          </p:nvGrpSpPr>
          <p:grpSpPr>
            <a:xfrm>
              <a:off x="7209320" y="1914672"/>
              <a:ext cx="392443" cy="357991"/>
              <a:chOff x="6521450" y="1121124"/>
              <a:chExt cx="944580" cy="861658"/>
            </a:xfrm>
          </p:grpSpPr>
          <p:sp>
            <p:nvSpPr>
              <p:cNvPr id="129" name="Isosceles Triangle 128">
                <a:extLst>
                  <a:ext uri="{FF2B5EF4-FFF2-40B4-BE49-F238E27FC236}">
                    <a16:creationId xmlns:a16="http://schemas.microsoft.com/office/drawing/2014/main" id="{07B7DF17-0DB3-6903-6FF6-A93F57D664B2}"/>
                  </a:ext>
                </a:extLst>
              </p:cNvPr>
              <p:cNvSpPr/>
              <p:nvPr/>
            </p:nvSpPr>
            <p:spPr>
              <a:xfrm>
                <a:off x="6521450" y="1339129"/>
                <a:ext cx="404689" cy="641430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Isosceles Triangle 129">
                <a:extLst>
                  <a:ext uri="{FF2B5EF4-FFF2-40B4-BE49-F238E27FC236}">
                    <a16:creationId xmlns:a16="http://schemas.microsoft.com/office/drawing/2014/main" id="{C5B84E1D-327C-B570-2451-F2A7D1975638}"/>
                  </a:ext>
                </a:extLst>
              </p:cNvPr>
              <p:cNvSpPr/>
              <p:nvPr/>
            </p:nvSpPr>
            <p:spPr>
              <a:xfrm>
                <a:off x="6769139" y="1121124"/>
                <a:ext cx="404689" cy="861658"/>
              </a:xfrm>
              <a:prstGeom prst="triangl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Isosceles Triangle 130">
                <a:extLst>
                  <a:ext uri="{FF2B5EF4-FFF2-40B4-BE49-F238E27FC236}">
                    <a16:creationId xmlns:a16="http://schemas.microsoft.com/office/drawing/2014/main" id="{7E162FBA-2155-1ADB-2BF8-A3C8D25099AD}"/>
                  </a:ext>
                </a:extLst>
              </p:cNvPr>
              <p:cNvSpPr/>
              <p:nvPr/>
            </p:nvSpPr>
            <p:spPr>
              <a:xfrm>
                <a:off x="7061341" y="1339129"/>
                <a:ext cx="404689" cy="641430"/>
              </a:xfrm>
              <a:prstGeom prst="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15589225-9F51-9055-DC58-1D88AFF13B32}"/>
                </a:ext>
              </a:extLst>
            </p:cNvPr>
            <p:cNvGrpSpPr/>
            <p:nvPr/>
          </p:nvGrpSpPr>
          <p:grpSpPr>
            <a:xfrm>
              <a:off x="7654029" y="1938411"/>
              <a:ext cx="742923" cy="330110"/>
              <a:chOff x="6456988" y="1864900"/>
              <a:chExt cx="1355838" cy="419873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08F35C97-D2E8-D67D-71E0-8BDD56AA6B8A}"/>
                  </a:ext>
                </a:extLst>
              </p:cNvPr>
              <p:cNvSpPr/>
              <p:nvPr/>
            </p:nvSpPr>
            <p:spPr>
              <a:xfrm>
                <a:off x="6457950" y="1864900"/>
                <a:ext cx="1346311" cy="7145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4DACCBBF-7146-616E-78AE-99C8953372E4}"/>
                  </a:ext>
                </a:extLst>
              </p:cNvPr>
              <p:cNvSpPr/>
              <p:nvPr/>
            </p:nvSpPr>
            <p:spPr>
              <a:xfrm>
                <a:off x="6456988" y="1983896"/>
                <a:ext cx="789777" cy="686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0A2AFF97-0752-20F5-1A0A-4BEE28143CCC}"/>
                  </a:ext>
                </a:extLst>
              </p:cNvPr>
              <p:cNvSpPr/>
              <p:nvPr/>
            </p:nvSpPr>
            <p:spPr>
              <a:xfrm>
                <a:off x="7285102" y="1982084"/>
                <a:ext cx="518621" cy="686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4147CECC-4670-00AB-2DA9-49D27C72E692}"/>
                  </a:ext>
                </a:extLst>
              </p:cNvPr>
              <p:cNvSpPr/>
              <p:nvPr/>
            </p:nvSpPr>
            <p:spPr>
              <a:xfrm>
                <a:off x="6457412" y="2093625"/>
                <a:ext cx="1346311" cy="7145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0537E1A7-6A30-C765-F5E4-47CF698461B4}"/>
                  </a:ext>
                </a:extLst>
              </p:cNvPr>
              <p:cNvSpPr/>
              <p:nvPr/>
            </p:nvSpPr>
            <p:spPr>
              <a:xfrm rot="10800000">
                <a:off x="7023049" y="2211456"/>
                <a:ext cx="789777" cy="686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147318F9-09DB-45A3-069B-6E5FDC4C6534}"/>
                  </a:ext>
                </a:extLst>
              </p:cNvPr>
              <p:cNvSpPr/>
              <p:nvPr/>
            </p:nvSpPr>
            <p:spPr>
              <a:xfrm rot="10800000">
                <a:off x="6456988" y="2216151"/>
                <a:ext cx="518621" cy="686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05" name="Graphic 104" descr="Television with solid fill">
            <a:extLst>
              <a:ext uri="{FF2B5EF4-FFF2-40B4-BE49-F238E27FC236}">
                <a16:creationId xmlns:a16="http://schemas.microsoft.com/office/drawing/2014/main" id="{96AD5E04-00FB-4866-129E-0B3884E223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7577" y="1599983"/>
            <a:ext cx="1669245" cy="154675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1230F929-88AC-F325-6058-F6C618BAC1F6}"/>
              </a:ext>
            </a:extLst>
          </p:cNvPr>
          <p:cNvSpPr/>
          <p:nvPr/>
        </p:nvSpPr>
        <p:spPr>
          <a:xfrm>
            <a:off x="7289067" y="1299961"/>
            <a:ext cx="1579880" cy="49611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Restricted epi dashboard</a:t>
            </a:r>
          </a:p>
        </p:txBody>
      </p:sp>
      <p:pic>
        <p:nvPicPr>
          <p:cNvPr id="154" name="Graphic 153" descr="Single gear with solid fill">
            <a:extLst>
              <a:ext uri="{FF2B5EF4-FFF2-40B4-BE49-F238E27FC236}">
                <a16:creationId xmlns:a16="http://schemas.microsoft.com/office/drawing/2014/main" id="{D92B4DDF-F36C-7C9D-974C-C92617B5D6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7032" y="5025131"/>
            <a:ext cx="431910" cy="431910"/>
          </a:xfrm>
          <a:prstGeom prst="rect">
            <a:avLst/>
          </a:prstGeom>
        </p:spPr>
      </p:pic>
      <p:pic>
        <p:nvPicPr>
          <p:cNvPr id="155" name="Graphic 154" descr="Single gear with solid fill">
            <a:extLst>
              <a:ext uri="{FF2B5EF4-FFF2-40B4-BE49-F238E27FC236}">
                <a16:creationId xmlns:a16="http://schemas.microsoft.com/office/drawing/2014/main" id="{D70D2B84-9067-EFD2-553D-24AA4C78E7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99557" y="5178961"/>
            <a:ext cx="431910" cy="431910"/>
          </a:xfrm>
          <a:prstGeom prst="rect">
            <a:avLst/>
          </a:prstGeom>
        </p:spPr>
      </p:pic>
      <p:pic>
        <p:nvPicPr>
          <p:cNvPr id="156" name="Graphic 155" descr="Single gear with solid fill">
            <a:extLst>
              <a:ext uri="{FF2B5EF4-FFF2-40B4-BE49-F238E27FC236}">
                <a16:creationId xmlns:a16="http://schemas.microsoft.com/office/drawing/2014/main" id="{D995EEC0-9D7A-A39D-1C8C-E585817063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98201" y="5273680"/>
            <a:ext cx="431910" cy="431910"/>
          </a:xfrm>
          <a:prstGeom prst="rect">
            <a:avLst/>
          </a:prstGeom>
        </p:spPr>
      </p:pic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1460D2A5-1C4D-E62B-4E75-BE7EDD94344C}"/>
              </a:ext>
            </a:extLst>
          </p:cNvPr>
          <p:cNvCxnSpPr>
            <a:cxnSpLocks/>
            <a:endCxn id="156" idx="1"/>
          </p:cNvCxnSpPr>
          <p:nvPr/>
        </p:nvCxnSpPr>
        <p:spPr>
          <a:xfrm rot="16200000" flipH="1">
            <a:off x="4068079" y="4759513"/>
            <a:ext cx="1012692" cy="447552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9CFF7979-DCFE-EC21-A5F4-A8145A138C6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317895" y="4706439"/>
            <a:ext cx="1013056" cy="553336"/>
          </a:xfrm>
          <a:prstGeom prst="bentConnector3">
            <a:avLst>
              <a:gd name="adj1" fmla="val -145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8FB14A8-8F43-2C0A-0628-4A382F6EDC82}"/>
              </a:ext>
            </a:extLst>
          </p:cNvPr>
          <p:cNvSpPr txBox="1"/>
          <p:nvPr/>
        </p:nvSpPr>
        <p:spPr>
          <a:xfrm>
            <a:off x="570006" y="1260640"/>
            <a:ext cx="1823744" cy="276999"/>
          </a:xfrm>
          <a:prstGeom prst="rect">
            <a:avLst/>
          </a:prstGeom>
          <a:solidFill>
            <a:srgbClr val="0070C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Surveillance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C2B3D86-A0D2-22C7-C6C6-4CDE798E906A}"/>
              </a:ext>
            </a:extLst>
          </p:cNvPr>
          <p:cNvGrpSpPr/>
          <p:nvPr/>
        </p:nvGrpSpPr>
        <p:grpSpPr>
          <a:xfrm>
            <a:off x="1157015" y="4367789"/>
            <a:ext cx="1320014" cy="1109064"/>
            <a:chOff x="2949307" y="3268087"/>
            <a:chExt cx="622352" cy="789206"/>
          </a:xfrm>
        </p:grpSpPr>
        <p:pic>
          <p:nvPicPr>
            <p:cNvPr id="28" name="Graphic 27" descr="Tablet with solid fill">
              <a:extLst>
                <a:ext uri="{FF2B5EF4-FFF2-40B4-BE49-F238E27FC236}">
                  <a16:creationId xmlns:a16="http://schemas.microsoft.com/office/drawing/2014/main" id="{641F4B7A-34B5-BE28-1A75-986282D9D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49307" y="3268087"/>
              <a:ext cx="616428" cy="639586"/>
            </a:xfrm>
            <a:prstGeom prst="rect">
              <a:avLst/>
            </a:prstGeom>
          </p:spPr>
        </p:pic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679474-123D-90F4-76A7-F7C935138D76}"/>
                </a:ext>
              </a:extLst>
            </p:cNvPr>
            <p:cNvSpPr/>
            <p:nvPr/>
          </p:nvSpPr>
          <p:spPr>
            <a:xfrm rot="1414499">
              <a:off x="3263929" y="3716791"/>
              <a:ext cx="307730" cy="340502"/>
            </a:xfrm>
            <a:custGeom>
              <a:avLst/>
              <a:gdLst>
                <a:gd name="connsiteX0" fmla="*/ 568600 w 586697"/>
                <a:gd name="connsiteY0" fmla="*/ 507255 h 649177"/>
                <a:gd name="connsiteX1" fmla="*/ 557170 w 586697"/>
                <a:gd name="connsiteY1" fmla="*/ 313897 h 649177"/>
                <a:gd name="connsiteX2" fmla="*/ 493353 w 586697"/>
                <a:gd name="connsiteY2" fmla="*/ 172927 h 649177"/>
                <a:gd name="connsiteX3" fmla="*/ 424773 w 586697"/>
                <a:gd name="connsiteY3" fmla="*/ 147210 h 649177"/>
                <a:gd name="connsiteX4" fmla="*/ 399055 w 586697"/>
                <a:gd name="connsiteY4" fmla="*/ 171975 h 649177"/>
                <a:gd name="connsiteX5" fmla="*/ 397150 w 586697"/>
                <a:gd name="connsiteY5" fmla="*/ 171975 h 649177"/>
                <a:gd name="connsiteX6" fmla="*/ 389530 w 586697"/>
                <a:gd name="connsiteY6" fmla="*/ 159592 h 649177"/>
                <a:gd name="connsiteX7" fmla="*/ 350478 w 586697"/>
                <a:gd name="connsiteY7" fmla="*/ 139590 h 649177"/>
                <a:gd name="connsiteX8" fmla="*/ 300948 w 586697"/>
                <a:gd name="connsiteY8" fmla="*/ 171022 h 649177"/>
                <a:gd name="connsiteX9" fmla="*/ 299043 w 586697"/>
                <a:gd name="connsiteY9" fmla="*/ 171022 h 649177"/>
                <a:gd name="connsiteX10" fmla="*/ 227605 w 586697"/>
                <a:gd name="connsiteY10" fmla="*/ 162450 h 649177"/>
                <a:gd name="connsiteX11" fmla="*/ 210460 w 586697"/>
                <a:gd name="connsiteY11" fmla="*/ 210075 h 649177"/>
                <a:gd name="connsiteX12" fmla="*/ 209508 w 586697"/>
                <a:gd name="connsiteY12" fmla="*/ 210075 h 649177"/>
                <a:gd name="connsiteX13" fmla="*/ 127593 w 586697"/>
                <a:gd name="connsiteY13" fmla="*/ 27195 h 649177"/>
                <a:gd name="connsiteX14" fmla="*/ 70443 w 586697"/>
                <a:gd name="connsiteY14" fmla="*/ 3382 h 649177"/>
                <a:gd name="connsiteX15" fmla="*/ 46630 w 586697"/>
                <a:gd name="connsiteY15" fmla="*/ 60532 h 649177"/>
                <a:gd name="connsiteX16" fmla="*/ 47583 w 586697"/>
                <a:gd name="connsiteY16" fmla="*/ 62437 h 649177"/>
                <a:gd name="connsiteX17" fmla="*/ 212365 w 586697"/>
                <a:gd name="connsiteY17" fmla="*/ 431055 h 649177"/>
                <a:gd name="connsiteX18" fmla="*/ 186648 w 586697"/>
                <a:gd name="connsiteY18" fmla="*/ 436770 h 649177"/>
                <a:gd name="connsiteX19" fmla="*/ 70443 w 586697"/>
                <a:gd name="connsiteY19" fmla="*/ 356760 h 649177"/>
                <a:gd name="connsiteX20" fmla="*/ 10435 w 586697"/>
                <a:gd name="connsiteY20" fmla="*/ 363427 h 649177"/>
                <a:gd name="connsiteX21" fmla="*/ 19008 w 586697"/>
                <a:gd name="connsiteY21" fmla="*/ 428197 h 649177"/>
                <a:gd name="connsiteX22" fmla="*/ 199983 w 586697"/>
                <a:gd name="connsiteY22" fmla="*/ 552022 h 649177"/>
                <a:gd name="connsiteX23" fmla="*/ 215223 w 586697"/>
                <a:gd name="connsiteY23" fmla="*/ 558690 h 649177"/>
                <a:gd name="connsiteX24" fmla="*/ 328570 w 586697"/>
                <a:gd name="connsiteY24" fmla="*/ 585360 h 649177"/>
                <a:gd name="connsiteX25" fmla="*/ 332380 w 586697"/>
                <a:gd name="connsiteY25" fmla="*/ 590122 h 649177"/>
                <a:gd name="connsiteX26" fmla="*/ 359050 w 586697"/>
                <a:gd name="connsiteY26" fmla="*/ 649177 h 649177"/>
                <a:gd name="connsiteX27" fmla="*/ 586698 w 586697"/>
                <a:gd name="connsiteY27" fmla="*/ 546307 h 649177"/>
                <a:gd name="connsiteX28" fmla="*/ 568600 w 586697"/>
                <a:gd name="connsiteY28" fmla="*/ 507255 h 649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6697" h="649177">
                  <a:moveTo>
                    <a:pt x="568600" y="507255"/>
                  </a:moveTo>
                  <a:cubicBezTo>
                    <a:pt x="543835" y="452010"/>
                    <a:pt x="604795" y="418672"/>
                    <a:pt x="557170" y="313897"/>
                  </a:cubicBezTo>
                  <a:cubicBezTo>
                    <a:pt x="545740" y="289132"/>
                    <a:pt x="508593" y="206265"/>
                    <a:pt x="493353" y="172927"/>
                  </a:cubicBezTo>
                  <a:cubicBezTo>
                    <a:pt x="481923" y="147210"/>
                    <a:pt x="451443" y="134827"/>
                    <a:pt x="424773" y="147210"/>
                  </a:cubicBezTo>
                  <a:cubicBezTo>
                    <a:pt x="413343" y="151972"/>
                    <a:pt x="404770" y="160545"/>
                    <a:pt x="399055" y="171975"/>
                  </a:cubicBezTo>
                  <a:cubicBezTo>
                    <a:pt x="399055" y="172927"/>
                    <a:pt x="398103" y="172927"/>
                    <a:pt x="397150" y="171975"/>
                  </a:cubicBezTo>
                  <a:cubicBezTo>
                    <a:pt x="395245" y="167212"/>
                    <a:pt x="393340" y="163402"/>
                    <a:pt x="389530" y="159592"/>
                  </a:cubicBezTo>
                  <a:cubicBezTo>
                    <a:pt x="380005" y="147210"/>
                    <a:pt x="365718" y="139590"/>
                    <a:pt x="350478" y="139590"/>
                  </a:cubicBezTo>
                  <a:cubicBezTo>
                    <a:pt x="328570" y="138637"/>
                    <a:pt x="309520" y="151972"/>
                    <a:pt x="300948" y="171022"/>
                  </a:cubicBezTo>
                  <a:cubicBezTo>
                    <a:pt x="300948" y="171975"/>
                    <a:pt x="299995" y="171975"/>
                    <a:pt x="299043" y="171022"/>
                  </a:cubicBezTo>
                  <a:cubicBezTo>
                    <a:pt x="281898" y="149115"/>
                    <a:pt x="250465" y="145305"/>
                    <a:pt x="227605" y="162450"/>
                  </a:cubicBezTo>
                  <a:cubicBezTo>
                    <a:pt x="214270" y="171975"/>
                    <a:pt x="206650" y="191025"/>
                    <a:pt x="210460" y="210075"/>
                  </a:cubicBezTo>
                  <a:cubicBezTo>
                    <a:pt x="210460" y="211027"/>
                    <a:pt x="209508" y="211027"/>
                    <a:pt x="209508" y="210075"/>
                  </a:cubicBezTo>
                  <a:lnTo>
                    <a:pt x="127593" y="27195"/>
                  </a:lnTo>
                  <a:cubicBezTo>
                    <a:pt x="118068" y="5287"/>
                    <a:pt x="92350" y="-6143"/>
                    <a:pt x="70443" y="3382"/>
                  </a:cubicBezTo>
                  <a:cubicBezTo>
                    <a:pt x="48535" y="12907"/>
                    <a:pt x="37105" y="38625"/>
                    <a:pt x="46630" y="60532"/>
                  </a:cubicBezTo>
                  <a:cubicBezTo>
                    <a:pt x="46630" y="61485"/>
                    <a:pt x="47583" y="61485"/>
                    <a:pt x="47583" y="62437"/>
                  </a:cubicBezTo>
                  <a:lnTo>
                    <a:pt x="212365" y="431055"/>
                  </a:lnTo>
                  <a:lnTo>
                    <a:pt x="186648" y="436770"/>
                  </a:lnTo>
                  <a:lnTo>
                    <a:pt x="70443" y="356760"/>
                  </a:lnTo>
                  <a:cubicBezTo>
                    <a:pt x="51393" y="343425"/>
                    <a:pt x="24723" y="346282"/>
                    <a:pt x="10435" y="363427"/>
                  </a:cubicBezTo>
                  <a:cubicBezTo>
                    <a:pt x="-6710" y="383430"/>
                    <a:pt x="-1947" y="413910"/>
                    <a:pt x="19008" y="428197"/>
                  </a:cubicBezTo>
                  <a:lnTo>
                    <a:pt x="199983" y="552022"/>
                  </a:lnTo>
                  <a:cubicBezTo>
                    <a:pt x="204745" y="554880"/>
                    <a:pt x="209508" y="557737"/>
                    <a:pt x="215223" y="558690"/>
                  </a:cubicBezTo>
                  <a:lnTo>
                    <a:pt x="328570" y="585360"/>
                  </a:lnTo>
                  <a:lnTo>
                    <a:pt x="332380" y="590122"/>
                  </a:lnTo>
                  <a:lnTo>
                    <a:pt x="359050" y="649177"/>
                  </a:lnTo>
                  <a:lnTo>
                    <a:pt x="586698" y="546307"/>
                  </a:lnTo>
                  <a:lnTo>
                    <a:pt x="568600" y="507255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CD21601-A09D-5A52-20F7-CDCF8A665313}"/>
              </a:ext>
            </a:extLst>
          </p:cNvPr>
          <p:cNvSpPr txBox="1"/>
          <p:nvPr/>
        </p:nvSpPr>
        <p:spPr>
          <a:xfrm>
            <a:off x="718457" y="5517017"/>
            <a:ext cx="1692304" cy="276999"/>
          </a:xfrm>
          <a:prstGeom prst="rect">
            <a:avLst/>
          </a:prstGeom>
          <a:solidFill>
            <a:srgbClr val="0070C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Laboratory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2CC1901-D578-9149-E679-FF327A83CDD9}"/>
              </a:ext>
            </a:extLst>
          </p:cNvPr>
          <p:cNvSpPr/>
          <p:nvPr/>
        </p:nvSpPr>
        <p:spPr>
          <a:xfrm>
            <a:off x="2121670" y="2642336"/>
            <a:ext cx="661984" cy="56130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 dirty="0"/>
              <a:t>ODK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3C91D99-E910-11E7-A3A5-9E8E6EA8946D}"/>
              </a:ext>
            </a:extLst>
          </p:cNvPr>
          <p:cNvSpPr/>
          <p:nvPr/>
        </p:nvSpPr>
        <p:spPr>
          <a:xfrm>
            <a:off x="2585023" y="4847894"/>
            <a:ext cx="837274" cy="69961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 dirty="0"/>
              <a:t>DISA and others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3811B1C-D310-23CD-D5CC-83E75BFA0FFD}"/>
              </a:ext>
            </a:extLst>
          </p:cNvPr>
          <p:cNvCxnSpPr>
            <a:cxnSpLocks/>
            <a:stCxn id="21" idx="2"/>
          </p:cNvCxnSpPr>
          <p:nvPr/>
        </p:nvCxnSpPr>
        <p:spPr>
          <a:xfrm rot="16200000" flipH="1">
            <a:off x="2169505" y="2336695"/>
            <a:ext cx="481693" cy="2174285"/>
          </a:xfrm>
          <a:prstGeom prst="bentConnector2">
            <a:avLst/>
          </a:prstGeom>
          <a:ln w="19050">
            <a:solidFill>
              <a:srgbClr val="00B0F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74EEC29-19C7-547D-7297-125E49949B29}"/>
              </a:ext>
            </a:extLst>
          </p:cNvPr>
          <p:cNvCxnSpPr>
            <a:stCxn id="3" idx="1"/>
          </p:cNvCxnSpPr>
          <p:nvPr/>
        </p:nvCxnSpPr>
        <p:spPr>
          <a:xfrm rot="10800000" flipV="1">
            <a:off x="2348147" y="3926794"/>
            <a:ext cx="1155733" cy="846409"/>
          </a:xfrm>
          <a:prstGeom prst="bentConnector3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873240D-6D5C-445F-81F3-FAAF8E97C64E}"/>
              </a:ext>
            </a:extLst>
          </p:cNvPr>
          <p:cNvCxnSpPr>
            <a:cxnSpLocks/>
          </p:cNvCxnSpPr>
          <p:nvPr/>
        </p:nvCxnSpPr>
        <p:spPr>
          <a:xfrm flipV="1">
            <a:off x="6890390" y="2935900"/>
            <a:ext cx="1180037" cy="986919"/>
          </a:xfrm>
          <a:prstGeom prst="bentConnector3">
            <a:avLst>
              <a:gd name="adj1" fmla="val 100368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D7D034D-53DD-8610-9078-521B7BE44D57}"/>
              </a:ext>
            </a:extLst>
          </p:cNvPr>
          <p:cNvGrpSpPr/>
          <p:nvPr/>
        </p:nvGrpSpPr>
        <p:grpSpPr>
          <a:xfrm>
            <a:off x="9912276" y="1941201"/>
            <a:ext cx="1234461" cy="602795"/>
            <a:chOff x="7183848" y="1532533"/>
            <a:chExt cx="1213104" cy="740130"/>
          </a:xfrm>
        </p:grpSpPr>
        <p:grpSp>
          <p:nvGrpSpPr>
            <p:cNvPr id="16" name="Graphic 297" descr="Statistics outline">
              <a:extLst>
                <a:ext uri="{FF2B5EF4-FFF2-40B4-BE49-F238E27FC236}">
                  <a16:creationId xmlns:a16="http://schemas.microsoft.com/office/drawing/2014/main" id="{97FBBF0F-6486-C5DC-0336-99B679816826}"/>
                </a:ext>
              </a:extLst>
            </p:cNvPr>
            <p:cNvGrpSpPr/>
            <p:nvPr/>
          </p:nvGrpSpPr>
          <p:grpSpPr>
            <a:xfrm>
              <a:off x="8054233" y="1534168"/>
              <a:ext cx="319474" cy="319610"/>
              <a:chOff x="8802932" y="2380867"/>
              <a:chExt cx="647423" cy="647700"/>
            </a:xfrm>
            <a:solidFill>
              <a:srgbClr val="000000"/>
            </a:solidFill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A9931BA0-AB5D-4599-22EE-2A12169F7864}"/>
                  </a:ext>
                </a:extLst>
              </p:cNvPr>
              <p:cNvSpPr/>
              <p:nvPr/>
            </p:nvSpPr>
            <p:spPr>
              <a:xfrm>
                <a:off x="8802932" y="2380867"/>
                <a:ext cx="647423" cy="647700"/>
              </a:xfrm>
              <a:custGeom>
                <a:avLst/>
                <a:gdLst>
                  <a:gd name="connsiteX0" fmla="*/ 19050 w 647423"/>
                  <a:gd name="connsiteY0" fmla="*/ 0 h 647700"/>
                  <a:gd name="connsiteX1" fmla="*/ 0 w 647423"/>
                  <a:gd name="connsiteY1" fmla="*/ 0 h 647700"/>
                  <a:gd name="connsiteX2" fmla="*/ 0 w 647423"/>
                  <a:gd name="connsiteY2" fmla="*/ 647700 h 647700"/>
                  <a:gd name="connsiteX3" fmla="*/ 647424 w 647423"/>
                  <a:gd name="connsiteY3" fmla="*/ 647700 h 647700"/>
                  <a:gd name="connsiteX4" fmla="*/ 647424 w 647423"/>
                  <a:gd name="connsiteY4" fmla="*/ 628650 h 647700"/>
                  <a:gd name="connsiteX5" fmla="*/ 19050 w 647423"/>
                  <a:gd name="connsiteY5" fmla="*/ 628650 h 647700"/>
                  <a:gd name="connsiteX6" fmla="*/ 19050 w 647423"/>
                  <a:gd name="connsiteY6" fmla="*/ 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7423" h="647700">
                    <a:moveTo>
                      <a:pt x="190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424" y="647700"/>
                    </a:lnTo>
                    <a:lnTo>
                      <a:pt x="647424" y="628650"/>
                    </a:lnTo>
                    <a:lnTo>
                      <a:pt x="19050" y="628650"/>
                    </a:lnTo>
                    <a:lnTo>
                      <a:pt x="19050" y="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9D633C64-E567-310A-4BBB-923FA8E2FABD}"/>
                  </a:ext>
                </a:extLst>
              </p:cNvPr>
              <p:cNvSpPr/>
              <p:nvPr/>
            </p:nvSpPr>
            <p:spPr>
              <a:xfrm>
                <a:off x="8907715" y="2409175"/>
                <a:ext cx="476517" cy="514617"/>
              </a:xfrm>
              <a:custGeom>
                <a:avLst/>
                <a:gdLst>
                  <a:gd name="connsiteX0" fmla="*/ 38101 w 476517"/>
                  <a:gd name="connsiteY0" fmla="*/ 514617 h 514617"/>
                  <a:gd name="connsiteX1" fmla="*/ 76163 w 476517"/>
                  <a:gd name="connsiteY1" fmla="*/ 476707 h 514617"/>
                  <a:gd name="connsiteX2" fmla="*/ 60961 w 476517"/>
                  <a:gd name="connsiteY2" fmla="*/ 446237 h 514617"/>
                  <a:gd name="connsiteX3" fmla="*/ 143638 w 476517"/>
                  <a:gd name="connsiteY3" fmla="*/ 190691 h 514617"/>
                  <a:gd name="connsiteX4" fmla="*/ 159449 w 476517"/>
                  <a:gd name="connsiteY4" fmla="*/ 186814 h 514617"/>
                  <a:gd name="connsiteX5" fmla="*/ 305468 w 476517"/>
                  <a:gd name="connsiteY5" fmla="*/ 298076 h 514617"/>
                  <a:gd name="connsiteX6" fmla="*/ 335805 w 476517"/>
                  <a:gd name="connsiteY6" fmla="*/ 342605 h 514617"/>
                  <a:gd name="connsiteX7" fmla="*/ 380334 w 476517"/>
                  <a:gd name="connsiteY7" fmla="*/ 312267 h 514617"/>
                  <a:gd name="connsiteX8" fmla="*/ 381001 w 476517"/>
                  <a:gd name="connsiteY8" fmla="*/ 305067 h 514617"/>
                  <a:gd name="connsiteX9" fmla="*/ 366551 w 476517"/>
                  <a:gd name="connsiteY9" fmla="*/ 275406 h 514617"/>
                  <a:gd name="connsiteX10" fmla="*/ 435503 w 476517"/>
                  <a:gd name="connsiteY10" fmla="*/ 76200 h 514617"/>
                  <a:gd name="connsiteX11" fmla="*/ 438151 w 476517"/>
                  <a:gd name="connsiteY11" fmla="*/ 76467 h 514617"/>
                  <a:gd name="connsiteX12" fmla="*/ 476518 w 476517"/>
                  <a:gd name="connsiteY12" fmla="*/ 38367 h 514617"/>
                  <a:gd name="connsiteX13" fmla="*/ 438418 w 476517"/>
                  <a:gd name="connsiteY13" fmla="*/ 0 h 514617"/>
                  <a:gd name="connsiteX14" fmla="*/ 400051 w 476517"/>
                  <a:gd name="connsiteY14" fmla="*/ 38100 h 514617"/>
                  <a:gd name="connsiteX15" fmla="*/ 417396 w 476517"/>
                  <a:gd name="connsiteY15" fmla="*/ 70257 h 514617"/>
                  <a:gd name="connsiteX16" fmla="*/ 349092 w 476517"/>
                  <a:gd name="connsiteY16" fmla="*/ 267586 h 514617"/>
                  <a:gd name="connsiteX17" fmla="*/ 342901 w 476517"/>
                  <a:gd name="connsiteY17" fmla="*/ 266967 h 514617"/>
                  <a:gd name="connsiteX18" fmla="*/ 313954 w 476517"/>
                  <a:gd name="connsiteY18" fmla="*/ 280559 h 514617"/>
                  <a:gd name="connsiteX19" fmla="*/ 174308 w 476517"/>
                  <a:gd name="connsiteY19" fmla="*/ 174165 h 514617"/>
                  <a:gd name="connsiteX20" fmla="*/ 164675 w 476517"/>
                  <a:gd name="connsiteY20" fmla="*/ 121055 h 514617"/>
                  <a:gd name="connsiteX21" fmla="*/ 111565 w 476517"/>
                  <a:gd name="connsiteY21" fmla="*/ 130690 h 514617"/>
                  <a:gd name="connsiteX22" fmla="*/ 121199 w 476517"/>
                  <a:gd name="connsiteY22" fmla="*/ 183799 h 514617"/>
                  <a:gd name="connsiteX23" fmla="*/ 125112 w 476517"/>
                  <a:gd name="connsiteY23" fmla="*/ 186176 h 514617"/>
                  <a:gd name="connsiteX24" fmla="*/ 43330 w 476517"/>
                  <a:gd name="connsiteY24" fmla="*/ 438941 h 514617"/>
                  <a:gd name="connsiteX25" fmla="*/ 376 w 476517"/>
                  <a:gd name="connsiteY25" fmla="*/ 471292 h 514617"/>
                  <a:gd name="connsiteX26" fmla="*/ 32727 w 476517"/>
                  <a:gd name="connsiteY26" fmla="*/ 514245 h 514617"/>
                  <a:gd name="connsiteX27" fmla="*/ 38101 w 476517"/>
                  <a:gd name="connsiteY27" fmla="*/ 514617 h 514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6517" h="514617">
                    <a:moveTo>
                      <a:pt x="38101" y="514617"/>
                    </a:moveTo>
                    <a:cubicBezTo>
                      <a:pt x="59080" y="514659"/>
                      <a:pt x="76121" y="497686"/>
                      <a:pt x="76163" y="476707"/>
                    </a:cubicBezTo>
                    <a:cubicBezTo>
                      <a:pt x="76187" y="464721"/>
                      <a:pt x="70552" y="453426"/>
                      <a:pt x="60961" y="446237"/>
                    </a:cubicBezTo>
                    <a:lnTo>
                      <a:pt x="143638" y="190691"/>
                    </a:lnTo>
                    <a:cubicBezTo>
                      <a:pt x="149127" y="190561"/>
                      <a:pt x="154522" y="189238"/>
                      <a:pt x="159449" y="186814"/>
                    </a:cubicBezTo>
                    <a:lnTo>
                      <a:pt x="305468" y="298076"/>
                    </a:lnTo>
                    <a:cubicBezTo>
                      <a:pt x="301549" y="318750"/>
                      <a:pt x="315132" y="338685"/>
                      <a:pt x="335805" y="342605"/>
                    </a:cubicBezTo>
                    <a:cubicBezTo>
                      <a:pt x="356479" y="346524"/>
                      <a:pt x="376416" y="332941"/>
                      <a:pt x="380334" y="312267"/>
                    </a:cubicBezTo>
                    <a:cubicBezTo>
                      <a:pt x="380785" y="309894"/>
                      <a:pt x="381008" y="307483"/>
                      <a:pt x="381001" y="305067"/>
                    </a:cubicBezTo>
                    <a:cubicBezTo>
                      <a:pt x="380972" y="293491"/>
                      <a:pt x="375649" y="282564"/>
                      <a:pt x="366551" y="275406"/>
                    </a:cubicBezTo>
                    <a:lnTo>
                      <a:pt x="435503" y="76200"/>
                    </a:lnTo>
                    <a:cubicBezTo>
                      <a:pt x="436398" y="76267"/>
                      <a:pt x="437246" y="76467"/>
                      <a:pt x="438151" y="76467"/>
                    </a:cubicBezTo>
                    <a:cubicBezTo>
                      <a:pt x="459267" y="76540"/>
                      <a:pt x="476443" y="59483"/>
                      <a:pt x="476518" y="38367"/>
                    </a:cubicBezTo>
                    <a:cubicBezTo>
                      <a:pt x="476591" y="17252"/>
                      <a:pt x="459534" y="75"/>
                      <a:pt x="438418" y="0"/>
                    </a:cubicBezTo>
                    <a:cubicBezTo>
                      <a:pt x="417303" y="-73"/>
                      <a:pt x="400125" y="16985"/>
                      <a:pt x="400051" y="38100"/>
                    </a:cubicBezTo>
                    <a:cubicBezTo>
                      <a:pt x="400006" y="51067"/>
                      <a:pt x="406536" y="63173"/>
                      <a:pt x="417396" y="70257"/>
                    </a:cubicBezTo>
                    <a:lnTo>
                      <a:pt x="349092" y="267586"/>
                    </a:lnTo>
                    <a:cubicBezTo>
                      <a:pt x="347048" y="267215"/>
                      <a:pt x="344978" y="267008"/>
                      <a:pt x="342901" y="266967"/>
                    </a:cubicBezTo>
                    <a:cubicBezTo>
                      <a:pt x="331718" y="266996"/>
                      <a:pt x="321120" y="271972"/>
                      <a:pt x="313954" y="280559"/>
                    </a:cubicBezTo>
                    <a:lnTo>
                      <a:pt x="174308" y="174165"/>
                    </a:lnTo>
                    <a:cubicBezTo>
                      <a:pt x="186314" y="156839"/>
                      <a:pt x="182001" y="133061"/>
                      <a:pt x="164675" y="121055"/>
                    </a:cubicBezTo>
                    <a:cubicBezTo>
                      <a:pt x="147348" y="109050"/>
                      <a:pt x="123571" y="113364"/>
                      <a:pt x="111565" y="130690"/>
                    </a:cubicBezTo>
                    <a:cubicBezTo>
                      <a:pt x="99560" y="148016"/>
                      <a:pt x="103873" y="171794"/>
                      <a:pt x="121199" y="183799"/>
                    </a:cubicBezTo>
                    <a:cubicBezTo>
                      <a:pt x="122454" y="184669"/>
                      <a:pt x="123761" y="185462"/>
                      <a:pt x="125112" y="186176"/>
                    </a:cubicBezTo>
                    <a:lnTo>
                      <a:pt x="43330" y="438941"/>
                    </a:lnTo>
                    <a:cubicBezTo>
                      <a:pt x="22535" y="436013"/>
                      <a:pt x="3304" y="450497"/>
                      <a:pt x="376" y="471292"/>
                    </a:cubicBezTo>
                    <a:cubicBezTo>
                      <a:pt x="-2552" y="492086"/>
                      <a:pt x="11932" y="511318"/>
                      <a:pt x="32727" y="514245"/>
                    </a:cubicBezTo>
                    <a:cubicBezTo>
                      <a:pt x="34507" y="514496"/>
                      <a:pt x="36303" y="514621"/>
                      <a:pt x="38101" y="514617"/>
                    </a:cubicBezTo>
                    <a:close/>
                  </a:path>
                </a:pathLst>
              </a:custGeom>
              <a:solidFill>
                <a:srgbClr val="0070C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8" name="Graphic 299" descr="Bar chart with solid fill">
              <a:extLst>
                <a:ext uri="{FF2B5EF4-FFF2-40B4-BE49-F238E27FC236}">
                  <a16:creationId xmlns:a16="http://schemas.microsoft.com/office/drawing/2014/main" id="{40A00588-6E27-7008-8088-8BBDF5767535}"/>
                </a:ext>
              </a:extLst>
            </p:cNvPr>
            <p:cNvGrpSpPr/>
            <p:nvPr/>
          </p:nvGrpSpPr>
          <p:grpSpPr>
            <a:xfrm>
              <a:off x="7624520" y="1543030"/>
              <a:ext cx="319610" cy="319610"/>
              <a:chOff x="7932105" y="2398826"/>
              <a:chExt cx="647700" cy="647700"/>
            </a:xfrm>
            <a:solidFill>
              <a:srgbClr val="000000"/>
            </a:solidFill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B588E941-1335-C405-015B-4EC5B27E195E}"/>
                  </a:ext>
                </a:extLst>
              </p:cNvPr>
              <p:cNvSpPr/>
              <p:nvPr/>
            </p:nvSpPr>
            <p:spPr>
              <a:xfrm>
                <a:off x="7932105" y="2398826"/>
                <a:ext cx="647700" cy="647700"/>
              </a:xfrm>
              <a:custGeom>
                <a:avLst/>
                <a:gdLst>
                  <a:gd name="connsiteX0" fmla="*/ 590550 w 647700"/>
                  <a:gd name="connsiteY0" fmla="*/ 0 h 647700"/>
                  <a:gd name="connsiteX1" fmla="*/ 647700 w 647700"/>
                  <a:gd name="connsiteY1" fmla="*/ 0 h 647700"/>
                  <a:gd name="connsiteX2" fmla="*/ 647700 w 647700"/>
                  <a:gd name="connsiteY2" fmla="*/ 647700 h 647700"/>
                  <a:gd name="connsiteX3" fmla="*/ 0 w 647700"/>
                  <a:gd name="connsiteY3" fmla="*/ 647700 h 647700"/>
                  <a:gd name="connsiteX4" fmla="*/ 0 w 647700"/>
                  <a:gd name="connsiteY4" fmla="*/ 590550 h 647700"/>
                  <a:gd name="connsiteX5" fmla="*/ 5905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90550" y="0"/>
                    </a:moveTo>
                    <a:lnTo>
                      <a:pt x="647700" y="0"/>
                    </a:lnTo>
                    <a:lnTo>
                      <a:pt x="647700" y="647700"/>
                    </a:lnTo>
                    <a:lnTo>
                      <a:pt x="0" y="647700"/>
                    </a:lnTo>
                    <a:lnTo>
                      <a:pt x="0" y="590550"/>
                    </a:lnTo>
                    <a:lnTo>
                      <a:pt x="590550" y="59055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47FACEFF-ACEA-685D-593C-6938C194B87C}"/>
                  </a:ext>
                </a:extLst>
              </p:cNvPr>
              <p:cNvSpPr/>
              <p:nvPr/>
            </p:nvSpPr>
            <p:spPr>
              <a:xfrm>
                <a:off x="8360730" y="2598851"/>
                <a:ext cx="104775" cy="333375"/>
              </a:xfrm>
              <a:custGeom>
                <a:avLst/>
                <a:gdLst>
                  <a:gd name="connsiteX0" fmla="*/ 0 w 104775"/>
                  <a:gd name="connsiteY0" fmla="*/ 0 h 333375"/>
                  <a:gd name="connsiteX1" fmla="*/ 104775 w 104775"/>
                  <a:gd name="connsiteY1" fmla="*/ 0 h 333375"/>
                  <a:gd name="connsiteX2" fmla="*/ 104775 w 104775"/>
                  <a:gd name="connsiteY2" fmla="*/ 333375 h 333375"/>
                  <a:gd name="connsiteX3" fmla="*/ 0 w 104775"/>
                  <a:gd name="connsiteY3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333375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F8B15061-C206-D3DB-331C-A9C42D9F5F34}"/>
                  </a:ext>
                </a:extLst>
              </p:cNvPr>
              <p:cNvSpPr/>
              <p:nvPr/>
            </p:nvSpPr>
            <p:spPr>
              <a:xfrm>
                <a:off x="8217855" y="2398826"/>
                <a:ext cx="104775" cy="533400"/>
              </a:xfrm>
              <a:custGeom>
                <a:avLst/>
                <a:gdLst>
                  <a:gd name="connsiteX0" fmla="*/ 0 w 104775"/>
                  <a:gd name="connsiteY0" fmla="*/ 0 h 533400"/>
                  <a:gd name="connsiteX1" fmla="*/ 104775 w 104775"/>
                  <a:gd name="connsiteY1" fmla="*/ 0 h 533400"/>
                  <a:gd name="connsiteX2" fmla="*/ 104775 w 104775"/>
                  <a:gd name="connsiteY2" fmla="*/ 533400 h 533400"/>
                  <a:gd name="connsiteX3" fmla="*/ 0 w 104775"/>
                  <a:gd name="connsiteY3" fmla="*/ 533400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533400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solidFill>
                <a:srgbClr val="00B0F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CF83A0A-E765-5A5B-7855-C86124340C7F}"/>
                  </a:ext>
                </a:extLst>
              </p:cNvPr>
              <p:cNvSpPr/>
              <p:nvPr/>
            </p:nvSpPr>
            <p:spPr>
              <a:xfrm>
                <a:off x="8074980" y="2598851"/>
                <a:ext cx="104775" cy="333375"/>
              </a:xfrm>
              <a:custGeom>
                <a:avLst/>
                <a:gdLst>
                  <a:gd name="connsiteX0" fmla="*/ 0 w 104775"/>
                  <a:gd name="connsiteY0" fmla="*/ 0 h 333375"/>
                  <a:gd name="connsiteX1" fmla="*/ 104775 w 104775"/>
                  <a:gd name="connsiteY1" fmla="*/ 0 h 333375"/>
                  <a:gd name="connsiteX2" fmla="*/ 104775 w 104775"/>
                  <a:gd name="connsiteY2" fmla="*/ 333375 h 333375"/>
                  <a:gd name="connsiteX3" fmla="*/ 0 w 104775"/>
                  <a:gd name="connsiteY3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333375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0070C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D3BE923-E9C7-D479-BEAC-028BDE3C29EE}"/>
                  </a:ext>
                </a:extLst>
              </p:cNvPr>
              <p:cNvSpPr/>
              <p:nvPr/>
            </p:nvSpPr>
            <p:spPr>
              <a:xfrm>
                <a:off x="7932105" y="2760776"/>
                <a:ext cx="104775" cy="171450"/>
              </a:xfrm>
              <a:custGeom>
                <a:avLst/>
                <a:gdLst>
                  <a:gd name="connsiteX0" fmla="*/ 0 w 104775"/>
                  <a:gd name="connsiteY0" fmla="*/ 0 h 171450"/>
                  <a:gd name="connsiteX1" fmla="*/ 104775 w 104775"/>
                  <a:gd name="connsiteY1" fmla="*/ 0 h 171450"/>
                  <a:gd name="connsiteX2" fmla="*/ 104775 w 104775"/>
                  <a:gd name="connsiteY2" fmla="*/ 171450 h 171450"/>
                  <a:gd name="connsiteX3" fmla="*/ 0 w 104775"/>
                  <a:gd name="connsiteY3" fmla="*/ 171450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171450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9" name="Graphic 301" descr="Pie chart with solid fill">
              <a:extLst>
                <a:ext uri="{FF2B5EF4-FFF2-40B4-BE49-F238E27FC236}">
                  <a16:creationId xmlns:a16="http://schemas.microsoft.com/office/drawing/2014/main" id="{CB4AF0DF-9AD8-B466-E118-1739EB0C4347}"/>
                </a:ext>
              </a:extLst>
            </p:cNvPr>
            <p:cNvGrpSpPr/>
            <p:nvPr/>
          </p:nvGrpSpPr>
          <p:grpSpPr>
            <a:xfrm>
              <a:off x="7183848" y="1532533"/>
              <a:ext cx="356741" cy="357212"/>
              <a:chOff x="7039070" y="2377553"/>
              <a:chExt cx="722947" cy="723900"/>
            </a:xfrm>
            <a:solidFill>
              <a:srgbClr val="000000"/>
            </a:solidFill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80202E71-A97E-C7C5-2A6D-F9A7C51BCFEE}"/>
                  </a:ext>
                </a:extLst>
              </p:cNvPr>
              <p:cNvSpPr/>
              <p:nvPr/>
            </p:nvSpPr>
            <p:spPr>
              <a:xfrm>
                <a:off x="7039070" y="2377553"/>
                <a:ext cx="603885" cy="723900"/>
              </a:xfrm>
              <a:custGeom>
                <a:avLst/>
                <a:gdLst>
                  <a:gd name="connsiteX0" fmla="*/ 342900 w 603885"/>
                  <a:gd name="connsiteY0" fmla="*/ 0 h 723900"/>
                  <a:gd name="connsiteX1" fmla="*/ 0 w 603885"/>
                  <a:gd name="connsiteY1" fmla="*/ 361950 h 723900"/>
                  <a:gd name="connsiteX2" fmla="*/ 361950 w 603885"/>
                  <a:gd name="connsiteY2" fmla="*/ 723900 h 723900"/>
                  <a:gd name="connsiteX3" fmla="*/ 603885 w 603885"/>
                  <a:gd name="connsiteY3" fmla="*/ 630555 h 723900"/>
                  <a:gd name="connsiteX4" fmla="*/ 342900 w 603885"/>
                  <a:gd name="connsiteY4" fmla="*/ 369570 h 723900"/>
                  <a:gd name="connsiteX5" fmla="*/ 342900 w 603885"/>
                  <a:gd name="connsiteY5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3885" h="723900">
                    <a:moveTo>
                      <a:pt x="342900" y="0"/>
                    </a:moveTo>
                    <a:cubicBezTo>
                      <a:pt x="152400" y="9525"/>
                      <a:pt x="0" y="16954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452438" y="723900"/>
                      <a:pt x="537210" y="691515"/>
                      <a:pt x="603885" y="630555"/>
                    </a:cubicBezTo>
                    <a:lnTo>
                      <a:pt x="342900" y="369570"/>
                    </a:lnTo>
                    <a:lnTo>
                      <a:pt x="342900" y="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9CB36EC0-E5B8-5B42-6F79-A8E722DC050A}"/>
                  </a:ext>
                </a:extLst>
              </p:cNvPr>
              <p:cNvSpPr/>
              <p:nvPr/>
            </p:nvSpPr>
            <p:spPr>
              <a:xfrm>
                <a:off x="7420070" y="2377553"/>
                <a:ext cx="341947" cy="342900"/>
              </a:xfrm>
              <a:custGeom>
                <a:avLst/>
                <a:gdLst>
                  <a:gd name="connsiteX0" fmla="*/ 0 w 341947"/>
                  <a:gd name="connsiteY0" fmla="*/ 0 h 342900"/>
                  <a:gd name="connsiteX1" fmla="*/ 0 w 341947"/>
                  <a:gd name="connsiteY1" fmla="*/ 342900 h 342900"/>
                  <a:gd name="connsiteX2" fmla="*/ 341948 w 341947"/>
                  <a:gd name="connsiteY2" fmla="*/ 342900 h 342900"/>
                  <a:gd name="connsiteX3" fmla="*/ 0 w 341947"/>
                  <a:gd name="connsiteY3" fmla="*/ 0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947" h="342900">
                    <a:moveTo>
                      <a:pt x="0" y="0"/>
                    </a:moveTo>
                    <a:lnTo>
                      <a:pt x="0" y="342900"/>
                    </a:lnTo>
                    <a:lnTo>
                      <a:pt x="341948" y="342900"/>
                    </a:lnTo>
                    <a:cubicBezTo>
                      <a:pt x="332423" y="157163"/>
                      <a:pt x="184785" y="9525"/>
                      <a:pt x="0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F9203E05-79C5-D819-492D-E8DF63C47D89}"/>
                  </a:ext>
                </a:extLst>
              </p:cNvPr>
              <p:cNvSpPr/>
              <p:nvPr/>
            </p:nvSpPr>
            <p:spPr>
              <a:xfrm>
                <a:off x="7446739" y="2758553"/>
                <a:ext cx="315277" cy="222885"/>
              </a:xfrm>
              <a:custGeom>
                <a:avLst/>
                <a:gdLst>
                  <a:gd name="connsiteX0" fmla="*/ 0 w 315277"/>
                  <a:gd name="connsiteY0" fmla="*/ 0 h 222885"/>
                  <a:gd name="connsiteX1" fmla="*/ 222885 w 315277"/>
                  <a:gd name="connsiteY1" fmla="*/ 222885 h 222885"/>
                  <a:gd name="connsiteX2" fmla="*/ 315278 w 315277"/>
                  <a:gd name="connsiteY2" fmla="*/ 0 h 222885"/>
                  <a:gd name="connsiteX3" fmla="*/ 0 w 315277"/>
                  <a:gd name="connsiteY3" fmla="*/ 0 h 222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277" h="222885">
                    <a:moveTo>
                      <a:pt x="0" y="0"/>
                    </a:moveTo>
                    <a:lnTo>
                      <a:pt x="222885" y="222885"/>
                    </a:lnTo>
                    <a:cubicBezTo>
                      <a:pt x="279083" y="160973"/>
                      <a:pt x="311468" y="82868"/>
                      <a:pt x="3152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0F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9FDFDAB-8A7D-F0EF-6780-C548984D5513}"/>
                </a:ext>
              </a:extLst>
            </p:cNvPr>
            <p:cNvGrpSpPr/>
            <p:nvPr/>
          </p:nvGrpSpPr>
          <p:grpSpPr>
            <a:xfrm>
              <a:off x="7209320" y="1914672"/>
              <a:ext cx="392443" cy="357991"/>
              <a:chOff x="6521450" y="1121124"/>
              <a:chExt cx="944580" cy="861658"/>
            </a:xfrm>
          </p:grpSpPr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53E4AE14-931A-77F1-1513-E7D4575A02F7}"/>
                  </a:ext>
                </a:extLst>
              </p:cNvPr>
              <p:cNvSpPr/>
              <p:nvPr/>
            </p:nvSpPr>
            <p:spPr>
              <a:xfrm>
                <a:off x="6521450" y="1339129"/>
                <a:ext cx="404689" cy="641430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2178A34A-C669-CEDC-2764-5B7B9A954E8C}"/>
                  </a:ext>
                </a:extLst>
              </p:cNvPr>
              <p:cNvSpPr/>
              <p:nvPr/>
            </p:nvSpPr>
            <p:spPr>
              <a:xfrm>
                <a:off x="6769139" y="1121124"/>
                <a:ext cx="404689" cy="861658"/>
              </a:xfrm>
              <a:prstGeom prst="triangl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Isosceles Triangle 36">
                <a:extLst>
                  <a:ext uri="{FF2B5EF4-FFF2-40B4-BE49-F238E27FC236}">
                    <a16:creationId xmlns:a16="http://schemas.microsoft.com/office/drawing/2014/main" id="{DDCC7482-2CFF-8EA6-D652-9E874E108782}"/>
                  </a:ext>
                </a:extLst>
              </p:cNvPr>
              <p:cNvSpPr/>
              <p:nvPr/>
            </p:nvSpPr>
            <p:spPr>
              <a:xfrm>
                <a:off x="7061341" y="1339129"/>
                <a:ext cx="404689" cy="641430"/>
              </a:xfrm>
              <a:prstGeom prst="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12B1E3C-9A7B-C21B-63A4-A200D42C627C}"/>
                </a:ext>
              </a:extLst>
            </p:cNvPr>
            <p:cNvGrpSpPr/>
            <p:nvPr/>
          </p:nvGrpSpPr>
          <p:grpSpPr>
            <a:xfrm>
              <a:off x="7654029" y="1938411"/>
              <a:ext cx="742923" cy="330110"/>
              <a:chOff x="6456988" y="1864900"/>
              <a:chExt cx="1355838" cy="41987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51119FF-C0F4-56DD-AFCD-E732FC6F8F25}"/>
                  </a:ext>
                </a:extLst>
              </p:cNvPr>
              <p:cNvSpPr/>
              <p:nvPr/>
            </p:nvSpPr>
            <p:spPr>
              <a:xfrm>
                <a:off x="6457950" y="1864900"/>
                <a:ext cx="1346311" cy="7145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59D8452-7D37-5650-2A27-94FD59C0AA35}"/>
                  </a:ext>
                </a:extLst>
              </p:cNvPr>
              <p:cNvSpPr/>
              <p:nvPr/>
            </p:nvSpPr>
            <p:spPr>
              <a:xfrm>
                <a:off x="6456988" y="1983896"/>
                <a:ext cx="789777" cy="686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C27DBA2-E315-F763-2919-0A9B2B01262B}"/>
                  </a:ext>
                </a:extLst>
              </p:cNvPr>
              <p:cNvSpPr/>
              <p:nvPr/>
            </p:nvSpPr>
            <p:spPr>
              <a:xfrm>
                <a:off x="7285102" y="1982084"/>
                <a:ext cx="518621" cy="686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D55867A-573F-6EF0-279E-2FBA7B87500E}"/>
                  </a:ext>
                </a:extLst>
              </p:cNvPr>
              <p:cNvSpPr/>
              <p:nvPr/>
            </p:nvSpPr>
            <p:spPr>
              <a:xfrm>
                <a:off x="6457412" y="2093625"/>
                <a:ext cx="1346311" cy="7145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F6510A7-521F-F619-2FB6-D557B19AB64D}"/>
                  </a:ext>
                </a:extLst>
              </p:cNvPr>
              <p:cNvSpPr/>
              <p:nvPr/>
            </p:nvSpPr>
            <p:spPr>
              <a:xfrm rot="10800000">
                <a:off x="7023049" y="2211456"/>
                <a:ext cx="789777" cy="686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FDC4155-B6C4-A9F7-5723-4BFCF7E05000}"/>
                  </a:ext>
                </a:extLst>
              </p:cNvPr>
              <p:cNvSpPr/>
              <p:nvPr/>
            </p:nvSpPr>
            <p:spPr>
              <a:xfrm rot="10800000">
                <a:off x="6456988" y="2216151"/>
                <a:ext cx="518621" cy="686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3" name="Graphic 52" descr="Television with solid fill">
            <a:extLst>
              <a:ext uri="{FF2B5EF4-FFF2-40B4-BE49-F238E27FC236}">
                <a16:creationId xmlns:a16="http://schemas.microsoft.com/office/drawing/2014/main" id="{E89FDDB1-9E3F-D9A9-A83F-7F0B580342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5090" y="1567327"/>
            <a:ext cx="1669245" cy="1546752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E489FE90-D5F7-78BD-3603-973BA565A421}"/>
              </a:ext>
            </a:extLst>
          </p:cNvPr>
          <p:cNvSpPr/>
          <p:nvPr/>
        </p:nvSpPr>
        <p:spPr>
          <a:xfrm>
            <a:off x="9716580" y="1267305"/>
            <a:ext cx="1579880" cy="49611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INS Public Website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7F1F2F-68F4-246B-6EB3-77FE8371538F}"/>
              </a:ext>
            </a:extLst>
          </p:cNvPr>
          <p:cNvSpPr txBox="1"/>
          <p:nvPr/>
        </p:nvSpPr>
        <p:spPr>
          <a:xfrm>
            <a:off x="536541" y="1647567"/>
            <a:ext cx="2590040" cy="70788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1200" dirty="0"/>
              <a:t>Community Surveillance</a:t>
            </a:r>
          </a:p>
          <a:p>
            <a:pPr algn="l"/>
            <a:r>
              <a:rPr lang="en-US" sz="1200" dirty="0"/>
              <a:t>Hospital Based Surveillance</a:t>
            </a:r>
          </a:p>
          <a:p>
            <a:pPr algn="l"/>
            <a:r>
              <a:rPr lang="en-US" sz="1200" dirty="0"/>
              <a:t>Environmental Surveillance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6FAA43-A898-7DB3-EB82-EDB547168992}"/>
              </a:ext>
            </a:extLst>
          </p:cNvPr>
          <p:cNvSpPr txBox="1"/>
          <p:nvPr/>
        </p:nvSpPr>
        <p:spPr>
          <a:xfrm>
            <a:off x="703915" y="5952082"/>
            <a:ext cx="2213648" cy="9059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 sz="11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200" dirty="0"/>
              <a:t>Serology</a:t>
            </a:r>
          </a:p>
          <a:p>
            <a:r>
              <a:rPr lang="en-US" sz="1200" dirty="0"/>
              <a:t>Microbiology</a:t>
            </a:r>
          </a:p>
          <a:p>
            <a:r>
              <a:rPr lang="en-US" sz="1200" dirty="0"/>
              <a:t>PCR</a:t>
            </a:r>
          </a:p>
          <a:p>
            <a:r>
              <a:rPr lang="en-US" sz="1200" dirty="0"/>
              <a:t>Genomic Surveillance</a:t>
            </a:r>
          </a:p>
          <a:p>
            <a:pPr lvl="1"/>
            <a:r>
              <a:rPr lang="en-US" sz="1200" dirty="0"/>
              <a:t>(PCR and Sequencing)</a:t>
            </a:r>
          </a:p>
        </p:txBody>
      </p:sp>
      <p:pic>
        <p:nvPicPr>
          <p:cNvPr id="4" name="Picture 9" descr="Graphical user interface&#10;&#10;Description automatically generated">
            <a:extLst>
              <a:ext uri="{FF2B5EF4-FFF2-40B4-BE49-F238E27FC236}">
                <a16:creationId xmlns:a16="http://schemas.microsoft.com/office/drawing/2014/main" id="{89D10B57-50BB-4D38-2429-D509CBFBB48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68791" y="3598781"/>
            <a:ext cx="5571058" cy="31308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40859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73E58-56E8-AF5A-9BCC-484528025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3800E0D-D46D-4E4E-2BE3-946E39D33656}"/>
              </a:ext>
            </a:extLst>
          </p:cNvPr>
          <p:cNvSpPr txBox="1">
            <a:spLocks/>
          </p:cNvSpPr>
          <p:nvPr/>
        </p:nvSpPr>
        <p:spPr bwMode="auto">
          <a:xfrm>
            <a:off x="718457" y="952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GB" dirty="0"/>
              <a:t>IDS information systems</a:t>
            </a:r>
            <a:endParaRPr lang="en-GB" sz="1800" dirty="0">
              <a:highlight>
                <a:srgbClr val="FFFF00"/>
              </a:highlight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983698B-5FF3-05ED-851A-DDECA0AE9151}"/>
              </a:ext>
            </a:extLst>
          </p:cNvPr>
          <p:cNvSpPr/>
          <p:nvPr/>
        </p:nvSpPr>
        <p:spPr>
          <a:xfrm>
            <a:off x="9795819" y="4258522"/>
            <a:ext cx="1474231" cy="7617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B14468-4A7E-241A-D925-82C118B71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0FC4160-1C82-0BBA-AB3D-BD1B761F5079}"/>
              </a:ext>
            </a:extLst>
          </p:cNvPr>
          <p:cNvSpPr/>
          <p:nvPr/>
        </p:nvSpPr>
        <p:spPr>
          <a:xfrm>
            <a:off x="3059313" y="2528325"/>
            <a:ext cx="3960090" cy="2402087"/>
          </a:xfrm>
          <a:custGeom>
            <a:avLst/>
            <a:gdLst>
              <a:gd name="connsiteX0" fmla="*/ 2537651 w 5099050"/>
              <a:gd name="connsiteY0" fmla="*/ 0 h 2676698"/>
              <a:gd name="connsiteX1" fmla="*/ 3303225 w 5099050"/>
              <a:gd name="connsiteY1" fmla="*/ 623961 h 2676698"/>
              <a:gd name="connsiteX2" fmla="*/ 3305055 w 5099050"/>
              <a:gd name="connsiteY2" fmla="*/ 642114 h 2676698"/>
              <a:gd name="connsiteX3" fmla="*/ 3319370 w 5099050"/>
              <a:gd name="connsiteY3" fmla="*/ 624395 h 2676698"/>
              <a:gd name="connsiteX4" fmla="*/ 3649143 w 5099050"/>
              <a:gd name="connsiteY4" fmla="*/ 484905 h 2676698"/>
              <a:gd name="connsiteX5" fmla="*/ 4106037 w 5099050"/>
              <a:gd name="connsiteY5" fmla="*/ 865174 h 2676698"/>
              <a:gd name="connsiteX6" fmla="*/ 4114109 w 5099050"/>
              <a:gd name="connsiteY6" fmla="*/ 946938 h 2676698"/>
              <a:gd name="connsiteX7" fmla="*/ 4132216 w 5099050"/>
              <a:gd name="connsiteY7" fmla="*/ 941199 h 2676698"/>
              <a:gd name="connsiteX8" fmla="*/ 4226205 w 5099050"/>
              <a:gd name="connsiteY8" fmla="*/ 931523 h 2676698"/>
              <a:gd name="connsiteX9" fmla="*/ 4655924 w 5099050"/>
              <a:gd name="connsiteY9" fmla="*/ 1222395 h 2676698"/>
              <a:gd name="connsiteX10" fmla="*/ 4679257 w 5099050"/>
              <a:gd name="connsiteY10" fmla="*/ 1299153 h 2676698"/>
              <a:gd name="connsiteX11" fmla="*/ 4726670 w 5099050"/>
              <a:gd name="connsiteY11" fmla="*/ 1304034 h 2676698"/>
              <a:gd name="connsiteX12" fmla="*/ 5099050 w 5099050"/>
              <a:gd name="connsiteY12" fmla="*/ 1770608 h 2676698"/>
              <a:gd name="connsiteX13" fmla="*/ 4632681 w 5099050"/>
              <a:gd name="connsiteY13" fmla="*/ 2246858 h 2676698"/>
              <a:gd name="connsiteX14" fmla="*/ 4302909 w 5099050"/>
              <a:gd name="connsiteY14" fmla="*/ 2107368 h 2676698"/>
              <a:gd name="connsiteX15" fmla="*/ 4279257 w 5099050"/>
              <a:gd name="connsiteY15" fmla="*/ 2078094 h 2676698"/>
              <a:gd name="connsiteX16" fmla="*/ 4272885 w 5099050"/>
              <a:gd name="connsiteY16" fmla="*/ 2141299 h 2676698"/>
              <a:gd name="connsiteX17" fmla="*/ 3767631 w 5099050"/>
              <a:gd name="connsiteY17" fmla="*/ 2553093 h 2676698"/>
              <a:gd name="connsiteX18" fmla="*/ 3339978 w 5099050"/>
              <a:gd name="connsiteY18" fmla="*/ 2325712 h 2676698"/>
              <a:gd name="connsiteX19" fmla="*/ 3338416 w 5099050"/>
              <a:gd name="connsiteY19" fmla="*/ 2322834 h 2676698"/>
              <a:gd name="connsiteX20" fmla="*/ 3329373 w 5099050"/>
              <a:gd name="connsiteY20" fmla="*/ 2351963 h 2676698"/>
              <a:gd name="connsiteX21" fmla="*/ 2854170 w 5099050"/>
              <a:gd name="connsiteY21" fmla="*/ 2666949 h 2676698"/>
              <a:gd name="connsiteX22" fmla="*/ 2489493 w 5099050"/>
              <a:gd name="connsiteY22" fmla="*/ 2515895 h 2676698"/>
              <a:gd name="connsiteX23" fmla="*/ 2489073 w 5099050"/>
              <a:gd name="connsiteY23" fmla="*/ 2515386 h 2676698"/>
              <a:gd name="connsiteX24" fmla="*/ 2480610 w 5099050"/>
              <a:gd name="connsiteY24" fmla="*/ 2525644 h 2676698"/>
              <a:gd name="connsiteX25" fmla="*/ 2115932 w 5099050"/>
              <a:gd name="connsiteY25" fmla="*/ 2676698 h 2676698"/>
              <a:gd name="connsiteX26" fmla="*/ 1640729 w 5099050"/>
              <a:gd name="connsiteY26" fmla="*/ 2361712 h 2676698"/>
              <a:gd name="connsiteX27" fmla="*/ 1636381 w 5099050"/>
              <a:gd name="connsiteY27" fmla="*/ 2347705 h 2676698"/>
              <a:gd name="connsiteX28" fmla="*/ 1613110 w 5099050"/>
              <a:gd name="connsiteY28" fmla="*/ 2375909 h 2676698"/>
              <a:gd name="connsiteX29" fmla="*/ 1276350 w 5099050"/>
              <a:gd name="connsiteY29" fmla="*/ 2515399 h 2676698"/>
              <a:gd name="connsiteX30" fmla="*/ 809776 w 5099050"/>
              <a:gd name="connsiteY30" fmla="*/ 2135130 h 2676698"/>
              <a:gd name="connsiteX31" fmla="*/ 807410 w 5099050"/>
              <a:gd name="connsiteY31" fmla="*/ 2111661 h 2676698"/>
              <a:gd name="connsiteX32" fmla="*/ 796469 w 5099050"/>
              <a:gd name="connsiteY32" fmla="*/ 2123136 h 2676698"/>
              <a:gd name="connsiteX33" fmla="*/ 476250 w 5099050"/>
              <a:gd name="connsiteY33" fmla="*/ 2246857 h 2676698"/>
              <a:gd name="connsiteX34" fmla="*/ 0 w 5099050"/>
              <a:gd name="connsiteY34" fmla="*/ 1770607 h 2676698"/>
              <a:gd name="connsiteX35" fmla="*/ 290872 w 5099050"/>
              <a:gd name="connsiteY35" fmla="*/ 1331783 h 2676698"/>
              <a:gd name="connsiteX36" fmla="*/ 344632 w 5099050"/>
              <a:gd name="connsiteY36" fmla="*/ 1315095 h 2676698"/>
              <a:gd name="connsiteX37" fmla="*/ 361276 w 5099050"/>
              <a:gd name="connsiteY37" fmla="*/ 1261477 h 2676698"/>
              <a:gd name="connsiteX38" fmla="*/ 800100 w 5099050"/>
              <a:gd name="connsiteY38" fmla="*/ 970605 h 2676698"/>
              <a:gd name="connsiteX39" fmla="*/ 885694 w 5099050"/>
              <a:gd name="connsiteY39" fmla="*/ 979234 h 2676698"/>
              <a:gd name="connsiteX40" fmla="*/ 888027 w 5099050"/>
              <a:gd name="connsiteY40" fmla="*/ 956088 h 2676698"/>
              <a:gd name="connsiteX41" fmla="*/ 1453590 w 5099050"/>
              <a:gd name="connsiteY41" fmla="*/ 495141 h 2676698"/>
              <a:gd name="connsiteX42" fmla="*/ 1776359 w 5099050"/>
              <a:gd name="connsiteY42" fmla="*/ 593733 h 2676698"/>
              <a:gd name="connsiteX43" fmla="*/ 1780420 w 5099050"/>
              <a:gd name="connsiteY43" fmla="*/ 597084 h 2676698"/>
              <a:gd name="connsiteX44" fmla="*/ 1817611 w 5099050"/>
              <a:gd name="connsiteY44" fmla="*/ 477274 h 2676698"/>
              <a:gd name="connsiteX45" fmla="*/ 2537651 w 5099050"/>
              <a:gd name="connsiteY45" fmla="*/ 0 h 2676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099050" h="2676698">
                <a:moveTo>
                  <a:pt x="2537651" y="0"/>
                </a:moveTo>
                <a:cubicBezTo>
                  <a:pt x="2915286" y="0"/>
                  <a:pt x="3230357" y="267867"/>
                  <a:pt x="3303225" y="623961"/>
                </a:cubicBezTo>
                <a:lnTo>
                  <a:pt x="3305055" y="642114"/>
                </a:lnTo>
                <a:lnTo>
                  <a:pt x="3319370" y="624395"/>
                </a:lnTo>
                <a:cubicBezTo>
                  <a:pt x="3403767" y="538211"/>
                  <a:pt x="3520359" y="484905"/>
                  <a:pt x="3649143" y="484905"/>
                </a:cubicBezTo>
                <a:cubicBezTo>
                  <a:pt x="3874515" y="484905"/>
                  <a:pt x="4062550" y="648155"/>
                  <a:pt x="4106037" y="865174"/>
                </a:cubicBezTo>
                <a:lnTo>
                  <a:pt x="4114109" y="946938"/>
                </a:lnTo>
                <a:lnTo>
                  <a:pt x="4132216" y="941199"/>
                </a:lnTo>
                <a:cubicBezTo>
                  <a:pt x="4162575" y="934855"/>
                  <a:pt x="4194009" y="931523"/>
                  <a:pt x="4226205" y="931523"/>
                </a:cubicBezTo>
                <a:cubicBezTo>
                  <a:pt x="4419381" y="931523"/>
                  <a:pt x="4585126" y="1051461"/>
                  <a:pt x="4655924" y="1222395"/>
                </a:cubicBezTo>
                <a:lnTo>
                  <a:pt x="4679257" y="1299153"/>
                </a:lnTo>
                <a:lnTo>
                  <a:pt x="4726670" y="1304034"/>
                </a:lnTo>
                <a:cubicBezTo>
                  <a:pt x="4939187" y="1348442"/>
                  <a:pt x="5099050" y="1540460"/>
                  <a:pt x="5099050" y="1770608"/>
                </a:cubicBezTo>
                <a:cubicBezTo>
                  <a:pt x="5099050" y="2033634"/>
                  <a:pt x="4890249" y="2246858"/>
                  <a:pt x="4632681" y="2246858"/>
                </a:cubicBezTo>
                <a:cubicBezTo>
                  <a:pt x="4503897" y="2246858"/>
                  <a:pt x="4387305" y="2193552"/>
                  <a:pt x="4302909" y="2107368"/>
                </a:cubicBezTo>
                <a:lnTo>
                  <a:pt x="4279257" y="2078094"/>
                </a:lnTo>
                <a:lnTo>
                  <a:pt x="4272885" y="2141299"/>
                </a:lnTo>
                <a:cubicBezTo>
                  <a:pt x="4224795" y="2376310"/>
                  <a:pt x="4016858" y="2553093"/>
                  <a:pt x="3767631" y="2553093"/>
                </a:cubicBezTo>
                <a:cubicBezTo>
                  <a:pt x="3589612" y="2553093"/>
                  <a:pt x="3432659" y="2462898"/>
                  <a:pt x="3339978" y="2325712"/>
                </a:cubicBezTo>
                <a:lnTo>
                  <a:pt x="3338416" y="2322834"/>
                </a:lnTo>
                <a:lnTo>
                  <a:pt x="3329373" y="2351963"/>
                </a:lnTo>
                <a:cubicBezTo>
                  <a:pt x="3251081" y="2537067"/>
                  <a:pt x="3067793" y="2666949"/>
                  <a:pt x="2854170" y="2666949"/>
                </a:cubicBezTo>
                <a:cubicBezTo>
                  <a:pt x="2711755" y="2666949"/>
                  <a:pt x="2582822" y="2609224"/>
                  <a:pt x="2489493" y="2515895"/>
                </a:cubicBezTo>
                <a:lnTo>
                  <a:pt x="2489073" y="2515386"/>
                </a:lnTo>
                <a:lnTo>
                  <a:pt x="2480610" y="2525644"/>
                </a:lnTo>
                <a:cubicBezTo>
                  <a:pt x="2387281" y="2618973"/>
                  <a:pt x="2258348" y="2676698"/>
                  <a:pt x="2115932" y="2676698"/>
                </a:cubicBezTo>
                <a:cubicBezTo>
                  <a:pt x="1902309" y="2676698"/>
                  <a:pt x="1719021" y="2546816"/>
                  <a:pt x="1640729" y="2361712"/>
                </a:cubicBezTo>
                <a:lnTo>
                  <a:pt x="1636381" y="2347705"/>
                </a:lnTo>
                <a:lnTo>
                  <a:pt x="1613110" y="2375909"/>
                </a:lnTo>
                <a:cubicBezTo>
                  <a:pt x="1526926" y="2462093"/>
                  <a:pt x="1407863" y="2515399"/>
                  <a:pt x="1276350" y="2515399"/>
                </a:cubicBezTo>
                <a:cubicBezTo>
                  <a:pt x="1046203" y="2515399"/>
                  <a:pt x="854184" y="2352150"/>
                  <a:pt x="809776" y="2135130"/>
                </a:cubicBezTo>
                <a:lnTo>
                  <a:pt x="807410" y="2111661"/>
                </a:lnTo>
                <a:lnTo>
                  <a:pt x="796469" y="2123136"/>
                </a:lnTo>
                <a:cubicBezTo>
                  <a:pt x="711893" y="2200006"/>
                  <a:pt x="599543" y="2246857"/>
                  <a:pt x="476250" y="2246857"/>
                </a:cubicBezTo>
                <a:cubicBezTo>
                  <a:pt x="213224" y="2246857"/>
                  <a:pt x="0" y="2033633"/>
                  <a:pt x="0" y="1770607"/>
                </a:cubicBezTo>
                <a:cubicBezTo>
                  <a:pt x="0" y="1573338"/>
                  <a:pt x="119938" y="1404082"/>
                  <a:pt x="290872" y="1331783"/>
                </a:cubicBezTo>
                <a:lnTo>
                  <a:pt x="344632" y="1315095"/>
                </a:lnTo>
                <a:lnTo>
                  <a:pt x="361276" y="1261477"/>
                </a:lnTo>
                <a:cubicBezTo>
                  <a:pt x="433574" y="1090544"/>
                  <a:pt x="602830" y="970605"/>
                  <a:pt x="800100" y="970605"/>
                </a:cubicBezTo>
                <a:lnTo>
                  <a:pt x="885694" y="979234"/>
                </a:lnTo>
                <a:lnTo>
                  <a:pt x="888027" y="956088"/>
                </a:lnTo>
                <a:cubicBezTo>
                  <a:pt x="941858" y="693026"/>
                  <a:pt x="1174614" y="495141"/>
                  <a:pt x="1453590" y="495141"/>
                </a:cubicBezTo>
                <a:cubicBezTo>
                  <a:pt x="1573151" y="495141"/>
                  <a:pt x="1684222" y="531487"/>
                  <a:pt x="1776359" y="593733"/>
                </a:cubicBezTo>
                <a:lnTo>
                  <a:pt x="1780420" y="597084"/>
                </a:lnTo>
                <a:lnTo>
                  <a:pt x="1817611" y="477274"/>
                </a:lnTo>
                <a:cubicBezTo>
                  <a:pt x="1936242" y="196800"/>
                  <a:pt x="2213964" y="0"/>
                  <a:pt x="2537651" y="0"/>
                </a:cubicBezTo>
                <a:close/>
              </a:path>
            </a:pathLst>
          </a:custGeom>
          <a:solidFill>
            <a:srgbClr val="0087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C4F2D34-86EB-8A01-F363-85F49193FAC6}"/>
              </a:ext>
            </a:extLst>
          </p:cNvPr>
          <p:cNvGrpSpPr/>
          <p:nvPr/>
        </p:nvGrpSpPr>
        <p:grpSpPr>
          <a:xfrm>
            <a:off x="678183" y="2296148"/>
            <a:ext cx="1302449" cy="1094306"/>
            <a:chOff x="2949307" y="3268087"/>
            <a:chExt cx="622352" cy="789206"/>
          </a:xfrm>
        </p:grpSpPr>
        <p:pic>
          <p:nvPicPr>
            <p:cNvPr id="21" name="Graphic 20" descr="Tablet with solid fill">
              <a:extLst>
                <a:ext uri="{FF2B5EF4-FFF2-40B4-BE49-F238E27FC236}">
                  <a16:creationId xmlns:a16="http://schemas.microsoft.com/office/drawing/2014/main" id="{9358AB08-7254-2C35-283E-816CD93F2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49307" y="3268087"/>
              <a:ext cx="616428" cy="639586"/>
            </a:xfrm>
            <a:prstGeom prst="rect">
              <a:avLst/>
            </a:prstGeom>
          </p:spPr>
        </p:pic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277B701-AD28-9C1B-D9A0-EB4A3B74B595}"/>
                </a:ext>
              </a:extLst>
            </p:cNvPr>
            <p:cNvSpPr/>
            <p:nvPr/>
          </p:nvSpPr>
          <p:spPr>
            <a:xfrm rot="1414499">
              <a:off x="3263929" y="3716791"/>
              <a:ext cx="307730" cy="340502"/>
            </a:xfrm>
            <a:custGeom>
              <a:avLst/>
              <a:gdLst>
                <a:gd name="connsiteX0" fmla="*/ 568600 w 586697"/>
                <a:gd name="connsiteY0" fmla="*/ 507255 h 649177"/>
                <a:gd name="connsiteX1" fmla="*/ 557170 w 586697"/>
                <a:gd name="connsiteY1" fmla="*/ 313897 h 649177"/>
                <a:gd name="connsiteX2" fmla="*/ 493353 w 586697"/>
                <a:gd name="connsiteY2" fmla="*/ 172927 h 649177"/>
                <a:gd name="connsiteX3" fmla="*/ 424773 w 586697"/>
                <a:gd name="connsiteY3" fmla="*/ 147210 h 649177"/>
                <a:gd name="connsiteX4" fmla="*/ 399055 w 586697"/>
                <a:gd name="connsiteY4" fmla="*/ 171975 h 649177"/>
                <a:gd name="connsiteX5" fmla="*/ 397150 w 586697"/>
                <a:gd name="connsiteY5" fmla="*/ 171975 h 649177"/>
                <a:gd name="connsiteX6" fmla="*/ 389530 w 586697"/>
                <a:gd name="connsiteY6" fmla="*/ 159592 h 649177"/>
                <a:gd name="connsiteX7" fmla="*/ 350478 w 586697"/>
                <a:gd name="connsiteY7" fmla="*/ 139590 h 649177"/>
                <a:gd name="connsiteX8" fmla="*/ 300948 w 586697"/>
                <a:gd name="connsiteY8" fmla="*/ 171022 h 649177"/>
                <a:gd name="connsiteX9" fmla="*/ 299043 w 586697"/>
                <a:gd name="connsiteY9" fmla="*/ 171022 h 649177"/>
                <a:gd name="connsiteX10" fmla="*/ 227605 w 586697"/>
                <a:gd name="connsiteY10" fmla="*/ 162450 h 649177"/>
                <a:gd name="connsiteX11" fmla="*/ 210460 w 586697"/>
                <a:gd name="connsiteY11" fmla="*/ 210075 h 649177"/>
                <a:gd name="connsiteX12" fmla="*/ 209508 w 586697"/>
                <a:gd name="connsiteY12" fmla="*/ 210075 h 649177"/>
                <a:gd name="connsiteX13" fmla="*/ 127593 w 586697"/>
                <a:gd name="connsiteY13" fmla="*/ 27195 h 649177"/>
                <a:gd name="connsiteX14" fmla="*/ 70443 w 586697"/>
                <a:gd name="connsiteY14" fmla="*/ 3382 h 649177"/>
                <a:gd name="connsiteX15" fmla="*/ 46630 w 586697"/>
                <a:gd name="connsiteY15" fmla="*/ 60532 h 649177"/>
                <a:gd name="connsiteX16" fmla="*/ 47583 w 586697"/>
                <a:gd name="connsiteY16" fmla="*/ 62437 h 649177"/>
                <a:gd name="connsiteX17" fmla="*/ 212365 w 586697"/>
                <a:gd name="connsiteY17" fmla="*/ 431055 h 649177"/>
                <a:gd name="connsiteX18" fmla="*/ 186648 w 586697"/>
                <a:gd name="connsiteY18" fmla="*/ 436770 h 649177"/>
                <a:gd name="connsiteX19" fmla="*/ 70443 w 586697"/>
                <a:gd name="connsiteY19" fmla="*/ 356760 h 649177"/>
                <a:gd name="connsiteX20" fmla="*/ 10435 w 586697"/>
                <a:gd name="connsiteY20" fmla="*/ 363427 h 649177"/>
                <a:gd name="connsiteX21" fmla="*/ 19008 w 586697"/>
                <a:gd name="connsiteY21" fmla="*/ 428197 h 649177"/>
                <a:gd name="connsiteX22" fmla="*/ 199983 w 586697"/>
                <a:gd name="connsiteY22" fmla="*/ 552022 h 649177"/>
                <a:gd name="connsiteX23" fmla="*/ 215223 w 586697"/>
                <a:gd name="connsiteY23" fmla="*/ 558690 h 649177"/>
                <a:gd name="connsiteX24" fmla="*/ 328570 w 586697"/>
                <a:gd name="connsiteY24" fmla="*/ 585360 h 649177"/>
                <a:gd name="connsiteX25" fmla="*/ 332380 w 586697"/>
                <a:gd name="connsiteY25" fmla="*/ 590122 h 649177"/>
                <a:gd name="connsiteX26" fmla="*/ 359050 w 586697"/>
                <a:gd name="connsiteY26" fmla="*/ 649177 h 649177"/>
                <a:gd name="connsiteX27" fmla="*/ 586698 w 586697"/>
                <a:gd name="connsiteY27" fmla="*/ 546307 h 649177"/>
                <a:gd name="connsiteX28" fmla="*/ 568600 w 586697"/>
                <a:gd name="connsiteY28" fmla="*/ 507255 h 649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6697" h="649177">
                  <a:moveTo>
                    <a:pt x="568600" y="507255"/>
                  </a:moveTo>
                  <a:cubicBezTo>
                    <a:pt x="543835" y="452010"/>
                    <a:pt x="604795" y="418672"/>
                    <a:pt x="557170" y="313897"/>
                  </a:cubicBezTo>
                  <a:cubicBezTo>
                    <a:pt x="545740" y="289132"/>
                    <a:pt x="508593" y="206265"/>
                    <a:pt x="493353" y="172927"/>
                  </a:cubicBezTo>
                  <a:cubicBezTo>
                    <a:pt x="481923" y="147210"/>
                    <a:pt x="451443" y="134827"/>
                    <a:pt x="424773" y="147210"/>
                  </a:cubicBezTo>
                  <a:cubicBezTo>
                    <a:pt x="413343" y="151972"/>
                    <a:pt x="404770" y="160545"/>
                    <a:pt x="399055" y="171975"/>
                  </a:cubicBezTo>
                  <a:cubicBezTo>
                    <a:pt x="399055" y="172927"/>
                    <a:pt x="398103" y="172927"/>
                    <a:pt x="397150" y="171975"/>
                  </a:cubicBezTo>
                  <a:cubicBezTo>
                    <a:pt x="395245" y="167212"/>
                    <a:pt x="393340" y="163402"/>
                    <a:pt x="389530" y="159592"/>
                  </a:cubicBezTo>
                  <a:cubicBezTo>
                    <a:pt x="380005" y="147210"/>
                    <a:pt x="365718" y="139590"/>
                    <a:pt x="350478" y="139590"/>
                  </a:cubicBezTo>
                  <a:cubicBezTo>
                    <a:pt x="328570" y="138637"/>
                    <a:pt x="309520" y="151972"/>
                    <a:pt x="300948" y="171022"/>
                  </a:cubicBezTo>
                  <a:cubicBezTo>
                    <a:pt x="300948" y="171975"/>
                    <a:pt x="299995" y="171975"/>
                    <a:pt x="299043" y="171022"/>
                  </a:cubicBezTo>
                  <a:cubicBezTo>
                    <a:pt x="281898" y="149115"/>
                    <a:pt x="250465" y="145305"/>
                    <a:pt x="227605" y="162450"/>
                  </a:cubicBezTo>
                  <a:cubicBezTo>
                    <a:pt x="214270" y="171975"/>
                    <a:pt x="206650" y="191025"/>
                    <a:pt x="210460" y="210075"/>
                  </a:cubicBezTo>
                  <a:cubicBezTo>
                    <a:pt x="210460" y="211027"/>
                    <a:pt x="209508" y="211027"/>
                    <a:pt x="209508" y="210075"/>
                  </a:cubicBezTo>
                  <a:lnTo>
                    <a:pt x="127593" y="27195"/>
                  </a:lnTo>
                  <a:cubicBezTo>
                    <a:pt x="118068" y="5287"/>
                    <a:pt x="92350" y="-6143"/>
                    <a:pt x="70443" y="3382"/>
                  </a:cubicBezTo>
                  <a:cubicBezTo>
                    <a:pt x="48535" y="12907"/>
                    <a:pt x="37105" y="38625"/>
                    <a:pt x="46630" y="60532"/>
                  </a:cubicBezTo>
                  <a:cubicBezTo>
                    <a:pt x="46630" y="61485"/>
                    <a:pt x="47583" y="61485"/>
                    <a:pt x="47583" y="62437"/>
                  </a:cubicBezTo>
                  <a:lnTo>
                    <a:pt x="212365" y="431055"/>
                  </a:lnTo>
                  <a:lnTo>
                    <a:pt x="186648" y="436770"/>
                  </a:lnTo>
                  <a:lnTo>
                    <a:pt x="70443" y="356760"/>
                  </a:lnTo>
                  <a:cubicBezTo>
                    <a:pt x="51393" y="343425"/>
                    <a:pt x="24723" y="346282"/>
                    <a:pt x="10435" y="363427"/>
                  </a:cubicBezTo>
                  <a:cubicBezTo>
                    <a:pt x="-6710" y="383430"/>
                    <a:pt x="-1947" y="413910"/>
                    <a:pt x="19008" y="428197"/>
                  </a:cubicBezTo>
                  <a:lnTo>
                    <a:pt x="199983" y="552022"/>
                  </a:lnTo>
                  <a:cubicBezTo>
                    <a:pt x="204745" y="554880"/>
                    <a:pt x="209508" y="557737"/>
                    <a:pt x="215223" y="558690"/>
                  </a:cubicBezTo>
                  <a:lnTo>
                    <a:pt x="328570" y="585360"/>
                  </a:lnTo>
                  <a:lnTo>
                    <a:pt x="332380" y="590122"/>
                  </a:lnTo>
                  <a:lnTo>
                    <a:pt x="359050" y="649177"/>
                  </a:lnTo>
                  <a:lnTo>
                    <a:pt x="586698" y="546307"/>
                  </a:lnTo>
                  <a:lnTo>
                    <a:pt x="568600" y="507255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D3921BA-DEF4-CACB-916A-76676D7CE229}"/>
              </a:ext>
            </a:extLst>
          </p:cNvPr>
          <p:cNvGrpSpPr/>
          <p:nvPr/>
        </p:nvGrpSpPr>
        <p:grpSpPr>
          <a:xfrm>
            <a:off x="3503879" y="3153419"/>
            <a:ext cx="1669245" cy="1546752"/>
            <a:chOff x="6096000" y="3775369"/>
            <a:chExt cx="1781400" cy="2062432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58E0B2A-F5C2-435A-8DED-73DB1BC2C038}"/>
                </a:ext>
              </a:extLst>
            </p:cNvPr>
            <p:cNvSpPr/>
            <p:nvPr/>
          </p:nvSpPr>
          <p:spPr>
            <a:xfrm>
              <a:off x="6238258" y="4154683"/>
              <a:ext cx="1573283" cy="101568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Graphic 2" descr="Television with solid fill">
              <a:extLst>
                <a:ext uri="{FF2B5EF4-FFF2-40B4-BE49-F238E27FC236}">
                  <a16:creationId xmlns:a16="http://schemas.microsoft.com/office/drawing/2014/main" id="{9BC98D48-964B-618B-7C71-16E395324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96000" y="3775369"/>
              <a:ext cx="1781400" cy="2062432"/>
            </a:xfrm>
            <a:prstGeom prst="rect">
              <a:avLst/>
            </a:prstGeom>
          </p:spPr>
        </p:pic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A4B7528E-5EE2-6499-7BF7-DF20C51D8C3E}"/>
              </a:ext>
            </a:extLst>
          </p:cNvPr>
          <p:cNvSpPr/>
          <p:nvPr/>
        </p:nvSpPr>
        <p:spPr>
          <a:xfrm>
            <a:off x="3612737" y="3431207"/>
            <a:ext cx="1474231" cy="7617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336AD1D4-CA32-709B-C432-61B55E7E3FFD}"/>
              </a:ext>
            </a:extLst>
          </p:cNvPr>
          <p:cNvGrpSpPr/>
          <p:nvPr/>
        </p:nvGrpSpPr>
        <p:grpSpPr>
          <a:xfrm>
            <a:off x="5199365" y="3149443"/>
            <a:ext cx="1669245" cy="1546752"/>
            <a:chOff x="10311795" y="3880355"/>
            <a:chExt cx="1669245" cy="1546752"/>
          </a:xfrm>
        </p:grpSpPr>
        <p:pic>
          <p:nvPicPr>
            <p:cNvPr id="50" name="Graphic 49" descr="Television with solid fill">
              <a:extLst>
                <a:ext uri="{FF2B5EF4-FFF2-40B4-BE49-F238E27FC236}">
                  <a16:creationId xmlns:a16="http://schemas.microsoft.com/office/drawing/2014/main" id="{E2E602E0-C209-729F-B53D-5F03F1519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311795" y="3880355"/>
              <a:ext cx="1669245" cy="1546752"/>
            </a:xfrm>
            <a:prstGeom prst="rect">
              <a:avLst/>
            </a:prstGeom>
          </p:spPr>
        </p:pic>
        <p:grpSp>
          <p:nvGrpSpPr>
            <p:cNvPr id="52" name="Graphic 299" descr="Bar chart with solid fill">
              <a:extLst>
                <a:ext uri="{FF2B5EF4-FFF2-40B4-BE49-F238E27FC236}">
                  <a16:creationId xmlns:a16="http://schemas.microsoft.com/office/drawing/2014/main" id="{B95F37B7-5123-D816-54EE-A6BEAD71B6CB}"/>
                </a:ext>
              </a:extLst>
            </p:cNvPr>
            <p:cNvGrpSpPr/>
            <p:nvPr/>
          </p:nvGrpSpPr>
          <p:grpSpPr>
            <a:xfrm>
              <a:off x="10762884" y="4261391"/>
              <a:ext cx="747477" cy="598247"/>
              <a:chOff x="7932105" y="2398826"/>
              <a:chExt cx="647700" cy="647700"/>
            </a:xfrm>
            <a:solidFill>
              <a:srgbClr val="000000"/>
            </a:solidFill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CE9EBFA5-635A-6E06-5587-2B033CBCE480}"/>
                  </a:ext>
                </a:extLst>
              </p:cNvPr>
              <p:cNvSpPr/>
              <p:nvPr/>
            </p:nvSpPr>
            <p:spPr>
              <a:xfrm>
                <a:off x="7932105" y="2398826"/>
                <a:ext cx="647700" cy="647700"/>
              </a:xfrm>
              <a:custGeom>
                <a:avLst/>
                <a:gdLst>
                  <a:gd name="connsiteX0" fmla="*/ 590550 w 647700"/>
                  <a:gd name="connsiteY0" fmla="*/ 0 h 647700"/>
                  <a:gd name="connsiteX1" fmla="*/ 647700 w 647700"/>
                  <a:gd name="connsiteY1" fmla="*/ 0 h 647700"/>
                  <a:gd name="connsiteX2" fmla="*/ 647700 w 647700"/>
                  <a:gd name="connsiteY2" fmla="*/ 647700 h 647700"/>
                  <a:gd name="connsiteX3" fmla="*/ 0 w 647700"/>
                  <a:gd name="connsiteY3" fmla="*/ 647700 h 647700"/>
                  <a:gd name="connsiteX4" fmla="*/ 0 w 647700"/>
                  <a:gd name="connsiteY4" fmla="*/ 590550 h 647700"/>
                  <a:gd name="connsiteX5" fmla="*/ 5905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90550" y="0"/>
                    </a:moveTo>
                    <a:lnTo>
                      <a:pt x="647700" y="0"/>
                    </a:lnTo>
                    <a:lnTo>
                      <a:pt x="647700" y="647700"/>
                    </a:lnTo>
                    <a:lnTo>
                      <a:pt x="0" y="647700"/>
                    </a:lnTo>
                    <a:lnTo>
                      <a:pt x="0" y="590550"/>
                    </a:lnTo>
                    <a:lnTo>
                      <a:pt x="590550" y="59055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3F60F896-1603-F3C4-B1ED-79B03982AE12}"/>
                  </a:ext>
                </a:extLst>
              </p:cNvPr>
              <p:cNvSpPr/>
              <p:nvPr/>
            </p:nvSpPr>
            <p:spPr>
              <a:xfrm>
                <a:off x="8360730" y="2598851"/>
                <a:ext cx="104775" cy="333375"/>
              </a:xfrm>
              <a:custGeom>
                <a:avLst/>
                <a:gdLst>
                  <a:gd name="connsiteX0" fmla="*/ 0 w 104775"/>
                  <a:gd name="connsiteY0" fmla="*/ 0 h 333375"/>
                  <a:gd name="connsiteX1" fmla="*/ 104775 w 104775"/>
                  <a:gd name="connsiteY1" fmla="*/ 0 h 333375"/>
                  <a:gd name="connsiteX2" fmla="*/ 104775 w 104775"/>
                  <a:gd name="connsiteY2" fmla="*/ 333375 h 333375"/>
                  <a:gd name="connsiteX3" fmla="*/ 0 w 104775"/>
                  <a:gd name="connsiteY3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333375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F03FF4E9-789F-2C14-C7A4-B25E14A9B0E2}"/>
                  </a:ext>
                </a:extLst>
              </p:cNvPr>
              <p:cNvSpPr/>
              <p:nvPr/>
            </p:nvSpPr>
            <p:spPr>
              <a:xfrm>
                <a:off x="8217855" y="2398826"/>
                <a:ext cx="104775" cy="533400"/>
              </a:xfrm>
              <a:custGeom>
                <a:avLst/>
                <a:gdLst>
                  <a:gd name="connsiteX0" fmla="*/ 0 w 104775"/>
                  <a:gd name="connsiteY0" fmla="*/ 0 h 533400"/>
                  <a:gd name="connsiteX1" fmla="*/ 104775 w 104775"/>
                  <a:gd name="connsiteY1" fmla="*/ 0 h 533400"/>
                  <a:gd name="connsiteX2" fmla="*/ 104775 w 104775"/>
                  <a:gd name="connsiteY2" fmla="*/ 533400 h 533400"/>
                  <a:gd name="connsiteX3" fmla="*/ 0 w 104775"/>
                  <a:gd name="connsiteY3" fmla="*/ 533400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533400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solidFill>
                <a:srgbClr val="00B0F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5FF11ED2-30B9-05C1-5213-DA8DFAC727FA}"/>
                  </a:ext>
                </a:extLst>
              </p:cNvPr>
              <p:cNvSpPr/>
              <p:nvPr/>
            </p:nvSpPr>
            <p:spPr>
              <a:xfrm>
                <a:off x="8074980" y="2598851"/>
                <a:ext cx="104775" cy="333375"/>
              </a:xfrm>
              <a:custGeom>
                <a:avLst/>
                <a:gdLst>
                  <a:gd name="connsiteX0" fmla="*/ 0 w 104775"/>
                  <a:gd name="connsiteY0" fmla="*/ 0 h 333375"/>
                  <a:gd name="connsiteX1" fmla="*/ 104775 w 104775"/>
                  <a:gd name="connsiteY1" fmla="*/ 0 h 333375"/>
                  <a:gd name="connsiteX2" fmla="*/ 104775 w 104775"/>
                  <a:gd name="connsiteY2" fmla="*/ 333375 h 333375"/>
                  <a:gd name="connsiteX3" fmla="*/ 0 w 104775"/>
                  <a:gd name="connsiteY3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333375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0070C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D12A4B8-64CB-066B-3F76-13E62B962108}"/>
                  </a:ext>
                </a:extLst>
              </p:cNvPr>
              <p:cNvSpPr/>
              <p:nvPr/>
            </p:nvSpPr>
            <p:spPr>
              <a:xfrm>
                <a:off x="7932105" y="2760776"/>
                <a:ext cx="104775" cy="171450"/>
              </a:xfrm>
              <a:custGeom>
                <a:avLst/>
                <a:gdLst>
                  <a:gd name="connsiteX0" fmla="*/ 0 w 104775"/>
                  <a:gd name="connsiteY0" fmla="*/ 0 h 171450"/>
                  <a:gd name="connsiteX1" fmla="*/ 104775 w 104775"/>
                  <a:gd name="connsiteY1" fmla="*/ 0 h 171450"/>
                  <a:gd name="connsiteX2" fmla="*/ 104775 w 104775"/>
                  <a:gd name="connsiteY2" fmla="*/ 171450 h 171450"/>
                  <a:gd name="connsiteX3" fmla="*/ 0 w 104775"/>
                  <a:gd name="connsiteY3" fmla="*/ 171450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171450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75" name="Oval 74">
            <a:extLst>
              <a:ext uri="{FF2B5EF4-FFF2-40B4-BE49-F238E27FC236}">
                <a16:creationId xmlns:a16="http://schemas.microsoft.com/office/drawing/2014/main" id="{FB426611-9BF5-3443-342F-5E3EDA03CCDB}"/>
              </a:ext>
            </a:extLst>
          </p:cNvPr>
          <p:cNvSpPr/>
          <p:nvPr/>
        </p:nvSpPr>
        <p:spPr>
          <a:xfrm>
            <a:off x="4316146" y="3532877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5FD7A97F-2B80-B1C4-0B35-4BCD75AEC60C}"/>
              </a:ext>
            </a:extLst>
          </p:cNvPr>
          <p:cNvSpPr/>
          <p:nvPr/>
        </p:nvSpPr>
        <p:spPr>
          <a:xfrm>
            <a:off x="4152611" y="3616607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E789959-1AC2-2C9D-73D0-4018C15F3F13}"/>
              </a:ext>
            </a:extLst>
          </p:cNvPr>
          <p:cNvSpPr/>
          <p:nvPr/>
        </p:nvSpPr>
        <p:spPr>
          <a:xfrm>
            <a:off x="4256142" y="3812072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2241116-DCBA-475C-AFB3-0B42652CB72E}"/>
              </a:ext>
            </a:extLst>
          </p:cNvPr>
          <p:cNvSpPr/>
          <p:nvPr/>
        </p:nvSpPr>
        <p:spPr>
          <a:xfrm>
            <a:off x="3803069" y="3894416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1D1AFE9-91CA-E9F8-3B6B-617E4098B839}"/>
              </a:ext>
            </a:extLst>
          </p:cNvPr>
          <p:cNvSpPr/>
          <p:nvPr/>
        </p:nvSpPr>
        <p:spPr>
          <a:xfrm>
            <a:off x="4037368" y="3894780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1A0C17E-AD83-C3D5-028E-5961606754D6}"/>
              </a:ext>
            </a:extLst>
          </p:cNvPr>
          <p:cNvSpPr/>
          <p:nvPr/>
        </p:nvSpPr>
        <p:spPr>
          <a:xfrm>
            <a:off x="4621033" y="3870128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6756CC9-C134-B65A-9F88-821D15A37168}"/>
              </a:ext>
            </a:extLst>
          </p:cNvPr>
          <p:cNvSpPr/>
          <p:nvPr/>
        </p:nvSpPr>
        <p:spPr>
          <a:xfrm>
            <a:off x="4409166" y="3880963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26C3E50-DB56-4CC8-80F3-4CB9FC550AF1}"/>
              </a:ext>
            </a:extLst>
          </p:cNvPr>
          <p:cNvCxnSpPr>
            <a:stCxn id="76" idx="4"/>
            <a:endCxn id="82" idx="0"/>
          </p:cNvCxnSpPr>
          <p:nvPr/>
        </p:nvCxnSpPr>
        <p:spPr>
          <a:xfrm flipH="1">
            <a:off x="3868973" y="3748415"/>
            <a:ext cx="349542" cy="1460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F6F7B1D-2BF0-ADB6-46EA-51717EC1B837}"/>
              </a:ext>
            </a:extLst>
          </p:cNvPr>
          <p:cNvCxnSpPr>
            <a:cxnSpLocks/>
          </p:cNvCxnSpPr>
          <p:nvPr/>
        </p:nvCxnSpPr>
        <p:spPr>
          <a:xfrm flipH="1" flipV="1">
            <a:off x="4080920" y="3830443"/>
            <a:ext cx="775515" cy="1609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496644C-85DC-A6E3-1EB2-E0AFC8E85311}"/>
              </a:ext>
            </a:extLst>
          </p:cNvPr>
          <p:cNvCxnSpPr/>
          <p:nvPr/>
        </p:nvCxnSpPr>
        <p:spPr>
          <a:xfrm>
            <a:off x="6854110" y="3791675"/>
            <a:ext cx="0" cy="806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1DB867C-EE64-9947-C5AC-0D578938D7B5}"/>
              </a:ext>
            </a:extLst>
          </p:cNvPr>
          <p:cNvCxnSpPr/>
          <p:nvPr/>
        </p:nvCxnSpPr>
        <p:spPr>
          <a:xfrm>
            <a:off x="7044863" y="3792039"/>
            <a:ext cx="0" cy="806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B67F8196-4842-7DCB-10EF-BE3C608425BA}"/>
              </a:ext>
            </a:extLst>
          </p:cNvPr>
          <p:cNvSpPr/>
          <p:nvPr/>
        </p:nvSpPr>
        <p:spPr>
          <a:xfrm>
            <a:off x="4768240" y="3674264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368C6B1-7A55-5C82-E8CA-F73E0955B81A}"/>
              </a:ext>
            </a:extLst>
          </p:cNvPr>
          <p:cNvSpPr/>
          <p:nvPr/>
        </p:nvSpPr>
        <p:spPr>
          <a:xfrm>
            <a:off x="4577315" y="3716168"/>
            <a:ext cx="131808" cy="13180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5AFCA0C-384B-0AEA-FC43-6C52A8F877F9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flipV="1">
            <a:off x="4218515" y="3598781"/>
            <a:ext cx="97631" cy="178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678CA26-FC0B-3BEF-C85D-51C0432637FE}"/>
              </a:ext>
            </a:extLst>
          </p:cNvPr>
          <p:cNvCxnSpPr>
            <a:cxnSpLocks/>
          </p:cNvCxnSpPr>
          <p:nvPr/>
        </p:nvCxnSpPr>
        <p:spPr>
          <a:xfrm flipH="1" flipV="1">
            <a:off x="2149890" y="3598781"/>
            <a:ext cx="1953382" cy="835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0291D2E-A427-71DA-4136-15AC65917E8A}"/>
              </a:ext>
            </a:extLst>
          </p:cNvPr>
          <p:cNvCxnSpPr>
            <a:endCxn id="78" idx="0"/>
          </p:cNvCxnSpPr>
          <p:nvPr/>
        </p:nvCxnSpPr>
        <p:spPr>
          <a:xfrm>
            <a:off x="4444421" y="3641049"/>
            <a:ext cx="198798" cy="7511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A8971562-B0C0-2F22-A5C8-1630BB754E04}"/>
              </a:ext>
            </a:extLst>
          </p:cNvPr>
          <p:cNvCxnSpPr>
            <a:cxnSpLocks/>
            <a:stCxn id="75" idx="6"/>
            <a:endCxn id="79" idx="0"/>
          </p:cNvCxnSpPr>
          <p:nvPr/>
        </p:nvCxnSpPr>
        <p:spPr>
          <a:xfrm>
            <a:off x="4447954" y="3598781"/>
            <a:ext cx="386190" cy="7548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003309F-1119-4AC1-0881-7337CE0F8628}"/>
              </a:ext>
            </a:extLst>
          </p:cNvPr>
          <p:cNvSpPr txBox="1"/>
          <p:nvPr/>
        </p:nvSpPr>
        <p:spPr>
          <a:xfrm>
            <a:off x="3547440" y="2859852"/>
            <a:ext cx="1581290" cy="46166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Data management Dashboard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8B7BC8B-C58D-ED0E-B477-1BE453C0F618}"/>
              </a:ext>
            </a:extLst>
          </p:cNvPr>
          <p:cNvSpPr txBox="1"/>
          <p:nvPr/>
        </p:nvSpPr>
        <p:spPr>
          <a:xfrm>
            <a:off x="5243344" y="2859856"/>
            <a:ext cx="1581290" cy="46166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Data Analysis portal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22571D8B-2576-2B94-F419-BD518F1DF353}"/>
              </a:ext>
            </a:extLst>
          </p:cNvPr>
          <p:cNvCxnSpPr>
            <a:cxnSpLocks/>
          </p:cNvCxnSpPr>
          <p:nvPr/>
        </p:nvCxnSpPr>
        <p:spPr>
          <a:xfrm flipV="1">
            <a:off x="9017388" y="4466899"/>
            <a:ext cx="595875" cy="196645"/>
          </a:xfrm>
          <a:prstGeom prst="bentConnector3">
            <a:avLst>
              <a:gd name="adj1" fmla="val 53654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050878B-19E1-5FFA-12C0-CB99A7BB4BC3}"/>
              </a:ext>
            </a:extLst>
          </p:cNvPr>
          <p:cNvSpPr/>
          <p:nvPr/>
        </p:nvSpPr>
        <p:spPr>
          <a:xfrm>
            <a:off x="7522319" y="4306600"/>
            <a:ext cx="1420602" cy="7617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4E3BBCB-ACD9-0948-F328-591FE7113FDA}"/>
              </a:ext>
            </a:extLst>
          </p:cNvPr>
          <p:cNvGrpSpPr/>
          <p:nvPr/>
        </p:nvGrpSpPr>
        <p:grpSpPr>
          <a:xfrm>
            <a:off x="7649144" y="4319126"/>
            <a:ext cx="1234461" cy="602795"/>
            <a:chOff x="7183848" y="1532533"/>
            <a:chExt cx="1213104" cy="740130"/>
          </a:xfrm>
        </p:grpSpPr>
        <p:grpSp>
          <p:nvGrpSpPr>
            <p:cNvPr id="118" name="Graphic 297" descr="Statistics outline">
              <a:extLst>
                <a:ext uri="{FF2B5EF4-FFF2-40B4-BE49-F238E27FC236}">
                  <a16:creationId xmlns:a16="http://schemas.microsoft.com/office/drawing/2014/main" id="{83622066-F3CB-4B96-8A4D-7296BF7D522F}"/>
                </a:ext>
              </a:extLst>
            </p:cNvPr>
            <p:cNvGrpSpPr/>
            <p:nvPr/>
          </p:nvGrpSpPr>
          <p:grpSpPr>
            <a:xfrm>
              <a:off x="8054233" y="1534168"/>
              <a:ext cx="319474" cy="319610"/>
              <a:chOff x="8802932" y="2380867"/>
              <a:chExt cx="647423" cy="647700"/>
            </a:xfrm>
            <a:solidFill>
              <a:srgbClr val="000000"/>
            </a:solidFill>
          </p:grpSpPr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BE3A67EC-C60F-4087-A119-809F0C177A95}"/>
                  </a:ext>
                </a:extLst>
              </p:cNvPr>
              <p:cNvSpPr/>
              <p:nvPr/>
            </p:nvSpPr>
            <p:spPr>
              <a:xfrm>
                <a:off x="8802932" y="2380867"/>
                <a:ext cx="647423" cy="647700"/>
              </a:xfrm>
              <a:custGeom>
                <a:avLst/>
                <a:gdLst>
                  <a:gd name="connsiteX0" fmla="*/ 19050 w 647423"/>
                  <a:gd name="connsiteY0" fmla="*/ 0 h 647700"/>
                  <a:gd name="connsiteX1" fmla="*/ 0 w 647423"/>
                  <a:gd name="connsiteY1" fmla="*/ 0 h 647700"/>
                  <a:gd name="connsiteX2" fmla="*/ 0 w 647423"/>
                  <a:gd name="connsiteY2" fmla="*/ 647700 h 647700"/>
                  <a:gd name="connsiteX3" fmla="*/ 647424 w 647423"/>
                  <a:gd name="connsiteY3" fmla="*/ 647700 h 647700"/>
                  <a:gd name="connsiteX4" fmla="*/ 647424 w 647423"/>
                  <a:gd name="connsiteY4" fmla="*/ 628650 h 647700"/>
                  <a:gd name="connsiteX5" fmla="*/ 19050 w 647423"/>
                  <a:gd name="connsiteY5" fmla="*/ 628650 h 647700"/>
                  <a:gd name="connsiteX6" fmla="*/ 19050 w 647423"/>
                  <a:gd name="connsiteY6" fmla="*/ 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7423" h="647700">
                    <a:moveTo>
                      <a:pt x="190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424" y="647700"/>
                    </a:lnTo>
                    <a:lnTo>
                      <a:pt x="647424" y="628650"/>
                    </a:lnTo>
                    <a:lnTo>
                      <a:pt x="19050" y="628650"/>
                    </a:lnTo>
                    <a:lnTo>
                      <a:pt x="19050" y="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7C7444CF-4077-4F47-AC9A-E3EFB4D92775}"/>
                  </a:ext>
                </a:extLst>
              </p:cNvPr>
              <p:cNvSpPr/>
              <p:nvPr/>
            </p:nvSpPr>
            <p:spPr>
              <a:xfrm>
                <a:off x="8907715" y="2409175"/>
                <a:ext cx="476517" cy="514617"/>
              </a:xfrm>
              <a:custGeom>
                <a:avLst/>
                <a:gdLst>
                  <a:gd name="connsiteX0" fmla="*/ 38101 w 476517"/>
                  <a:gd name="connsiteY0" fmla="*/ 514617 h 514617"/>
                  <a:gd name="connsiteX1" fmla="*/ 76163 w 476517"/>
                  <a:gd name="connsiteY1" fmla="*/ 476707 h 514617"/>
                  <a:gd name="connsiteX2" fmla="*/ 60961 w 476517"/>
                  <a:gd name="connsiteY2" fmla="*/ 446237 h 514617"/>
                  <a:gd name="connsiteX3" fmla="*/ 143638 w 476517"/>
                  <a:gd name="connsiteY3" fmla="*/ 190691 h 514617"/>
                  <a:gd name="connsiteX4" fmla="*/ 159449 w 476517"/>
                  <a:gd name="connsiteY4" fmla="*/ 186814 h 514617"/>
                  <a:gd name="connsiteX5" fmla="*/ 305468 w 476517"/>
                  <a:gd name="connsiteY5" fmla="*/ 298076 h 514617"/>
                  <a:gd name="connsiteX6" fmla="*/ 335805 w 476517"/>
                  <a:gd name="connsiteY6" fmla="*/ 342605 h 514617"/>
                  <a:gd name="connsiteX7" fmla="*/ 380334 w 476517"/>
                  <a:gd name="connsiteY7" fmla="*/ 312267 h 514617"/>
                  <a:gd name="connsiteX8" fmla="*/ 381001 w 476517"/>
                  <a:gd name="connsiteY8" fmla="*/ 305067 h 514617"/>
                  <a:gd name="connsiteX9" fmla="*/ 366551 w 476517"/>
                  <a:gd name="connsiteY9" fmla="*/ 275406 h 514617"/>
                  <a:gd name="connsiteX10" fmla="*/ 435503 w 476517"/>
                  <a:gd name="connsiteY10" fmla="*/ 76200 h 514617"/>
                  <a:gd name="connsiteX11" fmla="*/ 438151 w 476517"/>
                  <a:gd name="connsiteY11" fmla="*/ 76467 h 514617"/>
                  <a:gd name="connsiteX12" fmla="*/ 476518 w 476517"/>
                  <a:gd name="connsiteY12" fmla="*/ 38367 h 514617"/>
                  <a:gd name="connsiteX13" fmla="*/ 438418 w 476517"/>
                  <a:gd name="connsiteY13" fmla="*/ 0 h 514617"/>
                  <a:gd name="connsiteX14" fmla="*/ 400051 w 476517"/>
                  <a:gd name="connsiteY14" fmla="*/ 38100 h 514617"/>
                  <a:gd name="connsiteX15" fmla="*/ 417396 w 476517"/>
                  <a:gd name="connsiteY15" fmla="*/ 70257 h 514617"/>
                  <a:gd name="connsiteX16" fmla="*/ 349092 w 476517"/>
                  <a:gd name="connsiteY16" fmla="*/ 267586 h 514617"/>
                  <a:gd name="connsiteX17" fmla="*/ 342901 w 476517"/>
                  <a:gd name="connsiteY17" fmla="*/ 266967 h 514617"/>
                  <a:gd name="connsiteX18" fmla="*/ 313954 w 476517"/>
                  <a:gd name="connsiteY18" fmla="*/ 280559 h 514617"/>
                  <a:gd name="connsiteX19" fmla="*/ 174308 w 476517"/>
                  <a:gd name="connsiteY19" fmla="*/ 174165 h 514617"/>
                  <a:gd name="connsiteX20" fmla="*/ 164675 w 476517"/>
                  <a:gd name="connsiteY20" fmla="*/ 121055 h 514617"/>
                  <a:gd name="connsiteX21" fmla="*/ 111565 w 476517"/>
                  <a:gd name="connsiteY21" fmla="*/ 130690 h 514617"/>
                  <a:gd name="connsiteX22" fmla="*/ 121199 w 476517"/>
                  <a:gd name="connsiteY22" fmla="*/ 183799 h 514617"/>
                  <a:gd name="connsiteX23" fmla="*/ 125112 w 476517"/>
                  <a:gd name="connsiteY23" fmla="*/ 186176 h 514617"/>
                  <a:gd name="connsiteX24" fmla="*/ 43330 w 476517"/>
                  <a:gd name="connsiteY24" fmla="*/ 438941 h 514617"/>
                  <a:gd name="connsiteX25" fmla="*/ 376 w 476517"/>
                  <a:gd name="connsiteY25" fmla="*/ 471292 h 514617"/>
                  <a:gd name="connsiteX26" fmla="*/ 32727 w 476517"/>
                  <a:gd name="connsiteY26" fmla="*/ 514245 h 514617"/>
                  <a:gd name="connsiteX27" fmla="*/ 38101 w 476517"/>
                  <a:gd name="connsiteY27" fmla="*/ 514617 h 514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6517" h="514617">
                    <a:moveTo>
                      <a:pt x="38101" y="514617"/>
                    </a:moveTo>
                    <a:cubicBezTo>
                      <a:pt x="59080" y="514659"/>
                      <a:pt x="76121" y="497686"/>
                      <a:pt x="76163" y="476707"/>
                    </a:cubicBezTo>
                    <a:cubicBezTo>
                      <a:pt x="76187" y="464721"/>
                      <a:pt x="70552" y="453426"/>
                      <a:pt x="60961" y="446237"/>
                    </a:cubicBezTo>
                    <a:lnTo>
                      <a:pt x="143638" y="190691"/>
                    </a:lnTo>
                    <a:cubicBezTo>
                      <a:pt x="149127" y="190561"/>
                      <a:pt x="154522" y="189238"/>
                      <a:pt x="159449" y="186814"/>
                    </a:cubicBezTo>
                    <a:lnTo>
                      <a:pt x="305468" y="298076"/>
                    </a:lnTo>
                    <a:cubicBezTo>
                      <a:pt x="301549" y="318750"/>
                      <a:pt x="315132" y="338685"/>
                      <a:pt x="335805" y="342605"/>
                    </a:cubicBezTo>
                    <a:cubicBezTo>
                      <a:pt x="356479" y="346524"/>
                      <a:pt x="376416" y="332941"/>
                      <a:pt x="380334" y="312267"/>
                    </a:cubicBezTo>
                    <a:cubicBezTo>
                      <a:pt x="380785" y="309894"/>
                      <a:pt x="381008" y="307483"/>
                      <a:pt x="381001" y="305067"/>
                    </a:cubicBezTo>
                    <a:cubicBezTo>
                      <a:pt x="380972" y="293491"/>
                      <a:pt x="375649" y="282564"/>
                      <a:pt x="366551" y="275406"/>
                    </a:cubicBezTo>
                    <a:lnTo>
                      <a:pt x="435503" y="76200"/>
                    </a:lnTo>
                    <a:cubicBezTo>
                      <a:pt x="436398" y="76267"/>
                      <a:pt x="437246" y="76467"/>
                      <a:pt x="438151" y="76467"/>
                    </a:cubicBezTo>
                    <a:cubicBezTo>
                      <a:pt x="459267" y="76540"/>
                      <a:pt x="476443" y="59483"/>
                      <a:pt x="476518" y="38367"/>
                    </a:cubicBezTo>
                    <a:cubicBezTo>
                      <a:pt x="476591" y="17252"/>
                      <a:pt x="459534" y="75"/>
                      <a:pt x="438418" y="0"/>
                    </a:cubicBezTo>
                    <a:cubicBezTo>
                      <a:pt x="417303" y="-73"/>
                      <a:pt x="400125" y="16985"/>
                      <a:pt x="400051" y="38100"/>
                    </a:cubicBezTo>
                    <a:cubicBezTo>
                      <a:pt x="400006" y="51067"/>
                      <a:pt x="406536" y="63173"/>
                      <a:pt x="417396" y="70257"/>
                    </a:cubicBezTo>
                    <a:lnTo>
                      <a:pt x="349092" y="267586"/>
                    </a:lnTo>
                    <a:cubicBezTo>
                      <a:pt x="347048" y="267215"/>
                      <a:pt x="344978" y="267008"/>
                      <a:pt x="342901" y="266967"/>
                    </a:cubicBezTo>
                    <a:cubicBezTo>
                      <a:pt x="331718" y="266996"/>
                      <a:pt x="321120" y="271972"/>
                      <a:pt x="313954" y="280559"/>
                    </a:cubicBezTo>
                    <a:lnTo>
                      <a:pt x="174308" y="174165"/>
                    </a:lnTo>
                    <a:cubicBezTo>
                      <a:pt x="186314" y="156839"/>
                      <a:pt x="182001" y="133061"/>
                      <a:pt x="164675" y="121055"/>
                    </a:cubicBezTo>
                    <a:cubicBezTo>
                      <a:pt x="147348" y="109050"/>
                      <a:pt x="123571" y="113364"/>
                      <a:pt x="111565" y="130690"/>
                    </a:cubicBezTo>
                    <a:cubicBezTo>
                      <a:pt x="99560" y="148016"/>
                      <a:pt x="103873" y="171794"/>
                      <a:pt x="121199" y="183799"/>
                    </a:cubicBezTo>
                    <a:cubicBezTo>
                      <a:pt x="122454" y="184669"/>
                      <a:pt x="123761" y="185462"/>
                      <a:pt x="125112" y="186176"/>
                    </a:cubicBezTo>
                    <a:lnTo>
                      <a:pt x="43330" y="438941"/>
                    </a:lnTo>
                    <a:cubicBezTo>
                      <a:pt x="22535" y="436013"/>
                      <a:pt x="3304" y="450497"/>
                      <a:pt x="376" y="471292"/>
                    </a:cubicBezTo>
                    <a:cubicBezTo>
                      <a:pt x="-2552" y="492086"/>
                      <a:pt x="11932" y="511318"/>
                      <a:pt x="32727" y="514245"/>
                    </a:cubicBezTo>
                    <a:cubicBezTo>
                      <a:pt x="34507" y="514496"/>
                      <a:pt x="36303" y="514621"/>
                      <a:pt x="38101" y="514617"/>
                    </a:cubicBezTo>
                    <a:close/>
                  </a:path>
                </a:pathLst>
              </a:custGeom>
              <a:solidFill>
                <a:srgbClr val="0070C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9" name="Graphic 299" descr="Bar chart with solid fill">
              <a:extLst>
                <a:ext uri="{FF2B5EF4-FFF2-40B4-BE49-F238E27FC236}">
                  <a16:creationId xmlns:a16="http://schemas.microsoft.com/office/drawing/2014/main" id="{870CCEF9-4B97-F59C-C09D-3688F2E3F82E}"/>
                </a:ext>
              </a:extLst>
            </p:cNvPr>
            <p:cNvGrpSpPr/>
            <p:nvPr/>
          </p:nvGrpSpPr>
          <p:grpSpPr>
            <a:xfrm>
              <a:off x="7624520" y="1543030"/>
              <a:ext cx="319610" cy="319610"/>
              <a:chOff x="7932105" y="2398826"/>
              <a:chExt cx="647700" cy="647700"/>
            </a:xfrm>
            <a:solidFill>
              <a:srgbClr val="000000"/>
            </a:solidFill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58AB429B-74E3-5385-6362-85F4EBFA0EF0}"/>
                  </a:ext>
                </a:extLst>
              </p:cNvPr>
              <p:cNvSpPr/>
              <p:nvPr/>
            </p:nvSpPr>
            <p:spPr>
              <a:xfrm>
                <a:off x="7932105" y="2398826"/>
                <a:ext cx="647700" cy="647700"/>
              </a:xfrm>
              <a:custGeom>
                <a:avLst/>
                <a:gdLst>
                  <a:gd name="connsiteX0" fmla="*/ 590550 w 647700"/>
                  <a:gd name="connsiteY0" fmla="*/ 0 h 647700"/>
                  <a:gd name="connsiteX1" fmla="*/ 647700 w 647700"/>
                  <a:gd name="connsiteY1" fmla="*/ 0 h 647700"/>
                  <a:gd name="connsiteX2" fmla="*/ 647700 w 647700"/>
                  <a:gd name="connsiteY2" fmla="*/ 647700 h 647700"/>
                  <a:gd name="connsiteX3" fmla="*/ 0 w 647700"/>
                  <a:gd name="connsiteY3" fmla="*/ 647700 h 647700"/>
                  <a:gd name="connsiteX4" fmla="*/ 0 w 647700"/>
                  <a:gd name="connsiteY4" fmla="*/ 590550 h 647700"/>
                  <a:gd name="connsiteX5" fmla="*/ 5905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90550" y="0"/>
                    </a:moveTo>
                    <a:lnTo>
                      <a:pt x="647700" y="0"/>
                    </a:lnTo>
                    <a:lnTo>
                      <a:pt x="647700" y="647700"/>
                    </a:lnTo>
                    <a:lnTo>
                      <a:pt x="0" y="647700"/>
                    </a:lnTo>
                    <a:lnTo>
                      <a:pt x="0" y="590550"/>
                    </a:lnTo>
                    <a:lnTo>
                      <a:pt x="590550" y="59055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2021C6C1-DB88-7AB8-C1DF-2158C510938B}"/>
                  </a:ext>
                </a:extLst>
              </p:cNvPr>
              <p:cNvSpPr/>
              <p:nvPr/>
            </p:nvSpPr>
            <p:spPr>
              <a:xfrm>
                <a:off x="8360730" y="2598851"/>
                <a:ext cx="104775" cy="333375"/>
              </a:xfrm>
              <a:custGeom>
                <a:avLst/>
                <a:gdLst>
                  <a:gd name="connsiteX0" fmla="*/ 0 w 104775"/>
                  <a:gd name="connsiteY0" fmla="*/ 0 h 333375"/>
                  <a:gd name="connsiteX1" fmla="*/ 104775 w 104775"/>
                  <a:gd name="connsiteY1" fmla="*/ 0 h 333375"/>
                  <a:gd name="connsiteX2" fmla="*/ 104775 w 104775"/>
                  <a:gd name="connsiteY2" fmla="*/ 333375 h 333375"/>
                  <a:gd name="connsiteX3" fmla="*/ 0 w 104775"/>
                  <a:gd name="connsiteY3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333375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44BEFAE4-319B-408C-2F30-AC1751F606FF}"/>
                  </a:ext>
                </a:extLst>
              </p:cNvPr>
              <p:cNvSpPr/>
              <p:nvPr/>
            </p:nvSpPr>
            <p:spPr>
              <a:xfrm>
                <a:off x="8217855" y="2398826"/>
                <a:ext cx="104775" cy="533400"/>
              </a:xfrm>
              <a:custGeom>
                <a:avLst/>
                <a:gdLst>
                  <a:gd name="connsiteX0" fmla="*/ 0 w 104775"/>
                  <a:gd name="connsiteY0" fmla="*/ 0 h 533400"/>
                  <a:gd name="connsiteX1" fmla="*/ 104775 w 104775"/>
                  <a:gd name="connsiteY1" fmla="*/ 0 h 533400"/>
                  <a:gd name="connsiteX2" fmla="*/ 104775 w 104775"/>
                  <a:gd name="connsiteY2" fmla="*/ 533400 h 533400"/>
                  <a:gd name="connsiteX3" fmla="*/ 0 w 104775"/>
                  <a:gd name="connsiteY3" fmla="*/ 533400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533400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solidFill>
                <a:srgbClr val="00B0F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CFB15921-5E95-779D-F6AC-C637E99E6A70}"/>
                  </a:ext>
                </a:extLst>
              </p:cNvPr>
              <p:cNvSpPr/>
              <p:nvPr/>
            </p:nvSpPr>
            <p:spPr>
              <a:xfrm>
                <a:off x="8074980" y="2598851"/>
                <a:ext cx="104775" cy="333375"/>
              </a:xfrm>
              <a:custGeom>
                <a:avLst/>
                <a:gdLst>
                  <a:gd name="connsiteX0" fmla="*/ 0 w 104775"/>
                  <a:gd name="connsiteY0" fmla="*/ 0 h 333375"/>
                  <a:gd name="connsiteX1" fmla="*/ 104775 w 104775"/>
                  <a:gd name="connsiteY1" fmla="*/ 0 h 333375"/>
                  <a:gd name="connsiteX2" fmla="*/ 104775 w 104775"/>
                  <a:gd name="connsiteY2" fmla="*/ 333375 h 333375"/>
                  <a:gd name="connsiteX3" fmla="*/ 0 w 104775"/>
                  <a:gd name="connsiteY3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333375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0070C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5073A1E2-BF7E-3F1C-5DAB-9DCBF11BE0BC}"/>
                  </a:ext>
                </a:extLst>
              </p:cNvPr>
              <p:cNvSpPr/>
              <p:nvPr/>
            </p:nvSpPr>
            <p:spPr>
              <a:xfrm>
                <a:off x="7932105" y="2760776"/>
                <a:ext cx="104775" cy="171450"/>
              </a:xfrm>
              <a:custGeom>
                <a:avLst/>
                <a:gdLst>
                  <a:gd name="connsiteX0" fmla="*/ 0 w 104775"/>
                  <a:gd name="connsiteY0" fmla="*/ 0 h 171450"/>
                  <a:gd name="connsiteX1" fmla="*/ 104775 w 104775"/>
                  <a:gd name="connsiteY1" fmla="*/ 0 h 171450"/>
                  <a:gd name="connsiteX2" fmla="*/ 104775 w 104775"/>
                  <a:gd name="connsiteY2" fmla="*/ 171450 h 171450"/>
                  <a:gd name="connsiteX3" fmla="*/ 0 w 104775"/>
                  <a:gd name="connsiteY3" fmla="*/ 171450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171450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20" name="Graphic 301" descr="Pie chart with solid fill">
              <a:extLst>
                <a:ext uri="{FF2B5EF4-FFF2-40B4-BE49-F238E27FC236}">
                  <a16:creationId xmlns:a16="http://schemas.microsoft.com/office/drawing/2014/main" id="{7A73F6A8-17E4-4B06-0676-AEE878FCE427}"/>
                </a:ext>
              </a:extLst>
            </p:cNvPr>
            <p:cNvGrpSpPr/>
            <p:nvPr/>
          </p:nvGrpSpPr>
          <p:grpSpPr>
            <a:xfrm>
              <a:off x="7183848" y="1532533"/>
              <a:ext cx="356741" cy="357212"/>
              <a:chOff x="7039070" y="2377553"/>
              <a:chExt cx="722947" cy="723900"/>
            </a:xfrm>
            <a:solidFill>
              <a:srgbClr val="000000"/>
            </a:solidFill>
          </p:grpSpPr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4B9BBF4E-0224-4709-615C-3B0D8CE24F69}"/>
                  </a:ext>
                </a:extLst>
              </p:cNvPr>
              <p:cNvSpPr/>
              <p:nvPr/>
            </p:nvSpPr>
            <p:spPr>
              <a:xfrm>
                <a:off x="7039070" y="2377553"/>
                <a:ext cx="603885" cy="723900"/>
              </a:xfrm>
              <a:custGeom>
                <a:avLst/>
                <a:gdLst>
                  <a:gd name="connsiteX0" fmla="*/ 342900 w 603885"/>
                  <a:gd name="connsiteY0" fmla="*/ 0 h 723900"/>
                  <a:gd name="connsiteX1" fmla="*/ 0 w 603885"/>
                  <a:gd name="connsiteY1" fmla="*/ 361950 h 723900"/>
                  <a:gd name="connsiteX2" fmla="*/ 361950 w 603885"/>
                  <a:gd name="connsiteY2" fmla="*/ 723900 h 723900"/>
                  <a:gd name="connsiteX3" fmla="*/ 603885 w 603885"/>
                  <a:gd name="connsiteY3" fmla="*/ 630555 h 723900"/>
                  <a:gd name="connsiteX4" fmla="*/ 342900 w 603885"/>
                  <a:gd name="connsiteY4" fmla="*/ 369570 h 723900"/>
                  <a:gd name="connsiteX5" fmla="*/ 342900 w 603885"/>
                  <a:gd name="connsiteY5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3885" h="723900">
                    <a:moveTo>
                      <a:pt x="342900" y="0"/>
                    </a:moveTo>
                    <a:cubicBezTo>
                      <a:pt x="152400" y="9525"/>
                      <a:pt x="0" y="16954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452438" y="723900"/>
                      <a:pt x="537210" y="691515"/>
                      <a:pt x="603885" y="630555"/>
                    </a:cubicBezTo>
                    <a:lnTo>
                      <a:pt x="342900" y="369570"/>
                    </a:lnTo>
                    <a:lnTo>
                      <a:pt x="342900" y="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839B805C-7BBF-63CA-E840-088BB213FBC1}"/>
                  </a:ext>
                </a:extLst>
              </p:cNvPr>
              <p:cNvSpPr/>
              <p:nvPr/>
            </p:nvSpPr>
            <p:spPr>
              <a:xfrm>
                <a:off x="7420070" y="2377553"/>
                <a:ext cx="341947" cy="342900"/>
              </a:xfrm>
              <a:custGeom>
                <a:avLst/>
                <a:gdLst>
                  <a:gd name="connsiteX0" fmla="*/ 0 w 341947"/>
                  <a:gd name="connsiteY0" fmla="*/ 0 h 342900"/>
                  <a:gd name="connsiteX1" fmla="*/ 0 w 341947"/>
                  <a:gd name="connsiteY1" fmla="*/ 342900 h 342900"/>
                  <a:gd name="connsiteX2" fmla="*/ 341948 w 341947"/>
                  <a:gd name="connsiteY2" fmla="*/ 342900 h 342900"/>
                  <a:gd name="connsiteX3" fmla="*/ 0 w 341947"/>
                  <a:gd name="connsiteY3" fmla="*/ 0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947" h="342900">
                    <a:moveTo>
                      <a:pt x="0" y="0"/>
                    </a:moveTo>
                    <a:lnTo>
                      <a:pt x="0" y="342900"/>
                    </a:lnTo>
                    <a:lnTo>
                      <a:pt x="341948" y="342900"/>
                    </a:lnTo>
                    <a:cubicBezTo>
                      <a:pt x="332423" y="157163"/>
                      <a:pt x="184785" y="9525"/>
                      <a:pt x="0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BDA47179-18B1-BDCA-237C-DADFEB961760}"/>
                  </a:ext>
                </a:extLst>
              </p:cNvPr>
              <p:cNvSpPr/>
              <p:nvPr/>
            </p:nvSpPr>
            <p:spPr>
              <a:xfrm>
                <a:off x="7446739" y="2758553"/>
                <a:ext cx="315277" cy="222885"/>
              </a:xfrm>
              <a:custGeom>
                <a:avLst/>
                <a:gdLst>
                  <a:gd name="connsiteX0" fmla="*/ 0 w 315277"/>
                  <a:gd name="connsiteY0" fmla="*/ 0 h 222885"/>
                  <a:gd name="connsiteX1" fmla="*/ 222885 w 315277"/>
                  <a:gd name="connsiteY1" fmla="*/ 222885 h 222885"/>
                  <a:gd name="connsiteX2" fmla="*/ 315278 w 315277"/>
                  <a:gd name="connsiteY2" fmla="*/ 0 h 222885"/>
                  <a:gd name="connsiteX3" fmla="*/ 0 w 315277"/>
                  <a:gd name="connsiteY3" fmla="*/ 0 h 222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277" h="222885">
                    <a:moveTo>
                      <a:pt x="0" y="0"/>
                    </a:moveTo>
                    <a:lnTo>
                      <a:pt x="222885" y="222885"/>
                    </a:lnTo>
                    <a:cubicBezTo>
                      <a:pt x="279083" y="160973"/>
                      <a:pt x="311468" y="82868"/>
                      <a:pt x="3152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0F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416D4E04-4510-7728-7514-A45C5D8B6804}"/>
                </a:ext>
              </a:extLst>
            </p:cNvPr>
            <p:cNvGrpSpPr/>
            <p:nvPr/>
          </p:nvGrpSpPr>
          <p:grpSpPr>
            <a:xfrm>
              <a:off x="7209320" y="1914672"/>
              <a:ext cx="392443" cy="357991"/>
              <a:chOff x="6521450" y="1121124"/>
              <a:chExt cx="944580" cy="861658"/>
            </a:xfrm>
          </p:grpSpPr>
          <p:sp>
            <p:nvSpPr>
              <p:cNvPr id="129" name="Isosceles Triangle 128">
                <a:extLst>
                  <a:ext uri="{FF2B5EF4-FFF2-40B4-BE49-F238E27FC236}">
                    <a16:creationId xmlns:a16="http://schemas.microsoft.com/office/drawing/2014/main" id="{87779F03-4A9A-AA94-43FF-FD13E80906C5}"/>
                  </a:ext>
                </a:extLst>
              </p:cNvPr>
              <p:cNvSpPr/>
              <p:nvPr/>
            </p:nvSpPr>
            <p:spPr>
              <a:xfrm>
                <a:off x="6521450" y="1339129"/>
                <a:ext cx="404689" cy="641430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Isosceles Triangle 129">
                <a:extLst>
                  <a:ext uri="{FF2B5EF4-FFF2-40B4-BE49-F238E27FC236}">
                    <a16:creationId xmlns:a16="http://schemas.microsoft.com/office/drawing/2014/main" id="{C2B715C6-2767-84F7-9439-534BCC2DC32A}"/>
                  </a:ext>
                </a:extLst>
              </p:cNvPr>
              <p:cNvSpPr/>
              <p:nvPr/>
            </p:nvSpPr>
            <p:spPr>
              <a:xfrm>
                <a:off x="6769139" y="1121124"/>
                <a:ext cx="404689" cy="861658"/>
              </a:xfrm>
              <a:prstGeom prst="triangl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Isosceles Triangle 130">
                <a:extLst>
                  <a:ext uri="{FF2B5EF4-FFF2-40B4-BE49-F238E27FC236}">
                    <a16:creationId xmlns:a16="http://schemas.microsoft.com/office/drawing/2014/main" id="{DAA666CE-650A-B18C-F4C2-EC7762448C85}"/>
                  </a:ext>
                </a:extLst>
              </p:cNvPr>
              <p:cNvSpPr/>
              <p:nvPr/>
            </p:nvSpPr>
            <p:spPr>
              <a:xfrm>
                <a:off x="7061341" y="1339129"/>
                <a:ext cx="404689" cy="641430"/>
              </a:xfrm>
              <a:prstGeom prst="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A2E134E6-677B-AE77-FABF-77AA0C1518CC}"/>
                </a:ext>
              </a:extLst>
            </p:cNvPr>
            <p:cNvGrpSpPr/>
            <p:nvPr/>
          </p:nvGrpSpPr>
          <p:grpSpPr>
            <a:xfrm>
              <a:off x="7654029" y="1938411"/>
              <a:ext cx="742923" cy="330110"/>
              <a:chOff x="6456988" y="1864900"/>
              <a:chExt cx="1355838" cy="419873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6A173428-554C-8085-764F-BB10758EE3D2}"/>
                  </a:ext>
                </a:extLst>
              </p:cNvPr>
              <p:cNvSpPr/>
              <p:nvPr/>
            </p:nvSpPr>
            <p:spPr>
              <a:xfrm>
                <a:off x="6457950" y="1864900"/>
                <a:ext cx="1346311" cy="7145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7C16AD2D-6617-3137-C3F3-774DED71E464}"/>
                  </a:ext>
                </a:extLst>
              </p:cNvPr>
              <p:cNvSpPr/>
              <p:nvPr/>
            </p:nvSpPr>
            <p:spPr>
              <a:xfrm>
                <a:off x="6456988" y="1983896"/>
                <a:ext cx="789777" cy="686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FE38BDD7-DB8D-ED88-4FC9-798DF011E233}"/>
                  </a:ext>
                </a:extLst>
              </p:cNvPr>
              <p:cNvSpPr/>
              <p:nvPr/>
            </p:nvSpPr>
            <p:spPr>
              <a:xfrm>
                <a:off x="7285102" y="1982084"/>
                <a:ext cx="518621" cy="686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3CB99E69-C39D-AFDF-30CB-F2E0A0869F60}"/>
                  </a:ext>
                </a:extLst>
              </p:cNvPr>
              <p:cNvSpPr/>
              <p:nvPr/>
            </p:nvSpPr>
            <p:spPr>
              <a:xfrm>
                <a:off x="6457412" y="2093625"/>
                <a:ext cx="1346311" cy="7145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D8DA88B7-2CE6-8098-545E-218C507C0210}"/>
                  </a:ext>
                </a:extLst>
              </p:cNvPr>
              <p:cNvSpPr/>
              <p:nvPr/>
            </p:nvSpPr>
            <p:spPr>
              <a:xfrm rot="10800000">
                <a:off x="7023049" y="2211456"/>
                <a:ext cx="789777" cy="686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58260DF6-F222-8B31-50B2-D3BB17AFAB1F}"/>
                  </a:ext>
                </a:extLst>
              </p:cNvPr>
              <p:cNvSpPr/>
              <p:nvPr/>
            </p:nvSpPr>
            <p:spPr>
              <a:xfrm rot="10800000">
                <a:off x="6456988" y="2216151"/>
                <a:ext cx="518621" cy="686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05" name="Graphic 104" descr="Television with solid fill">
            <a:extLst>
              <a:ext uri="{FF2B5EF4-FFF2-40B4-BE49-F238E27FC236}">
                <a16:creationId xmlns:a16="http://schemas.microsoft.com/office/drawing/2014/main" id="{C2BA5A78-B332-578A-1259-A9195C36B8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1753" y="3929528"/>
            <a:ext cx="1669245" cy="154675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A2E2CB62-C7CE-7AB5-B1A1-D4AFC1091D1B}"/>
              </a:ext>
            </a:extLst>
          </p:cNvPr>
          <p:cNvSpPr/>
          <p:nvPr/>
        </p:nvSpPr>
        <p:spPr>
          <a:xfrm>
            <a:off x="7463243" y="3629506"/>
            <a:ext cx="1579880" cy="496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Restricted epi dashboard</a:t>
            </a:r>
          </a:p>
        </p:txBody>
      </p:sp>
      <p:pic>
        <p:nvPicPr>
          <p:cNvPr id="154" name="Graphic 153" descr="Single gear with solid fill">
            <a:extLst>
              <a:ext uri="{FF2B5EF4-FFF2-40B4-BE49-F238E27FC236}">
                <a16:creationId xmlns:a16="http://schemas.microsoft.com/office/drawing/2014/main" id="{C66044BB-5E07-F84F-62EE-B9B3E40F51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7032" y="5025131"/>
            <a:ext cx="431910" cy="431910"/>
          </a:xfrm>
          <a:prstGeom prst="rect">
            <a:avLst/>
          </a:prstGeom>
        </p:spPr>
      </p:pic>
      <p:pic>
        <p:nvPicPr>
          <p:cNvPr id="155" name="Graphic 154" descr="Single gear with solid fill">
            <a:extLst>
              <a:ext uri="{FF2B5EF4-FFF2-40B4-BE49-F238E27FC236}">
                <a16:creationId xmlns:a16="http://schemas.microsoft.com/office/drawing/2014/main" id="{3AEF125B-4507-E44B-6D61-F720895579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99557" y="5178961"/>
            <a:ext cx="431910" cy="431910"/>
          </a:xfrm>
          <a:prstGeom prst="rect">
            <a:avLst/>
          </a:prstGeom>
        </p:spPr>
      </p:pic>
      <p:pic>
        <p:nvPicPr>
          <p:cNvPr id="156" name="Graphic 155" descr="Single gear with solid fill">
            <a:extLst>
              <a:ext uri="{FF2B5EF4-FFF2-40B4-BE49-F238E27FC236}">
                <a16:creationId xmlns:a16="http://schemas.microsoft.com/office/drawing/2014/main" id="{D595353F-4D0A-F4B5-B3F7-B676F675AB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98201" y="5273680"/>
            <a:ext cx="431910" cy="431910"/>
          </a:xfrm>
          <a:prstGeom prst="rect">
            <a:avLst/>
          </a:prstGeom>
        </p:spPr>
      </p:pic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E14AEB07-4997-7497-D561-52A504B3D65A}"/>
              </a:ext>
            </a:extLst>
          </p:cNvPr>
          <p:cNvCxnSpPr>
            <a:cxnSpLocks/>
            <a:endCxn id="156" idx="1"/>
          </p:cNvCxnSpPr>
          <p:nvPr/>
        </p:nvCxnSpPr>
        <p:spPr>
          <a:xfrm rot="16200000" flipH="1">
            <a:off x="4068079" y="4759513"/>
            <a:ext cx="1012692" cy="447552"/>
          </a:xfrm>
          <a:prstGeom prst="bentConnector2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F8B9784F-AEA8-49ED-67CA-BF26F3A6E89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317895" y="4706439"/>
            <a:ext cx="1013056" cy="553336"/>
          </a:xfrm>
          <a:prstGeom prst="bentConnector3">
            <a:avLst>
              <a:gd name="adj1" fmla="val -145"/>
            </a:avLst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6A5F01-0E54-DCC4-6E19-433B9EC4568B}"/>
              </a:ext>
            </a:extLst>
          </p:cNvPr>
          <p:cNvSpPr txBox="1"/>
          <p:nvPr/>
        </p:nvSpPr>
        <p:spPr>
          <a:xfrm>
            <a:off x="570006" y="1260640"/>
            <a:ext cx="1823744" cy="276999"/>
          </a:xfrm>
          <a:prstGeom prst="rect">
            <a:avLst/>
          </a:prstGeom>
          <a:solidFill>
            <a:srgbClr val="0070C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Surveillance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9BAAF23-5AB7-983F-A860-258344C4AF54}"/>
              </a:ext>
            </a:extLst>
          </p:cNvPr>
          <p:cNvGrpSpPr/>
          <p:nvPr/>
        </p:nvGrpSpPr>
        <p:grpSpPr>
          <a:xfrm>
            <a:off x="1157015" y="4367789"/>
            <a:ext cx="1320014" cy="1109064"/>
            <a:chOff x="2949307" y="3268087"/>
            <a:chExt cx="622352" cy="789206"/>
          </a:xfrm>
        </p:grpSpPr>
        <p:pic>
          <p:nvPicPr>
            <p:cNvPr id="28" name="Graphic 27" descr="Tablet with solid fill">
              <a:extLst>
                <a:ext uri="{FF2B5EF4-FFF2-40B4-BE49-F238E27FC236}">
                  <a16:creationId xmlns:a16="http://schemas.microsoft.com/office/drawing/2014/main" id="{72E8BC47-1023-9A66-8C76-478B0ECDB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49307" y="3268087"/>
              <a:ext cx="616428" cy="639586"/>
            </a:xfrm>
            <a:prstGeom prst="rect">
              <a:avLst/>
            </a:prstGeom>
          </p:spPr>
        </p:pic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C5542C9-D884-725E-E0F7-D0937230325B}"/>
                </a:ext>
              </a:extLst>
            </p:cNvPr>
            <p:cNvSpPr/>
            <p:nvPr/>
          </p:nvSpPr>
          <p:spPr>
            <a:xfrm rot="1414499">
              <a:off x="3263929" y="3716791"/>
              <a:ext cx="307730" cy="340502"/>
            </a:xfrm>
            <a:custGeom>
              <a:avLst/>
              <a:gdLst>
                <a:gd name="connsiteX0" fmla="*/ 568600 w 586697"/>
                <a:gd name="connsiteY0" fmla="*/ 507255 h 649177"/>
                <a:gd name="connsiteX1" fmla="*/ 557170 w 586697"/>
                <a:gd name="connsiteY1" fmla="*/ 313897 h 649177"/>
                <a:gd name="connsiteX2" fmla="*/ 493353 w 586697"/>
                <a:gd name="connsiteY2" fmla="*/ 172927 h 649177"/>
                <a:gd name="connsiteX3" fmla="*/ 424773 w 586697"/>
                <a:gd name="connsiteY3" fmla="*/ 147210 h 649177"/>
                <a:gd name="connsiteX4" fmla="*/ 399055 w 586697"/>
                <a:gd name="connsiteY4" fmla="*/ 171975 h 649177"/>
                <a:gd name="connsiteX5" fmla="*/ 397150 w 586697"/>
                <a:gd name="connsiteY5" fmla="*/ 171975 h 649177"/>
                <a:gd name="connsiteX6" fmla="*/ 389530 w 586697"/>
                <a:gd name="connsiteY6" fmla="*/ 159592 h 649177"/>
                <a:gd name="connsiteX7" fmla="*/ 350478 w 586697"/>
                <a:gd name="connsiteY7" fmla="*/ 139590 h 649177"/>
                <a:gd name="connsiteX8" fmla="*/ 300948 w 586697"/>
                <a:gd name="connsiteY8" fmla="*/ 171022 h 649177"/>
                <a:gd name="connsiteX9" fmla="*/ 299043 w 586697"/>
                <a:gd name="connsiteY9" fmla="*/ 171022 h 649177"/>
                <a:gd name="connsiteX10" fmla="*/ 227605 w 586697"/>
                <a:gd name="connsiteY10" fmla="*/ 162450 h 649177"/>
                <a:gd name="connsiteX11" fmla="*/ 210460 w 586697"/>
                <a:gd name="connsiteY11" fmla="*/ 210075 h 649177"/>
                <a:gd name="connsiteX12" fmla="*/ 209508 w 586697"/>
                <a:gd name="connsiteY12" fmla="*/ 210075 h 649177"/>
                <a:gd name="connsiteX13" fmla="*/ 127593 w 586697"/>
                <a:gd name="connsiteY13" fmla="*/ 27195 h 649177"/>
                <a:gd name="connsiteX14" fmla="*/ 70443 w 586697"/>
                <a:gd name="connsiteY14" fmla="*/ 3382 h 649177"/>
                <a:gd name="connsiteX15" fmla="*/ 46630 w 586697"/>
                <a:gd name="connsiteY15" fmla="*/ 60532 h 649177"/>
                <a:gd name="connsiteX16" fmla="*/ 47583 w 586697"/>
                <a:gd name="connsiteY16" fmla="*/ 62437 h 649177"/>
                <a:gd name="connsiteX17" fmla="*/ 212365 w 586697"/>
                <a:gd name="connsiteY17" fmla="*/ 431055 h 649177"/>
                <a:gd name="connsiteX18" fmla="*/ 186648 w 586697"/>
                <a:gd name="connsiteY18" fmla="*/ 436770 h 649177"/>
                <a:gd name="connsiteX19" fmla="*/ 70443 w 586697"/>
                <a:gd name="connsiteY19" fmla="*/ 356760 h 649177"/>
                <a:gd name="connsiteX20" fmla="*/ 10435 w 586697"/>
                <a:gd name="connsiteY20" fmla="*/ 363427 h 649177"/>
                <a:gd name="connsiteX21" fmla="*/ 19008 w 586697"/>
                <a:gd name="connsiteY21" fmla="*/ 428197 h 649177"/>
                <a:gd name="connsiteX22" fmla="*/ 199983 w 586697"/>
                <a:gd name="connsiteY22" fmla="*/ 552022 h 649177"/>
                <a:gd name="connsiteX23" fmla="*/ 215223 w 586697"/>
                <a:gd name="connsiteY23" fmla="*/ 558690 h 649177"/>
                <a:gd name="connsiteX24" fmla="*/ 328570 w 586697"/>
                <a:gd name="connsiteY24" fmla="*/ 585360 h 649177"/>
                <a:gd name="connsiteX25" fmla="*/ 332380 w 586697"/>
                <a:gd name="connsiteY25" fmla="*/ 590122 h 649177"/>
                <a:gd name="connsiteX26" fmla="*/ 359050 w 586697"/>
                <a:gd name="connsiteY26" fmla="*/ 649177 h 649177"/>
                <a:gd name="connsiteX27" fmla="*/ 586698 w 586697"/>
                <a:gd name="connsiteY27" fmla="*/ 546307 h 649177"/>
                <a:gd name="connsiteX28" fmla="*/ 568600 w 586697"/>
                <a:gd name="connsiteY28" fmla="*/ 507255 h 649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6697" h="649177">
                  <a:moveTo>
                    <a:pt x="568600" y="507255"/>
                  </a:moveTo>
                  <a:cubicBezTo>
                    <a:pt x="543835" y="452010"/>
                    <a:pt x="604795" y="418672"/>
                    <a:pt x="557170" y="313897"/>
                  </a:cubicBezTo>
                  <a:cubicBezTo>
                    <a:pt x="545740" y="289132"/>
                    <a:pt x="508593" y="206265"/>
                    <a:pt x="493353" y="172927"/>
                  </a:cubicBezTo>
                  <a:cubicBezTo>
                    <a:pt x="481923" y="147210"/>
                    <a:pt x="451443" y="134827"/>
                    <a:pt x="424773" y="147210"/>
                  </a:cubicBezTo>
                  <a:cubicBezTo>
                    <a:pt x="413343" y="151972"/>
                    <a:pt x="404770" y="160545"/>
                    <a:pt x="399055" y="171975"/>
                  </a:cubicBezTo>
                  <a:cubicBezTo>
                    <a:pt x="399055" y="172927"/>
                    <a:pt x="398103" y="172927"/>
                    <a:pt x="397150" y="171975"/>
                  </a:cubicBezTo>
                  <a:cubicBezTo>
                    <a:pt x="395245" y="167212"/>
                    <a:pt x="393340" y="163402"/>
                    <a:pt x="389530" y="159592"/>
                  </a:cubicBezTo>
                  <a:cubicBezTo>
                    <a:pt x="380005" y="147210"/>
                    <a:pt x="365718" y="139590"/>
                    <a:pt x="350478" y="139590"/>
                  </a:cubicBezTo>
                  <a:cubicBezTo>
                    <a:pt x="328570" y="138637"/>
                    <a:pt x="309520" y="151972"/>
                    <a:pt x="300948" y="171022"/>
                  </a:cubicBezTo>
                  <a:cubicBezTo>
                    <a:pt x="300948" y="171975"/>
                    <a:pt x="299995" y="171975"/>
                    <a:pt x="299043" y="171022"/>
                  </a:cubicBezTo>
                  <a:cubicBezTo>
                    <a:pt x="281898" y="149115"/>
                    <a:pt x="250465" y="145305"/>
                    <a:pt x="227605" y="162450"/>
                  </a:cubicBezTo>
                  <a:cubicBezTo>
                    <a:pt x="214270" y="171975"/>
                    <a:pt x="206650" y="191025"/>
                    <a:pt x="210460" y="210075"/>
                  </a:cubicBezTo>
                  <a:cubicBezTo>
                    <a:pt x="210460" y="211027"/>
                    <a:pt x="209508" y="211027"/>
                    <a:pt x="209508" y="210075"/>
                  </a:cubicBezTo>
                  <a:lnTo>
                    <a:pt x="127593" y="27195"/>
                  </a:lnTo>
                  <a:cubicBezTo>
                    <a:pt x="118068" y="5287"/>
                    <a:pt x="92350" y="-6143"/>
                    <a:pt x="70443" y="3382"/>
                  </a:cubicBezTo>
                  <a:cubicBezTo>
                    <a:pt x="48535" y="12907"/>
                    <a:pt x="37105" y="38625"/>
                    <a:pt x="46630" y="60532"/>
                  </a:cubicBezTo>
                  <a:cubicBezTo>
                    <a:pt x="46630" y="61485"/>
                    <a:pt x="47583" y="61485"/>
                    <a:pt x="47583" y="62437"/>
                  </a:cubicBezTo>
                  <a:lnTo>
                    <a:pt x="212365" y="431055"/>
                  </a:lnTo>
                  <a:lnTo>
                    <a:pt x="186648" y="436770"/>
                  </a:lnTo>
                  <a:lnTo>
                    <a:pt x="70443" y="356760"/>
                  </a:lnTo>
                  <a:cubicBezTo>
                    <a:pt x="51393" y="343425"/>
                    <a:pt x="24723" y="346282"/>
                    <a:pt x="10435" y="363427"/>
                  </a:cubicBezTo>
                  <a:cubicBezTo>
                    <a:pt x="-6710" y="383430"/>
                    <a:pt x="-1947" y="413910"/>
                    <a:pt x="19008" y="428197"/>
                  </a:cubicBezTo>
                  <a:lnTo>
                    <a:pt x="199983" y="552022"/>
                  </a:lnTo>
                  <a:cubicBezTo>
                    <a:pt x="204745" y="554880"/>
                    <a:pt x="209508" y="557737"/>
                    <a:pt x="215223" y="558690"/>
                  </a:cubicBezTo>
                  <a:lnTo>
                    <a:pt x="328570" y="585360"/>
                  </a:lnTo>
                  <a:lnTo>
                    <a:pt x="332380" y="590122"/>
                  </a:lnTo>
                  <a:lnTo>
                    <a:pt x="359050" y="649177"/>
                  </a:lnTo>
                  <a:lnTo>
                    <a:pt x="586698" y="546307"/>
                  </a:lnTo>
                  <a:lnTo>
                    <a:pt x="568600" y="507255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C1878A9-20CC-4CA8-290F-7563FB29E65D}"/>
              </a:ext>
            </a:extLst>
          </p:cNvPr>
          <p:cNvSpPr txBox="1"/>
          <p:nvPr/>
        </p:nvSpPr>
        <p:spPr>
          <a:xfrm>
            <a:off x="718457" y="5517017"/>
            <a:ext cx="1692304" cy="276999"/>
          </a:xfrm>
          <a:prstGeom prst="rect">
            <a:avLst/>
          </a:prstGeom>
          <a:solidFill>
            <a:srgbClr val="0070C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Laboratory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398F2E42-07F0-BF56-F4BD-223E76C0C9AC}"/>
              </a:ext>
            </a:extLst>
          </p:cNvPr>
          <p:cNvSpPr/>
          <p:nvPr/>
        </p:nvSpPr>
        <p:spPr>
          <a:xfrm>
            <a:off x="2121670" y="2642336"/>
            <a:ext cx="661984" cy="56130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 dirty="0"/>
              <a:t>ODK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6594115-AEFE-5EE0-EDAE-BBED452ACA05}"/>
              </a:ext>
            </a:extLst>
          </p:cNvPr>
          <p:cNvSpPr/>
          <p:nvPr/>
        </p:nvSpPr>
        <p:spPr>
          <a:xfrm>
            <a:off x="2585023" y="4847894"/>
            <a:ext cx="837274" cy="69961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 dirty="0"/>
              <a:t>DISA and others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ADE00DF-5AF1-D3ED-1BBC-B55429802B6E}"/>
              </a:ext>
            </a:extLst>
          </p:cNvPr>
          <p:cNvCxnSpPr>
            <a:cxnSpLocks/>
            <a:stCxn id="21" idx="2"/>
          </p:cNvCxnSpPr>
          <p:nvPr/>
        </p:nvCxnSpPr>
        <p:spPr>
          <a:xfrm rot="16200000" flipH="1">
            <a:off x="2169505" y="2336695"/>
            <a:ext cx="481693" cy="2174285"/>
          </a:xfrm>
          <a:prstGeom prst="bentConnector2">
            <a:avLst/>
          </a:prstGeom>
          <a:ln w="19050">
            <a:solidFill>
              <a:srgbClr val="00B0F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105F9E9-4F09-1B44-5142-FAAA0DE793ED}"/>
              </a:ext>
            </a:extLst>
          </p:cNvPr>
          <p:cNvCxnSpPr>
            <a:stCxn id="3" idx="1"/>
          </p:cNvCxnSpPr>
          <p:nvPr/>
        </p:nvCxnSpPr>
        <p:spPr>
          <a:xfrm rot="10800000" flipV="1">
            <a:off x="2348147" y="3926794"/>
            <a:ext cx="1155733" cy="846409"/>
          </a:xfrm>
          <a:prstGeom prst="bentConnector3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4834682C-FCB5-4108-E597-9C5F39855840}"/>
              </a:ext>
            </a:extLst>
          </p:cNvPr>
          <p:cNvCxnSpPr>
            <a:cxnSpLocks/>
          </p:cNvCxnSpPr>
          <p:nvPr/>
        </p:nvCxnSpPr>
        <p:spPr>
          <a:xfrm>
            <a:off x="6870383" y="3872746"/>
            <a:ext cx="590652" cy="495043"/>
          </a:xfrm>
          <a:prstGeom prst="bentConnector3">
            <a:avLst>
              <a:gd name="adj1" fmla="val 50000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4EC21AB-3A1D-E4B7-C87E-1B5006AC3EA3}"/>
              </a:ext>
            </a:extLst>
          </p:cNvPr>
          <p:cNvGrpSpPr/>
          <p:nvPr/>
        </p:nvGrpSpPr>
        <p:grpSpPr>
          <a:xfrm>
            <a:off x="9977309" y="4293282"/>
            <a:ext cx="1234461" cy="602795"/>
            <a:chOff x="7183848" y="1532533"/>
            <a:chExt cx="1213104" cy="740130"/>
          </a:xfrm>
        </p:grpSpPr>
        <p:grpSp>
          <p:nvGrpSpPr>
            <p:cNvPr id="16" name="Graphic 297" descr="Statistics outline">
              <a:extLst>
                <a:ext uri="{FF2B5EF4-FFF2-40B4-BE49-F238E27FC236}">
                  <a16:creationId xmlns:a16="http://schemas.microsoft.com/office/drawing/2014/main" id="{D8B45287-1C73-E4B6-BB49-CF42874F7B17}"/>
                </a:ext>
              </a:extLst>
            </p:cNvPr>
            <p:cNvGrpSpPr/>
            <p:nvPr/>
          </p:nvGrpSpPr>
          <p:grpSpPr>
            <a:xfrm>
              <a:off x="8054233" y="1534168"/>
              <a:ext cx="319474" cy="319610"/>
              <a:chOff x="8802932" y="2380867"/>
              <a:chExt cx="647423" cy="647700"/>
            </a:xfrm>
            <a:solidFill>
              <a:srgbClr val="000000"/>
            </a:solidFill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55C1872-A3D9-17F5-D608-70DEC2038475}"/>
                  </a:ext>
                </a:extLst>
              </p:cNvPr>
              <p:cNvSpPr/>
              <p:nvPr/>
            </p:nvSpPr>
            <p:spPr>
              <a:xfrm>
                <a:off x="8802932" y="2380867"/>
                <a:ext cx="647423" cy="647700"/>
              </a:xfrm>
              <a:custGeom>
                <a:avLst/>
                <a:gdLst>
                  <a:gd name="connsiteX0" fmla="*/ 19050 w 647423"/>
                  <a:gd name="connsiteY0" fmla="*/ 0 h 647700"/>
                  <a:gd name="connsiteX1" fmla="*/ 0 w 647423"/>
                  <a:gd name="connsiteY1" fmla="*/ 0 h 647700"/>
                  <a:gd name="connsiteX2" fmla="*/ 0 w 647423"/>
                  <a:gd name="connsiteY2" fmla="*/ 647700 h 647700"/>
                  <a:gd name="connsiteX3" fmla="*/ 647424 w 647423"/>
                  <a:gd name="connsiteY3" fmla="*/ 647700 h 647700"/>
                  <a:gd name="connsiteX4" fmla="*/ 647424 w 647423"/>
                  <a:gd name="connsiteY4" fmla="*/ 628650 h 647700"/>
                  <a:gd name="connsiteX5" fmla="*/ 19050 w 647423"/>
                  <a:gd name="connsiteY5" fmla="*/ 628650 h 647700"/>
                  <a:gd name="connsiteX6" fmla="*/ 19050 w 647423"/>
                  <a:gd name="connsiteY6" fmla="*/ 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7423" h="647700">
                    <a:moveTo>
                      <a:pt x="19050" y="0"/>
                    </a:moveTo>
                    <a:lnTo>
                      <a:pt x="0" y="0"/>
                    </a:lnTo>
                    <a:lnTo>
                      <a:pt x="0" y="647700"/>
                    </a:lnTo>
                    <a:lnTo>
                      <a:pt x="647424" y="647700"/>
                    </a:lnTo>
                    <a:lnTo>
                      <a:pt x="647424" y="628650"/>
                    </a:lnTo>
                    <a:lnTo>
                      <a:pt x="19050" y="628650"/>
                    </a:lnTo>
                    <a:lnTo>
                      <a:pt x="19050" y="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ADD5E41B-CAB1-8DD4-46D8-BD4CFD7D18A9}"/>
                  </a:ext>
                </a:extLst>
              </p:cNvPr>
              <p:cNvSpPr/>
              <p:nvPr/>
            </p:nvSpPr>
            <p:spPr>
              <a:xfrm>
                <a:off x="8907715" y="2409175"/>
                <a:ext cx="476517" cy="514617"/>
              </a:xfrm>
              <a:custGeom>
                <a:avLst/>
                <a:gdLst>
                  <a:gd name="connsiteX0" fmla="*/ 38101 w 476517"/>
                  <a:gd name="connsiteY0" fmla="*/ 514617 h 514617"/>
                  <a:gd name="connsiteX1" fmla="*/ 76163 w 476517"/>
                  <a:gd name="connsiteY1" fmla="*/ 476707 h 514617"/>
                  <a:gd name="connsiteX2" fmla="*/ 60961 w 476517"/>
                  <a:gd name="connsiteY2" fmla="*/ 446237 h 514617"/>
                  <a:gd name="connsiteX3" fmla="*/ 143638 w 476517"/>
                  <a:gd name="connsiteY3" fmla="*/ 190691 h 514617"/>
                  <a:gd name="connsiteX4" fmla="*/ 159449 w 476517"/>
                  <a:gd name="connsiteY4" fmla="*/ 186814 h 514617"/>
                  <a:gd name="connsiteX5" fmla="*/ 305468 w 476517"/>
                  <a:gd name="connsiteY5" fmla="*/ 298076 h 514617"/>
                  <a:gd name="connsiteX6" fmla="*/ 335805 w 476517"/>
                  <a:gd name="connsiteY6" fmla="*/ 342605 h 514617"/>
                  <a:gd name="connsiteX7" fmla="*/ 380334 w 476517"/>
                  <a:gd name="connsiteY7" fmla="*/ 312267 h 514617"/>
                  <a:gd name="connsiteX8" fmla="*/ 381001 w 476517"/>
                  <a:gd name="connsiteY8" fmla="*/ 305067 h 514617"/>
                  <a:gd name="connsiteX9" fmla="*/ 366551 w 476517"/>
                  <a:gd name="connsiteY9" fmla="*/ 275406 h 514617"/>
                  <a:gd name="connsiteX10" fmla="*/ 435503 w 476517"/>
                  <a:gd name="connsiteY10" fmla="*/ 76200 h 514617"/>
                  <a:gd name="connsiteX11" fmla="*/ 438151 w 476517"/>
                  <a:gd name="connsiteY11" fmla="*/ 76467 h 514617"/>
                  <a:gd name="connsiteX12" fmla="*/ 476518 w 476517"/>
                  <a:gd name="connsiteY12" fmla="*/ 38367 h 514617"/>
                  <a:gd name="connsiteX13" fmla="*/ 438418 w 476517"/>
                  <a:gd name="connsiteY13" fmla="*/ 0 h 514617"/>
                  <a:gd name="connsiteX14" fmla="*/ 400051 w 476517"/>
                  <a:gd name="connsiteY14" fmla="*/ 38100 h 514617"/>
                  <a:gd name="connsiteX15" fmla="*/ 417396 w 476517"/>
                  <a:gd name="connsiteY15" fmla="*/ 70257 h 514617"/>
                  <a:gd name="connsiteX16" fmla="*/ 349092 w 476517"/>
                  <a:gd name="connsiteY16" fmla="*/ 267586 h 514617"/>
                  <a:gd name="connsiteX17" fmla="*/ 342901 w 476517"/>
                  <a:gd name="connsiteY17" fmla="*/ 266967 h 514617"/>
                  <a:gd name="connsiteX18" fmla="*/ 313954 w 476517"/>
                  <a:gd name="connsiteY18" fmla="*/ 280559 h 514617"/>
                  <a:gd name="connsiteX19" fmla="*/ 174308 w 476517"/>
                  <a:gd name="connsiteY19" fmla="*/ 174165 h 514617"/>
                  <a:gd name="connsiteX20" fmla="*/ 164675 w 476517"/>
                  <a:gd name="connsiteY20" fmla="*/ 121055 h 514617"/>
                  <a:gd name="connsiteX21" fmla="*/ 111565 w 476517"/>
                  <a:gd name="connsiteY21" fmla="*/ 130690 h 514617"/>
                  <a:gd name="connsiteX22" fmla="*/ 121199 w 476517"/>
                  <a:gd name="connsiteY22" fmla="*/ 183799 h 514617"/>
                  <a:gd name="connsiteX23" fmla="*/ 125112 w 476517"/>
                  <a:gd name="connsiteY23" fmla="*/ 186176 h 514617"/>
                  <a:gd name="connsiteX24" fmla="*/ 43330 w 476517"/>
                  <a:gd name="connsiteY24" fmla="*/ 438941 h 514617"/>
                  <a:gd name="connsiteX25" fmla="*/ 376 w 476517"/>
                  <a:gd name="connsiteY25" fmla="*/ 471292 h 514617"/>
                  <a:gd name="connsiteX26" fmla="*/ 32727 w 476517"/>
                  <a:gd name="connsiteY26" fmla="*/ 514245 h 514617"/>
                  <a:gd name="connsiteX27" fmla="*/ 38101 w 476517"/>
                  <a:gd name="connsiteY27" fmla="*/ 514617 h 514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76517" h="514617">
                    <a:moveTo>
                      <a:pt x="38101" y="514617"/>
                    </a:moveTo>
                    <a:cubicBezTo>
                      <a:pt x="59080" y="514659"/>
                      <a:pt x="76121" y="497686"/>
                      <a:pt x="76163" y="476707"/>
                    </a:cubicBezTo>
                    <a:cubicBezTo>
                      <a:pt x="76187" y="464721"/>
                      <a:pt x="70552" y="453426"/>
                      <a:pt x="60961" y="446237"/>
                    </a:cubicBezTo>
                    <a:lnTo>
                      <a:pt x="143638" y="190691"/>
                    </a:lnTo>
                    <a:cubicBezTo>
                      <a:pt x="149127" y="190561"/>
                      <a:pt x="154522" y="189238"/>
                      <a:pt x="159449" y="186814"/>
                    </a:cubicBezTo>
                    <a:lnTo>
                      <a:pt x="305468" y="298076"/>
                    </a:lnTo>
                    <a:cubicBezTo>
                      <a:pt x="301549" y="318750"/>
                      <a:pt x="315132" y="338685"/>
                      <a:pt x="335805" y="342605"/>
                    </a:cubicBezTo>
                    <a:cubicBezTo>
                      <a:pt x="356479" y="346524"/>
                      <a:pt x="376416" y="332941"/>
                      <a:pt x="380334" y="312267"/>
                    </a:cubicBezTo>
                    <a:cubicBezTo>
                      <a:pt x="380785" y="309894"/>
                      <a:pt x="381008" y="307483"/>
                      <a:pt x="381001" y="305067"/>
                    </a:cubicBezTo>
                    <a:cubicBezTo>
                      <a:pt x="380972" y="293491"/>
                      <a:pt x="375649" y="282564"/>
                      <a:pt x="366551" y="275406"/>
                    </a:cubicBezTo>
                    <a:lnTo>
                      <a:pt x="435503" y="76200"/>
                    </a:lnTo>
                    <a:cubicBezTo>
                      <a:pt x="436398" y="76267"/>
                      <a:pt x="437246" y="76467"/>
                      <a:pt x="438151" y="76467"/>
                    </a:cubicBezTo>
                    <a:cubicBezTo>
                      <a:pt x="459267" y="76540"/>
                      <a:pt x="476443" y="59483"/>
                      <a:pt x="476518" y="38367"/>
                    </a:cubicBezTo>
                    <a:cubicBezTo>
                      <a:pt x="476591" y="17252"/>
                      <a:pt x="459534" y="75"/>
                      <a:pt x="438418" y="0"/>
                    </a:cubicBezTo>
                    <a:cubicBezTo>
                      <a:pt x="417303" y="-73"/>
                      <a:pt x="400125" y="16985"/>
                      <a:pt x="400051" y="38100"/>
                    </a:cubicBezTo>
                    <a:cubicBezTo>
                      <a:pt x="400006" y="51067"/>
                      <a:pt x="406536" y="63173"/>
                      <a:pt x="417396" y="70257"/>
                    </a:cubicBezTo>
                    <a:lnTo>
                      <a:pt x="349092" y="267586"/>
                    </a:lnTo>
                    <a:cubicBezTo>
                      <a:pt x="347048" y="267215"/>
                      <a:pt x="344978" y="267008"/>
                      <a:pt x="342901" y="266967"/>
                    </a:cubicBezTo>
                    <a:cubicBezTo>
                      <a:pt x="331718" y="266996"/>
                      <a:pt x="321120" y="271972"/>
                      <a:pt x="313954" y="280559"/>
                    </a:cubicBezTo>
                    <a:lnTo>
                      <a:pt x="174308" y="174165"/>
                    </a:lnTo>
                    <a:cubicBezTo>
                      <a:pt x="186314" y="156839"/>
                      <a:pt x="182001" y="133061"/>
                      <a:pt x="164675" y="121055"/>
                    </a:cubicBezTo>
                    <a:cubicBezTo>
                      <a:pt x="147348" y="109050"/>
                      <a:pt x="123571" y="113364"/>
                      <a:pt x="111565" y="130690"/>
                    </a:cubicBezTo>
                    <a:cubicBezTo>
                      <a:pt x="99560" y="148016"/>
                      <a:pt x="103873" y="171794"/>
                      <a:pt x="121199" y="183799"/>
                    </a:cubicBezTo>
                    <a:cubicBezTo>
                      <a:pt x="122454" y="184669"/>
                      <a:pt x="123761" y="185462"/>
                      <a:pt x="125112" y="186176"/>
                    </a:cubicBezTo>
                    <a:lnTo>
                      <a:pt x="43330" y="438941"/>
                    </a:lnTo>
                    <a:cubicBezTo>
                      <a:pt x="22535" y="436013"/>
                      <a:pt x="3304" y="450497"/>
                      <a:pt x="376" y="471292"/>
                    </a:cubicBezTo>
                    <a:cubicBezTo>
                      <a:pt x="-2552" y="492086"/>
                      <a:pt x="11932" y="511318"/>
                      <a:pt x="32727" y="514245"/>
                    </a:cubicBezTo>
                    <a:cubicBezTo>
                      <a:pt x="34507" y="514496"/>
                      <a:pt x="36303" y="514621"/>
                      <a:pt x="38101" y="514617"/>
                    </a:cubicBezTo>
                    <a:close/>
                  </a:path>
                </a:pathLst>
              </a:custGeom>
              <a:solidFill>
                <a:srgbClr val="0070C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8" name="Graphic 299" descr="Bar chart with solid fill">
              <a:extLst>
                <a:ext uri="{FF2B5EF4-FFF2-40B4-BE49-F238E27FC236}">
                  <a16:creationId xmlns:a16="http://schemas.microsoft.com/office/drawing/2014/main" id="{064823EA-7DD7-5881-6891-5A1DB02ADB44}"/>
                </a:ext>
              </a:extLst>
            </p:cNvPr>
            <p:cNvGrpSpPr/>
            <p:nvPr/>
          </p:nvGrpSpPr>
          <p:grpSpPr>
            <a:xfrm>
              <a:off x="7624520" y="1543030"/>
              <a:ext cx="319610" cy="319610"/>
              <a:chOff x="7932105" y="2398826"/>
              <a:chExt cx="647700" cy="647700"/>
            </a:xfrm>
            <a:solidFill>
              <a:srgbClr val="000000"/>
            </a:solidFill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A873193-BFE1-4942-220F-39383C8B4411}"/>
                  </a:ext>
                </a:extLst>
              </p:cNvPr>
              <p:cNvSpPr/>
              <p:nvPr/>
            </p:nvSpPr>
            <p:spPr>
              <a:xfrm>
                <a:off x="7932105" y="2398826"/>
                <a:ext cx="647700" cy="647700"/>
              </a:xfrm>
              <a:custGeom>
                <a:avLst/>
                <a:gdLst>
                  <a:gd name="connsiteX0" fmla="*/ 590550 w 647700"/>
                  <a:gd name="connsiteY0" fmla="*/ 0 h 647700"/>
                  <a:gd name="connsiteX1" fmla="*/ 647700 w 647700"/>
                  <a:gd name="connsiteY1" fmla="*/ 0 h 647700"/>
                  <a:gd name="connsiteX2" fmla="*/ 647700 w 647700"/>
                  <a:gd name="connsiteY2" fmla="*/ 647700 h 647700"/>
                  <a:gd name="connsiteX3" fmla="*/ 0 w 647700"/>
                  <a:gd name="connsiteY3" fmla="*/ 647700 h 647700"/>
                  <a:gd name="connsiteX4" fmla="*/ 0 w 647700"/>
                  <a:gd name="connsiteY4" fmla="*/ 590550 h 647700"/>
                  <a:gd name="connsiteX5" fmla="*/ 590550 w 647700"/>
                  <a:gd name="connsiteY5" fmla="*/ 5905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7700" h="647700">
                    <a:moveTo>
                      <a:pt x="590550" y="0"/>
                    </a:moveTo>
                    <a:lnTo>
                      <a:pt x="647700" y="0"/>
                    </a:lnTo>
                    <a:lnTo>
                      <a:pt x="647700" y="647700"/>
                    </a:lnTo>
                    <a:lnTo>
                      <a:pt x="0" y="647700"/>
                    </a:lnTo>
                    <a:lnTo>
                      <a:pt x="0" y="590550"/>
                    </a:lnTo>
                    <a:lnTo>
                      <a:pt x="590550" y="59055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48189716-483B-E3C8-44B9-8227A3047566}"/>
                  </a:ext>
                </a:extLst>
              </p:cNvPr>
              <p:cNvSpPr/>
              <p:nvPr/>
            </p:nvSpPr>
            <p:spPr>
              <a:xfrm>
                <a:off x="8360730" y="2598851"/>
                <a:ext cx="104775" cy="333375"/>
              </a:xfrm>
              <a:custGeom>
                <a:avLst/>
                <a:gdLst>
                  <a:gd name="connsiteX0" fmla="*/ 0 w 104775"/>
                  <a:gd name="connsiteY0" fmla="*/ 0 h 333375"/>
                  <a:gd name="connsiteX1" fmla="*/ 104775 w 104775"/>
                  <a:gd name="connsiteY1" fmla="*/ 0 h 333375"/>
                  <a:gd name="connsiteX2" fmla="*/ 104775 w 104775"/>
                  <a:gd name="connsiteY2" fmla="*/ 333375 h 333375"/>
                  <a:gd name="connsiteX3" fmla="*/ 0 w 104775"/>
                  <a:gd name="connsiteY3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333375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2E90E915-5A2A-FEA6-DCB3-C77F1259ED93}"/>
                  </a:ext>
                </a:extLst>
              </p:cNvPr>
              <p:cNvSpPr/>
              <p:nvPr/>
            </p:nvSpPr>
            <p:spPr>
              <a:xfrm>
                <a:off x="8217855" y="2398826"/>
                <a:ext cx="104775" cy="533400"/>
              </a:xfrm>
              <a:custGeom>
                <a:avLst/>
                <a:gdLst>
                  <a:gd name="connsiteX0" fmla="*/ 0 w 104775"/>
                  <a:gd name="connsiteY0" fmla="*/ 0 h 533400"/>
                  <a:gd name="connsiteX1" fmla="*/ 104775 w 104775"/>
                  <a:gd name="connsiteY1" fmla="*/ 0 h 533400"/>
                  <a:gd name="connsiteX2" fmla="*/ 104775 w 104775"/>
                  <a:gd name="connsiteY2" fmla="*/ 533400 h 533400"/>
                  <a:gd name="connsiteX3" fmla="*/ 0 w 104775"/>
                  <a:gd name="connsiteY3" fmla="*/ 533400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533400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533400"/>
                    </a:lnTo>
                    <a:lnTo>
                      <a:pt x="0" y="533400"/>
                    </a:lnTo>
                    <a:close/>
                  </a:path>
                </a:pathLst>
              </a:custGeom>
              <a:solidFill>
                <a:srgbClr val="00B0F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B654401C-5215-F641-5B85-197AE9A17094}"/>
                  </a:ext>
                </a:extLst>
              </p:cNvPr>
              <p:cNvSpPr/>
              <p:nvPr/>
            </p:nvSpPr>
            <p:spPr>
              <a:xfrm>
                <a:off x="8074980" y="2598851"/>
                <a:ext cx="104775" cy="333375"/>
              </a:xfrm>
              <a:custGeom>
                <a:avLst/>
                <a:gdLst>
                  <a:gd name="connsiteX0" fmla="*/ 0 w 104775"/>
                  <a:gd name="connsiteY0" fmla="*/ 0 h 333375"/>
                  <a:gd name="connsiteX1" fmla="*/ 104775 w 104775"/>
                  <a:gd name="connsiteY1" fmla="*/ 0 h 333375"/>
                  <a:gd name="connsiteX2" fmla="*/ 104775 w 104775"/>
                  <a:gd name="connsiteY2" fmla="*/ 333375 h 333375"/>
                  <a:gd name="connsiteX3" fmla="*/ 0 w 104775"/>
                  <a:gd name="connsiteY3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333375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0070C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44EDA1B-05B2-492C-6B0B-47BEED029CDA}"/>
                  </a:ext>
                </a:extLst>
              </p:cNvPr>
              <p:cNvSpPr/>
              <p:nvPr/>
            </p:nvSpPr>
            <p:spPr>
              <a:xfrm>
                <a:off x="7932105" y="2760776"/>
                <a:ext cx="104775" cy="171450"/>
              </a:xfrm>
              <a:custGeom>
                <a:avLst/>
                <a:gdLst>
                  <a:gd name="connsiteX0" fmla="*/ 0 w 104775"/>
                  <a:gd name="connsiteY0" fmla="*/ 0 h 171450"/>
                  <a:gd name="connsiteX1" fmla="*/ 104775 w 104775"/>
                  <a:gd name="connsiteY1" fmla="*/ 0 h 171450"/>
                  <a:gd name="connsiteX2" fmla="*/ 104775 w 104775"/>
                  <a:gd name="connsiteY2" fmla="*/ 171450 h 171450"/>
                  <a:gd name="connsiteX3" fmla="*/ 0 w 104775"/>
                  <a:gd name="connsiteY3" fmla="*/ 171450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75" h="171450">
                    <a:moveTo>
                      <a:pt x="0" y="0"/>
                    </a:moveTo>
                    <a:lnTo>
                      <a:pt x="104775" y="0"/>
                    </a:lnTo>
                    <a:lnTo>
                      <a:pt x="104775" y="17145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9" name="Graphic 301" descr="Pie chart with solid fill">
              <a:extLst>
                <a:ext uri="{FF2B5EF4-FFF2-40B4-BE49-F238E27FC236}">
                  <a16:creationId xmlns:a16="http://schemas.microsoft.com/office/drawing/2014/main" id="{90B0B46C-5CD2-89E6-07B9-D695A010A6C5}"/>
                </a:ext>
              </a:extLst>
            </p:cNvPr>
            <p:cNvGrpSpPr/>
            <p:nvPr/>
          </p:nvGrpSpPr>
          <p:grpSpPr>
            <a:xfrm>
              <a:off x="7183848" y="1532533"/>
              <a:ext cx="356741" cy="357212"/>
              <a:chOff x="7039070" y="2377553"/>
              <a:chExt cx="722947" cy="723900"/>
            </a:xfrm>
            <a:solidFill>
              <a:srgbClr val="000000"/>
            </a:solidFill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8FE8FC91-80ED-5C11-A48B-94CD782AD3C4}"/>
                  </a:ext>
                </a:extLst>
              </p:cNvPr>
              <p:cNvSpPr/>
              <p:nvPr/>
            </p:nvSpPr>
            <p:spPr>
              <a:xfrm>
                <a:off x="7039070" y="2377553"/>
                <a:ext cx="603885" cy="723900"/>
              </a:xfrm>
              <a:custGeom>
                <a:avLst/>
                <a:gdLst>
                  <a:gd name="connsiteX0" fmla="*/ 342900 w 603885"/>
                  <a:gd name="connsiteY0" fmla="*/ 0 h 723900"/>
                  <a:gd name="connsiteX1" fmla="*/ 0 w 603885"/>
                  <a:gd name="connsiteY1" fmla="*/ 361950 h 723900"/>
                  <a:gd name="connsiteX2" fmla="*/ 361950 w 603885"/>
                  <a:gd name="connsiteY2" fmla="*/ 723900 h 723900"/>
                  <a:gd name="connsiteX3" fmla="*/ 603885 w 603885"/>
                  <a:gd name="connsiteY3" fmla="*/ 630555 h 723900"/>
                  <a:gd name="connsiteX4" fmla="*/ 342900 w 603885"/>
                  <a:gd name="connsiteY4" fmla="*/ 369570 h 723900"/>
                  <a:gd name="connsiteX5" fmla="*/ 342900 w 603885"/>
                  <a:gd name="connsiteY5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3885" h="723900">
                    <a:moveTo>
                      <a:pt x="342900" y="0"/>
                    </a:moveTo>
                    <a:cubicBezTo>
                      <a:pt x="152400" y="9525"/>
                      <a:pt x="0" y="16954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452438" y="723900"/>
                      <a:pt x="537210" y="691515"/>
                      <a:pt x="603885" y="630555"/>
                    </a:cubicBezTo>
                    <a:lnTo>
                      <a:pt x="342900" y="369570"/>
                    </a:lnTo>
                    <a:lnTo>
                      <a:pt x="342900" y="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F220115E-A3F8-0D03-1257-F79B17AC3A9F}"/>
                  </a:ext>
                </a:extLst>
              </p:cNvPr>
              <p:cNvSpPr/>
              <p:nvPr/>
            </p:nvSpPr>
            <p:spPr>
              <a:xfrm>
                <a:off x="7420070" y="2377553"/>
                <a:ext cx="341947" cy="342900"/>
              </a:xfrm>
              <a:custGeom>
                <a:avLst/>
                <a:gdLst>
                  <a:gd name="connsiteX0" fmla="*/ 0 w 341947"/>
                  <a:gd name="connsiteY0" fmla="*/ 0 h 342900"/>
                  <a:gd name="connsiteX1" fmla="*/ 0 w 341947"/>
                  <a:gd name="connsiteY1" fmla="*/ 342900 h 342900"/>
                  <a:gd name="connsiteX2" fmla="*/ 341948 w 341947"/>
                  <a:gd name="connsiteY2" fmla="*/ 342900 h 342900"/>
                  <a:gd name="connsiteX3" fmla="*/ 0 w 341947"/>
                  <a:gd name="connsiteY3" fmla="*/ 0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947" h="342900">
                    <a:moveTo>
                      <a:pt x="0" y="0"/>
                    </a:moveTo>
                    <a:lnTo>
                      <a:pt x="0" y="342900"/>
                    </a:lnTo>
                    <a:lnTo>
                      <a:pt x="341948" y="342900"/>
                    </a:lnTo>
                    <a:cubicBezTo>
                      <a:pt x="332423" y="157163"/>
                      <a:pt x="184785" y="9525"/>
                      <a:pt x="0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1407703B-5E71-9957-EBAD-C817E1601419}"/>
                  </a:ext>
                </a:extLst>
              </p:cNvPr>
              <p:cNvSpPr/>
              <p:nvPr/>
            </p:nvSpPr>
            <p:spPr>
              <a:xfrm>
                <a:off x="7446739" y="2758553"/>
                <a:ext cx="315277" cy="222885"/>
              </a:xfrm>
              <a:custGeom>
                <a:avLst/>
                <a:gdLst>
                  <a:gd name="connsiteX0" fmla="*/ 0 w 315277"/>
                  <a:gd name="connsiteY0" fmla="*/ 0 h 222885"/>
                  <a:gd name="connsiteX1" fmla="*/ 222885 w 315277"/>
                  <a:gd name="connsiteY1" fmla="*/ 222885 h 222885"/>
                  <a:gd name="connsiteX2" fmla="*/ 315278 w 315277"/>
                  <a:gd name="connsiteY2" fmla="*/ 0 h 222885"/>
                  <a:gd name="connsiteX3" fmla="*/ 0 w 315277"/>
                  <a:gd name="connsiteY3" fmla="*/ 0 h 222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277" h="222885">
                    <a:moveTo>
                      <a:pt x="0" y="0"/>
                    </a:moveTo>
                    <a:lnTo>
                      <a:pt x="222885" y="222885"/>
                    </a:lnTo>
                    <a:cubicBezTo>
                      <a:pt x="279083" y="160973"/>
                      <a:pt x="311468" y="82868"/>
                      <a:pt x="31527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0F0"/>
              </a:solidFill>
              <a:ln w="46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A644A2C-CF48-E0B4-6590-15E1AD55EF08}"/>
                </a:ext>
              </a:extLst>
            </p:cNvPr>
            <p:cNvGrpSpPr/>
            <p:nvPr/>
          </p:nvGrpSpPr>
          <p:grpSpPr>
            <a:xfrm>
              <a:off x="7209320" y="1914672"/>
              <a:ext cx="392443" cy="357991"/>
              <a:chOff x="6521450" y="1121124"/>
              <a:chExt cx="944580" cy="861658"/>
            </a:xfrm>
          </p:grpSpPr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E8CD878B-41FF-318F-ACEF-6D6E7FDE948C}"/>
                  </a:ext>
                </a:extLst>
              </p:cNvPr>
              <p:cNvSpPr/>
              <p:nvPr/>
            </p:nvSpPr>
            <p:spPr>
              <a:xfrm>
                <a:off x="6521450" y="1339129"/>
                <a:ext cx="404689" cy="641430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20F6F016-EB69-A7A0-1A21-50AE0DA97E9B}"/>
                  </a:ext>
                </a:extLst>
              </p:cNvPr>
              <p:cNvSpPr/>
              <p:nvPr/>
            </p:nvSpPr>
            <p:spPr>
              <a:xfrm>
                <a:off x="6769139" y="1121124"/>
                <a:ext cx="404689" cy="861658"/>
              </a:xfrm>
              <a:prstGeom prst="triangl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Isosceles Triangle 36">
                <a:extLst>
                  <a:ext uri="{FF2B5EF4-FFF2-40B4-BE49-F238E27FC236}">
                    <a16:creationId xmlns:a16="http://schemas.microsoft.com/office/drawing/2014/main" id="{6F4BA442-340B-7BB3-9188-F720D4F58536}"/>
                  </a:ext>
                </a:extLst>
              </p:cNvPr>
              <p:cNvSpPr/>
              <p:nvPr/>
            </p:nvSpPr>
            <p:spPr>
              <a:xfrm>
                <a:off x="7061341" y="1339129"/>
                <a:ext cx="404689" cy="641430"/>
              </a:xfrm>
              <a:prstGeom prst="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3C5BA75-F7E0-35E5-F9DF-141DF494FDEC}"/>
                </a:ext>
              </a:extLst>
            </p:cNvPr>
            <p:cNvGrpSpPr/>
            <p:nvPr/>
          </p:nvGrpSpPr>
          <p:grpSpPr>
            <a:xfrm>
              <a:off x="7654029" y="1938411"/>
              <a:ext cx="742923" cy="330110"/>
              <a:chOff x="6456988" y="1864900"/>
              <a:chExt cx="1355838" cy="41987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DD729C4-78B7-26BB-4DBD-9570704A9AF6}"/>
                  </a:ext>
                </a:extLst>
              </p:cNvPr>
              <p:cNvSpPr/>
              <p:nvPr/>
            </p:nvSpPr>
            <p:spPr>
              <a:xfrm>
                <a:off x="6457950" y="1864900"/>
                <a:ext cx="1346311" cy="7145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CC4E823-4BF4-8E4F-A50F-192C3BC22010}"/>
                  </a:ext>
                </a:extLst>
              </p:cNvPr>
              <p:cNvSpPr/>
              <p:nvPr/>
            </p:nvSpPr>
            <p:spPr>
              <a:xfrm>
                <a:off x="6456988" y="1983896"/>
                <a:ext cx="789777" cy="686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7F050A6-E1C6-91A3-7BBD-ED41FB90E3B7}"/>
                  </a:ext>
                </a:extLst>
              </p:cNvPr>
              <p:cNvSpPr/>
              <p:nvPr/>
            </p:nvSpPr>
            <p:spPr>
              <a:xfrm>
                <a:off x="7285102" y="1982084"/>
                <a:ext cx="518621" cy="686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E430C75-75CB-B750-722C-F07D37BD8ACC}"/>
                  </a:ext>
                </a:extLst>
              </p:cNvPr>
              <p:cNvSpPr/>
              <p:nvPr/>
            </p:nvSpPr>
            <p:spPr>
              <a:xfrm>
                <a:off x="6457412" y="2093625"/>
                <a:ext cx="1346311" cy="7145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2F7F9B3-6EC5-334C-515F-7573BE012154}"/>
                  </a:ext>
                </a:extLst>
              </p:cNvPr>
              <p:cNvSpPr/>
              <p:nvPr/>
            </p:nvSpPr>
            <p:spPr>
              <a:xfrm rot="10800000">
                <a:off x="7023049" y="2211456"/>
                <a:ext cx="789777" cy="686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B7DE087-64D6-8D31-3543-B98515AB525F}"/>
                  </a:ext>
                </a:extLst>
              </p:cNvPr>
              <p:cNvSpPr/>
              <p:nvPr/>
            </p:nvSpPr>
            <p:spPr>
              <a:xfrm rot="10800000">
                <a:off x="6456988" y="2216151"/>
                <a:ext cx="518621" cy="686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3" name="Graphic 52" descr="Television with solid fill">
            <a:extLst>
              <a:ext uri="{FF2B5EF4-FFF2-40B4-BE49-F238E27FC236}">
                <a16:creationId xmlns:a16="http://schemas.microsoft.com/office/drawing/2014/main" id="{49295A29-438A-7C0F-4EF2-4F05EAFDBF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5090" y="3940413"/>
            <a:ext cx="1669245" cy="1546752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CF971232-6F36-FCC4-0780-799E49206081}"/>
              </a:ext>
            </a:extLst>
          </p:cNvPr>
          <p:cNvSpPr/>
          <p:nvPr/>
        </p:nvSpPr>
        <p:spPr>
          <a:xfrm>
            <a:off x="9716580" y="3640391"/>
            <a:ext cx="1579880" cy="496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INS Public Website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E67075-3C48-6CAA-E38E-C9F3C07361EF}"/>
              </a:ext>
            </a:extLst>
          </p:cNvPr>
          <p:cNvSpPr txBox="1"/>
          <p:nvPr/>
        </p:nvSpPr>
        <p:spPr>
          <a:xfrm>
            <a:off x="536541" y="1647567"/>
            <a:ext cx="2590040" cy="70788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1200" dirty="0"/>
              <a:t>Community Surveillance</a:t>
            </a:r>
          </a:p>
          <a:p>
            <a:pPr algn="l"/>
            <a:r>
              <a:rPr lang="en-US" sz="1200" dirty="0"/>
              <a:t>Hospital Based Surveillance</a:t>
            </a:r>
          </a:p>
          <a:p>
            <a:pPr algn="l"/>
            <a:r>
              <a:rPr lang="en-US" sz="1200" dirty="0"/>
              <a:t>Environmental Surveillance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6740F8-57A3-B7C7-6379-478726DFE176}"/>
              </a:ext>
            </a:extLst>
          </p:cNvPr>
          <p:cNvSpPr txBox="1"/>
          <p:nvPr/>
        </p:nvSpPr>
        <p:spPr>
          <a:xfrm>
            <a:off x="703915" y="5843224"/>
            <a:ext cx="2213648" cy="9059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 sz="11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200" dirty="0"/>
              <a:t>Serology</a:t>
            </a:r>
          </a:p>
          <a:p>
            <a:r>
              <a:rPr lang="en-US" sz="1200" dirty="0"/>
              <a:t>Microbiology</a:t>
            </a:r>
          </a:p>
          <a:p>
            <a:r>
              <a:rPr lang="en-US" sz="1200" dirty="0"/>
              <a:t>PCR</a:t>
            </a:r>
          </a:p>
          <a:p>
            <a:r>
              <a:rPr lang="en-US" sz="1200" dirty="0"/>
              <a:t>Genomic Surveillance</a:t>
            </a:r>
          </a:p>
          <a:p>
            <a:pPr lvl="1"/>
            <a:r>
              <a:rPr lang="en-US" sz="1200" dirty="0"/>
              <a:t>(PCR and Sequencing)</a:t>
            </a:r>
          </a:p>
        </p:txBody>
      </p:sp>
      <p:pic>
        <p:nvPicPr>
          <p:cNvPr id="4" name="Picture 9" descr="Graphical user interface&#10;&#10;Description automatically generated">
            <a:extLst>
              <a:ext uri="{FF2B5EF4-FFF2-40B4-BE49-F238E27FC236}">
                <a16:creationId xmlns:a16="http://schemas.microsoft.com/office/drawing/2014/main" id="{42CC97D0-256C-3FB4-5515-46FFD35B70F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31753" y="1109925"/>
            <a:ext cx="3838297" cy="21570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A2BBE0DB-5FC5-F091-83C1-CA308CCED54C}"/>
              </a:ext>
            </a:extLst>
          </p:cNvPr>
          <p:cNvSpPr/>
          <p:nvPr/>
        </p:nvSpPr>
        <p:spPr>
          <a:xfrm rot="10800000">
            <a:off x="8142513" y="3321517"/>
            <a:ext cx="228600" cy="200061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093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69FA01-66FD-F720-9203-9EBDBA052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34" y="1066220"/>
            <a:ext cx="3973944" cy="5107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52F8D5-9935-EF3F-DBE3-2BD403AE3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289" y="1066220"/>
            <a:ext cx="3796006" cy="5107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D22292-BACB-B44C-664E-13F51B4DC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959" y="1076199"/>
            <a:ext cx="3796006" cy="504157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A136A09-D5FA-1669-3CB4-E27599554F54}"/>
              </a:ext>
            </a:extLst>
          </p:cNvPr>
          <p:cNvSpPr txBox="1">
            <a:spLocks/>
          </p:cNvSpPr>
          <p:nvPr/>
        </p:nvSpPr>
        <p:spPr bwMode="auto">
          <a:xfrm>
            <a:off x="718457" y="952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879C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E3A6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GB" dirty="0"/>
              <a:t>IDS epidemiological bulletin</a:t>
            </a:r>
            <a:endParaRPr lang="en-GB" sz="1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54385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14ADC-8EC6-6316-A89B-E95B4534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39594-7207-6E5C-D87E-FFFDBAA87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381000"/>
            <a:ext cx="9481457" cy="1143000"/>
          </a:xfrm>
        </p:spPr>
        <p:txBody>
          <a:bodyPr/>
          <a:lstStyle/>
          <a:p>
            <a:br>
              <a:rPr lang="en-PT" dirty="0"/>
            </a:br>
            <a:r>
              <a:rPr lang="en-GB" dirty="0"/>
              <a:t>Appendices</a:t>
            </a:r>
            <a:endParaRPr lang="en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A200B-2242-96D2-8B1D-40D26010F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sz="2600" b="0" dirty="0"/>
              <a:t>IDS detailed table of indicators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600" b="0" dirty="0"/>
              <a:t>Terms of References for the Integrated surveillance dashboard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600" b="0" dirty="0"/>
              <a:t>Terms of References for the Integrated surveillance epidemiological bulletins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600" b="0" dirty="0"/>
              <a:t>Terms of References for the data team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600" b="0" dirty="0"/>
              <a:t>Data to action strategy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600" b="0" dirty="0">
                <a:highlight>
                  <a:srgbClr val="FFFF00"/>
                </a:highlight>
              </a:rPr>
              <a:t>Detailed integrated analysis plan (preliminary draft)</a:t>
            </a:r>
          </a:p>
          <a:p>
            <a:pPr marL="514350" indent="-514350">
              <a:buFont typeface="+mj-lt"/>
              <a:buAutoNum type="arabicPeriod"/>
            </a:pPr>
            <a:endParaRPr lang="en-PT" sz="2600" b="0" dirty="0"/>
          </a:p>
        </p:txBody>
      </p:sp>
    </p:spTree>
    <p:extLst>
      <p:ext uri="{BB962C8B-B14F-4D97-AF65-F5344CB8AC3E}">
        <p14:creationId xmlns:p14="http://schemas.microsoft.com/office/powerpoint/2010/main" val="1603461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FF592-3D25-E0EA-5723-011A375BDD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0774" y="325796"/>
            <a:ext cx="10515600" cy="1012825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002060"/>
                </a:solidFill>
              </a:rPr>
              <a:t>Next steps</a:t>
            </a:r>
            <a:endParaRPr lang="en-MZ" sz="36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79BC9-D94F-52D9-5762-ED4F5A31CD6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2251" y="1338621"/>
            <a:ext cx="10848975" cy="4352925"/>
          </a:xfrm>
        </p:spPr>
        <p:txBody>
          <a:bodyPr>
            <a:normAutofit/>
          </a:bodyPr>
          <a:lstStyle/>
          <a:p>
            <a:pPr marL="3657600" lvl="8" indent="0" algn="just">
              <a:buNone/>
            </a:pPr>
            <a:endParaRPr lang="en-US" dirty="0"/>
          </a:p>
          <a:p>
            <a:pPr lvl="8" algn="just"/>
            <a:endParaRPr lang="en-MZ" i="1" dirty="0">
              <a:solidFill>
                <a:srgbClr val="002060"/>
              </a:solidFill>
            </a:endParaRPr>
          </a:p>
          <a:p>
            <a:pPr lvl="1" algn="just"/>
            <a:r>
              <a:rPr lang="en-GB" sz="2800" b="0" dirty="0"/>
              <a:t>Detailed data analysis plan (tabulation plan)</a:t>
            </a:r>
          </a:p>
          <a:p>
            <a:pPr lvl="1" algn="just"/>
            <a:r>
              <a:rPr lang="en-GB" sz="2800" b="0" dirty="0"/>
              <a:t>Detailed timeline of activities</a:t>
            </a:r>
          </a:p>
          <a:p>
            <a:pPr lvl="1" algn="just"/>
            <a:r>
              <a:rPr lang="en-GB" sz="2800" b="0" dirty="0"/>
              <a:t>Data triangulation training with </a:t>
            </a:r>
            <a:r>
              <a:rPr lang="en-GB" sz="2800" b="0" dirty="0" err="1"/>
              <a:t>IsGLOBAL</a:t>
            </a:r>
            <a:endParaRPr lang="en-GB" sz="2800" b="0" dirty="0"/>
          </a:p>
          <a:p>
            <a:pPr lvl="1" algn="just"/>
            <a:r>
              <a:rPr lang="en-GB" sz="2800" b="0" dirty="0"/>
              <a:t>Data modelling training with IHME</a:t>
            </a:r>
            <a:endParaRPr lang="en-MZ" sz="2800" dirty="0"/>
          </a:p>
        </p:txBody>
      </p:sp>
    </p:spTree>
    <p:extLst>
      <p:ext uri="{BB962C8B-B14F-4D97-AF65-F5344CB8AC3E}">
        <p14:creationId xmlns:p14="http://schemas.microsoft.com/office/powerpoint/2010/main" val="3004569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79B9B4-ADFB-0A4D-AEBF-5A12C225B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9936" y="1066800"/>
            <a:ext cx="5753112" cy="2486028"/>
          </a:xfrm>
        </p:spPr>
        <p:txBody>
          <a:bodyPr>
            <a:normAutofit fontScale="90000"/>
          </a:bodyPr>
          <a:lstStyle/>
          <a:p>
            <a:r>
              <a:rPr lang="en" dirty="0">
                <a:latin typeface="Times New Roman"/>
                <a:cs typeface="Times New Roman"/>
              </a:rPr>
              <a:t>Implementation &amp; Evaluation of the Implementation Process of the Integrated Disease Surveillance Pilot in Mozambique, 2024-2025</a:t>
            </a:r>
            <a:br>
              <a:rPr lang="pt-PT" dirty="0">
                <a:latin typeface="Times New Roman"/>
                <a:cs typeface="Times New Roman"/>
              </a:rPr>
            </a:br>
            <a:endParaRPr lang="pt-PT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A8D95529-AABE-C270-90B0-3229F0DCF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892630"/>
            <a:ext cx="8229600" cy="709613"/>
          </a:xfrm>
        </p:spPr>
        <p:txBody>
          <a:bodyPr/>
          <a:lstStyle/>
          <a:p>
            <a:pPr eaLnBrk="1" hangingPunct="1"/>
            <a:r>
              <a:rPr lang="en" altLang="en-US" dirty="0"/>
              <a:t>Aims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2FBF47-804F-6204-CA64-B3BFBED5F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24279"/>
            <a:ext cx="11223171" cy="4694237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" sz="2400" b="0" dirty="0"/>
              <a:t>Describe the pilot implementation;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" sz="2400" b="0" dirty="0"/>
              <a:t>Evaluate the pilot implementation process</a:t>
            </a:r>
          </a:p>
          <a:p>
            <a:pPr marL="881063" lvl="1" indent="-514350" algn="just">
              <a:buFont typeface="+mj-lt"/>
              <a:buAutoNum type="romanLcPeriod"/>
            </a:pPr>
            <a:r>
              <a:rPr lang="en" sz="2000" b="0" dirty="0"/>
              <a:t>Describe the fidelity of the implementation</a:t>
            </a:r>
          </a:p>
          <a:p>
            <a:pPr marL="881063" lvl="1" indent="-514350" algn="just">
              <a:buFont typeface="+mj-lt"/>
              <a:buAutoNum type="romanLcPeriod"/>
            </a:pPr>
            <a:r>
              <a:rPr lang="en" sz="2000" b="0" dirty="0"/>
              <a:t>Describe the determinants of successful intervention implementation.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676DD-E6B4-B0E7-1397-703BFBF3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/>
              <a:t>Implementation Evaluation </a:t>
            </a:r>
            <a:br>
              <a:rPr lang="pt-PT" altLang="en-US" sz="2800" dirty="0"/>
            </a:br>
            <a:r>
              <a:rPr lang="en" altLang="en-US" sz="2600" dirty="0"/>
              <a:t>Fidelity Study</a:t>
            </a:r>
            <a:endParaRPr lang="pt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454A42-2371-6B24-5EB9-4A35E128E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2601" y="1981200"/>
            <a:ext cx="4190999" cy="533400"/>
          </a:xfrm>
          <a:solidFill>
            <a:schemeClr val="bg1">
              <a:lumMod val="85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pPr algn="ctr"/>
            <a:r>
              <a:rPr lang="en" dirty="0">
                <a:solidFill>
                  <a:srgbClr val="8C0000"/>
                </a:solidFill>
              </a:rPr>
              <a:t>Implementation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0E74FD-EF1B-CB2B-17E8-8BA178CD0DEE}"/>
              </a:ext>
            </a:extLst>
          </p:cNvPr>
          <p:cNvSpPr>
            <a:spLocks noGrp="1"/>
          </p:cNvSpPr>
          <p:nvPr>
            <p:ph type="body" sz="half" idx="3"/>
          </p:nvPr>
        </p:nvSpPr>
        <p:spPr>
          <a:xfrm>
            <a:off x="6094414" y="1981200"/>
            <a:ext cx="4343399" cy="533400"/>
          </a:xfrm>
          <a:solidFill>
            <a:schemeClr val="bg1">
              <a:lumMod val="85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pPr algn="ctr"/>
            <a:r>
              <a:rPr lang="en" dirty="0">
                <a:solidFill>
                  <a:srgbClr val="8C0000"/>
                </a:solidFill>
              </a:rPr>
              <a:t>Description of fidelity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2221A0-4319-7990-8579-53F79BE100E0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1752602" y="2514600"/>
            <a:ext cx="4190999" cy="3845720"/>
          </a:xfrm>
          <a:ln w="19050"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r>
              <a:rPr lang="en" b="0" dirty="0"/>
              <a:t>Proctor 's recommendation </a:t>
            </a:r>
            <a:r>
              <a:rPr lang="en" sz="2000" b="0" i="1" dirty="0"/>
              <a:t> (Proctor 2013)</a:t>
            </a:r>
          </a:p>
          <a:p>
            <a:pPr marL="393700" lvl="1" indent="0">
              <a:buNone/>
            </a:pPr>
            <a:r>
              <a:rPr lang="en" sz="1600" b="0" dirty="0"/>
              <a:t>1) Name, 2) define, 3) specify </a:t>
            </a:r>
            <a:r>
              <a:rPr lang="en" sz="1600" b="0" dirty="0" err="1"/>
              <a:t>i</a:t>
            </a:r>
            <a:endParaRPr lang="pt-PT" sz="1200" b="0" dirty="0"/>
          </a:p>
          <a:p>
            <a:pPr marL="457200" indent="-457200">
              <a:buFont typeface="+mj-lt"/>
              <a:buAutoNum type="arabicPeriod"/>
            </a:pPr>
            <a:r>
              <a:rPr lang="en" b="0" dirty="0"/>
              <a:t>Review study documents</a:t>
            </a:r>
          </a:p>
          <a:p>
            <a:pPr marL="457200" indent="-457200">
              <a:buFont typeface="+mj-lt"/>
              <a:buAutoNum type="arabicPeriod"/>
            </a:pPr>
            <a:r>
              <a:rPr lang="en" b="0" dirty="0"/>
              <a:t>Write the draft of the intervention</a:t>
            </a:r>
          </a:p>
          <a:p>
            <a:pPr marL="457200" indent="-457200">
              <a:buFont typeface="+mj-lt"/>
              <a:buAutoNum type="arabicPeriod"/>
            </a:pPr>
            <a:r>
              <a:rPr lang="en" b="0" dirty="0"/>
              <a:t>Validate with the team </a:t>
            </a:r>
            <a:r>
              <a:rPr lang="en" sz="2000" b="0" dirty="0"/>
              <a:t>(focus group discussion)</a:t>
            </a:r>
          </a:p>
          <a:p>
            <a:pPr marL="457200" indent="-457200">
              <a:buFont typeface="+mj-lt"/>
              <a:buAutoNum type="arabicPeriod"/>
            </a:pPr>
            <a:r>
              <a:rPr lang="en" b="0" dirty="0"/>
              <a:t>Write the final version of the intervention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0E213B-8068-31F4-E081-70D3958AC5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1" y="2514600"/>
            <a:ext cx="4343400" cy="3845720"/>
          </a:xfrm>
          <a:ln w="19050"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r>
              <a:rPr lang="en" sz="2100" b="0" dirty="0"/>
              <a:t>Intervention described</a:t>
            </a:r>
            <a:r>
              <a:rPr lang="en" sz="2400" b="0" dirty="0"/>
              <a:t> </a:t>
            </a:r>
            <a:r>
              <a:rPr lang="en" sz="2400" b="0" i="1" dirty="0" err="1">
                <a:solidFill>
                  <a:srgbClr val="780603"/>
                </a:solidFill>
              </a:rPr>
              <a:t>vs </a:t>
            </a:r>
            <a:r>
              <a:rPr lang="en" sz="2100" b="0" dirty="0"/>
              <a:t>implemented </a:t>
            </a:r>
            <a:r>
              <a:rPr lang="en" sz="2100" b="0" i="1" dirty="0"/>
              <a:t>(Carrol 2009)</a:t>
            </a:r>
          </a:p>
          <a:p>
            <a:pPr marL="366713" lvl="1" indent="0">
              <a:buNone/>
            </a:pPr>
            <a:r>
              <a:rPr lang="en" sz="1900" b="0" dirty="0"/>
              <a:t>1) Content, 2) frequency, 3) duration</a:t>
            </a:r>
          </a:p>
          <a:p>
            <a:pPr marL="457200" indent="-457200">
              <a:buFont typeface="+mj-lt"/>
              <a:buAutoNum type="arabicPeriod"/>
            </a:pPr>
            <a:r>
              <a:rPr lang="en" sz="2100" b="0" dirty="0"/>
              <a:t>Quarterly</a:t>
            </a:r>
          </a:p>
          <a:p>
            <a:pPr marL="457200" indent="-457200">
              <a:buFont typeface="+mj-lt"/>
              <a:buAutoNum type="arabicPeriod"/>
            </a:pPr>
            <a:r>
              <a:rPr lang="en" sz="2100" b="0" dirty="0"/>
              <a:t>Use of primary and secondary data</a:t>
            </a:r>
          </a:p>
          <a:p>
            <a:pPr marL="457200" indent="-457200">
              <a:buFont typeface="+mj-lt"/>
              <a:buAutoNum type="arabicPeriod"/>
            </a:pPr>
            <a:r>
              <a:rPr lang="en" sz="2100" b="0" dirty="0"/>
              <a:t>Quantitative analysis to report fidelity percentage</a:t>
            </a:r>
          </a:p>
          <a:p>
            <a:pPr marL="457200" indent="-457200">
              <a:buFont typeface="+mj-lt"/>
              <a:buAutoNum type="arabicPeriod"/>
            </a:pPr>
            <a:r>
              <a:rPr lang="en" sz="2100" b="0" dirty="0"/>
              <a:t>Qualitative analysis to understand the reasons for non-compliance</a:t>
            </a:r>
          </a:p>
        </p:txBody>
      </p:sp>
    </p:spTree>
    <p:extLst>
      <p:ext uri="{BB962C8B-B14F-4D97-AF65-F5344CB8AC3E}">
        <p14:creationId xmlns:p14="http://schemas.microsoft.com/office/powerpoint/2010/main" val="713767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D31F56-0742-66FA-9446-47EF1E400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4A778AC2-58C4-44ED-3B65-A498FC2AF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865" y="418035"/>
            <a:ext cx="8520751" cy="1524000"/>
          </a:xfrm>
        </p:spPr>
        <p:txBody>
          <a:bodyPr/>
          <a:lstStyle/>
          <a:p>
            <a:pPr eaLnBrk="1" hangingPunct="1"/>
            <a:r>
              <a:rPr lang="en" altLang="en-US" dirty="0"/>
              <a:t>Implementation Assessment </a:t>
            </a:r>
            <a:br>
              <a:rPr lang="pt-PT" altLang="en-US" sz="2800" dirty="0"/>
            </a:br>
            <a:r>
              <a:rPr lang="en" altLang="en-US" sz="2600" dirty="0"/>
              <a:t>Study of the determinants of successful implementation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A23400E-7B57-4B0A-3978-4881E882C4C3}"/>
              </a:ext>
            </a:extLst>
          </p:cNvPr>
          <p:cNvSpPr txBox="1">
            <a:spLocks/>
          </p:cNvSpPr>
          <p:nvPr/>
        </p:nvSpPr>
        <p:spPr>
          <a:xfrm>
            <a:off x="528865" y="1185316"/>
            <a:ext cx="3973217" cy="4487367"/>
          </a:xfrm>
          <a:prstGeom prst="rect">
            <a:avLst/>
          </a:prstGeom>
        </p:spPr>
        <p:txBody>
          <a:bodyPr vert="horz" lIns="0" tIns="0" rIns="0" bIns="0" anchor="b"/>
          <a:lstStyle>
            <a:defPPr>
              <a:defRPr lang="en-US"/>
            </a:defPPr>
            <a:lvl1pPr algn="l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kern="1200">
                <a:solidFill>
                  <a:schemeClr val="tx2">
                    <a:shade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639763" lvl="1" indent="-246063" algn="just">
              <a:spcBef>
                <a:spcPct val="20000"/>
              </a:spcBef>
              <a:buClr>
                <a:srgbClr val="813557"/>
              </a:buClr>
              <a:buSzPct val="85000"/>
              <a:buFont typeface="Wingdings 2" pitchFamily="2" charset="2"/>
              <a:buChar char=""/>
            </a:pPr>
            <a:r>
              <a:rPr lang="en" sz="2000" b="1" dirty="0">
                <a:latin typeface="Times New Roman" pitchFamily="18" charset="0"/>
                <a:cs typeface="Times New Roman" pitchFamily="18" charset="0"/>
              </a:rPr>
              <a:t>Type of study</a:t>
            </a:r>
          </a:p>
          <a:p>
            <a:pPr marL="736600" lvl="1" indent="-342900" algn="just">
              <a:spcBef>
                <a:spcPct val="20000"/>
              </a:spcBef>
              <a:buClr>
                <a:srgbClr val="813557"/>
              </a:buClr>
              <a:buSzPct val="85000"/>
              <a:buFont typeface="Wingdings" pitchFamily="2" charset="2"/>
              <a:buChar char="Ø"/>
            </a:pPr>
            <a:r>
              <a:rPr lang="en" sz="2000" dirty="0">
                <a:latin typeface="Times New Roman" pitchFamily="18" charset="0"/>
                <a:cs typeface="Times New Roman" pitchFamily="18" charset="0"/>
              </a:rPr>
              <a:t>Qualitative</a:t>
            </a:r>
          </a:p>
          <a:p>
            <a:pPr marL="393700" lvl="1" algn="just">
              <a:spcBef>
                <a:spcPct val="20000"/>
              </a:spcBef>
              <a:buClr>
                <a:srgbClr val="813557"/>
              </a:buClr>
              <a:buSzPct val="85000"/>
            </a:pPr>
            <a:r>
              <a:rPr lang="en" sz="2000" dirty="0">
                <a:latin typeface="Times New Roman" pitchFamily="18" charset="0"/>
                <a:cs typeface="Times New Roman" pitchFamily="18" charset="0"/>
              </a:rPr>
              <a:t>In-depth individual interviews</a:t>
            </a:r>
            <a:endParaRPr lang="pt-PT" sz="2000" dirty="0">
              <a:latin typeface="Times New Roman" pitchFamily="18" charset="0"/>
              <a:cs typeface="Times New Roman" pitchFamily="18" charset="0"/>
            </a:endParaRPr>
          </a:p>
          <a:p>
            <a:pPr marL="639763" lvl="1" indent="-246063" algn="just">
              <a:spcBef>
                <a:spcPct val="20000"/>
              </a:spcBef>
              <a:buClr>
                <a:srgbClr val="813557"/>
              </a:buClr>
              <a:buSzPct val="85000"/>
              <a:buFont typeface="Wingdings 2" pitchFamily="2" charset="2"/>
              <a:buChar char=""/>
            </a:pPr>
            <a:r>
              <a:rPr lang="en" sz="2000" b="1" dirty="0">
                <a:latin typeface="Times New Roman" pitchFamily="18" charset="0"/>
                <a:cs typeface="Times New Roman" pitchFamily="18" charset="0"/>
              </a:rPr>
              <a:t>Period</a:t>
            </a:r>
          </a:p>
          <a:p>
            <a:pPr marL="736600" lvl="1" indent="-342900" algn="just">
              <a:spcBef>
                <a:spcPct val="20000"/>
              </a:spcBef>
              <a:buClr>
                <a:srgbClr val="813557"/>
              </a:buClr>
              <a:buSzPct val="85000"/>
              <a:buFont typeface="Wingdings" pitchFamily="2" charset="2"/>
              <a:buChar char="Ø"/>
            </a:pPr>
            <a:r>
              <a:rPr lang="en" sz="2000" dirty="0">
                <a:latin typeface="Times New Roman" pitchFamily="18" charset="0"/>
                <a:cs typeface="Times New Roman" pitchFamily="18" charset="0"/>
              </a:rPr>
              <a:t>6 months after the start and at the end of the pilot</a:t>
            </a:r>
            <a:endParaRPr lang="pt-PT" sz="2000" dirty="0">
              <a:latin typeface="Times New Roman" pitchFamily="18" charset="0"/>
              <a:cs typeface="Times New Roman" pitchFamily="18" charset="0"/>
            </a:endParaRPr>
          </a:p>
          <a:p>
            <a:pPr marL="639763" lvl="1" indent="-246063" algn="just">
              <a:spcBef>
                <a:spcPct val="20000"/>
              </a:spcBef>
              <a:buClr>
                <a:srgbClr val="813557"/>
              </a:buClr>
              <a:buSzPct val="85000"/>
              <a:buFont typeface="Wingdings 2" pitchFamily="2" charset="2"/>
              <a:buChar char=""/>
            </a:pPr>
            <a:r>
              <a:rPr lang="en" sz="2000" b="1" dirty="0">
                <a:latin typeface="Times New Roman" pitchFamily="18" charset="0"/>
                <a:cs typeface="Times New Roman" pitchFamily="18" charset="0"/>
              </a:rPr>
              <a:t>Participants</a:t>
            </a:r>
          </a:p>
          <a:p>
            <a:pPr marL="736600" lvl="1" indent="-342900" algn="just">
              <a:spcBef>
                <a:spcPct val="20000"/>
              </a:spcBef>
              <a:buClr>
                <a:srgbClr val="813557"/>
              </a:buClr>
              <a:buSzPct val="85000"/>
              <a:buFont typeface="Wingdings" pitchFamily="2" charset="2"/>
              <a:buChar char="Ø"/>
            </a:pPr>
            <a:r>
              <a:rPr lang="en" sz="2000" dirty="0">
                <a:latin typeface="Times New Roman" pitchFamily="18" charset="0"/>
                <a:cs typeface="Times New Roman" pitchFamily="18" charset="0"/>
              </a:rPr>
              <a:t>Managers and implementers</a:t>
            </a:r>
          </a:p>
          <a:p>
            <a:pPr marL="393700" lvl="1" algn="just">
              <a:spcBef>
                <a:spcPct val="20000"/>
              </a:spcBef>
              <a:buClr>
                <a:srgbClr val="813557"/>
              </a:buClr>
              <a:buSzPct val="85000"/>
            </a:pPr>
            <a:r>
              <a:rPr lang="en" sz="2000" dirty="0">
                <a:latin typeface="Times New Roman" pitchFamily="18" charset="0"/>
                <a:cs typeface="Times New Roman" pitchFamily="18" charset="0"/>
              </a:rPr>
              <a:t>9 to 17 key informants</a:t>
            </a:r>
            <a:endParaRPr lang="pt-PT" sz="2000" b="1" dirty="0">
              <a:latin typeface="Times New Roman" pitchFamily="18" charset="0"/>
              <a:cs typeface="Times New Roman" pitchFamily="18" charset="0"/>
            </a:endParaRPr>
          </a:p>
          <a:p>
            <a:pPr marL="639763" lvl="1" indent="-246063" algn="just">
              <a:spcBef>
                <a:spcPct val="20000"/>
              </a:spcBef>
              <a:buClr>
                <a:srgbClr val="813557"/>
              </a:buClr>
              <a:buSzPct val="85000"/>
              <a:buFont typeface="Wingdings 2" pitchFamily="2" charset="2"/>
              <a:buChar char=""/>
            </a:pPr>
            <a:endParaRPr lang="pt-PT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FE87DF-58CC-4AD9-DD29-34378110D7A9}"/>
              </a:ext>
            </a:extLst>
          </p:cNvPr>
          <p:cNvSpPr txBox="1"/>
          <p:nvPr/>
        </p:nvSpPr>
        <p:spPr>
          <a:xfrm>
            <a:off x="5334001" y="5152999"/>
            <a:ext cx="5867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400" dirty="0" err="1">
                <a:solidFill>
                  <a:schemeClr val="accent1"/>
                </a:solidFill>
              </a:rPr>
              <a:t>The</a:t>
            </a:r>
            <a:r>
              <a:rPr lang="en" sz="1400" dirty="0">
                <a:solidFill>
                  <a:schemeClr val="accent1"/>
                </a:solidFill>
              </a:rPr>
              <a:t> </a:t>
            </a:r>
            <a:r>
              <a:rPr lang="en" sz="1400" dirty="0" err="1">
                <a:solidFill>
                  <a:schemeClr val="accent1"/>
                </a:solidFill>
              </a:rPr>
              <a:t>Consolidated </a:t>
            </a:r>
            <a:r>
              <a:rPr lang="en" sz="1400" dirty="0">
                <a:solidFill>
                  <a:schemeClr val="accent1"/>
                </a:solidFill>
              </a:rPr>
              <a:t>Framework for </a:t>
            </a:r>
            <a:r>
              <a:rPr lang="en" sz="1400" dirty="0" err="1">
                <a:solidFill>
                  <a:schemeClr val="accent1"/>
                </a:solidFill>
              </a:rPr>
              <a:t>Implementation </a:t>
            </a:r>
            <a:r>
              <a:rPr lang="en" sz="1400" dirty="0">
                <a:solidFill>
                  <a:schemeClr val="accent1"/>
                </a:solidFill>
              </a:rPr>
              <a:t>Research (CFIR)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41D9E2-9A97-8BEC-A41E-79279B068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818" y="1989633"/>
            <a:ext cx="4865983" cy="311576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22211B-D60C-4340-1A41-F7D06653754F}"/>
              </a:ext>
            </a:extLst>
          </p:cNvPr>
          <p:cNvSpPr txBox="1">
            <a:spLocks/>
          </p:cNvSpPr>
          <p:nvPr/>
        </p:nvSpPr>
        <p:spPr>
          <a:xfrm>
            <a:off x="528865" y="5105401"/>
            <a:ext cx="7072950" cy="2534576"/>
          </a:xfrm>
          <a:prstGeom prst="rect">
            <a:avLst/>
          </a:prstGeom>
        </p:spPr>
        <p:txBody>
          <a:bodyPr vert="horz" lIns="0" tIns="0" rIns="0" bIns="0" anchor="b"/>
          <a:lstStyle>
            <a:defPPr>
              <a:defRPr lang="en-US"/>
            </a:defPPr>
            <a:lvl1pPr algn="l" rtl="0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kern="1200">
                <a:solidFill>
                  <a:schemeClr val="tx2">
                    <a:shade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393700" lvl="1" algn="just">
              <a:spcBef>
                <a:spcPct val="20000"/>
              </a:spcBef>
              <a:buClr>
                <a:srgbClr val="813557"/>
              </a:buClr>
              <a:buSzPct val="85000"/>
            </a:pPr>
            <a:endParaRPr lang="pt-PT" sz="2000" dirty="0">
              <a:latin typeface="Times New Roman" pitchFamily="18" charset="0"/>
              <a:cs typeface="Times New Roman" pitchFamily="18" charset="0"/>
            </a:endParaRPr>
          </a:p>
          <a:p>
            <a:pPr marL="639763" lvl="1" indent="-246063" algn="just">
              <a:spcBef>
                <a:spcPct val="20000"/>
              </a:spcBef>
              <a:buClr>
                <a:srgbClr val="813557"/>
              </a:buClr>
              <a:buSzPct val="85000"/>
              <a:buFont typeface="Wingdings 2" pitchFamily="2" charset="2"/>
              <a:buChar char=""/>
            </a:pPr>
            <a:r>
              <a:rPr lang="en" sz="2000" b="1" dirty="0">
                <a:latin typeface="Times New Roman" pitchFamily="18" charset="0"/>
                <a:cs typeface="Times New Roman" pitchFamily="18" charset="0"/>
              </a:rPr>
              <a:t>Data collection and analysis</a:t>
            </a:r>
          </a:p>
          <a:p>
            <a:pPr marL="736600" lvl="1" indent="-342900" algn="just">
              <a:spcBef>
                <a:spcPct val="20000"/>
              </a:spcBef>
              <a:buClr>
                <a:srgbClr val="813557"/>
              </a:buClr>
              <a:buSzPct val="85000"/>
              <a:buFont typeface="Wingdings" pitchFamily="2" charset="2"/>
              <a:buChar char="Ø"/>
            </a:pPr>
            <a:r>
              <a:rPr lang="en" sz="2000" dirty="0">
                <a:latin typeface="Times New Roman" pitchFamily="18" charset="0"/>
                <a:cs typeface="Times New Roman" pitchFamily="18" charset="0"/>
              </a:rPr>
              <a:t>Guided by CFIR</a:t>
            </a:r>
          </a:p>
          <a:p>
            <a:pPr marL="736600" lvl="1" indent="-342900" algn="just">
              <a:spcBef>
                <a:spcPct val="20000"/>
              </a:spcBef>
              <a:buClr>
                <a:srgbClr val="813557"/>
              </a:buClr>
              <a:buSzPct val="85000"/>
              <a:buFont typeface="Wingdings" pitchFamily="2" charset="2"/>
              <a:buChar char="Ø"/>
            </a:pPr>
            <a:r>
              <a:rPr lang="en" sz="2000" dirty="0">
                <a:latin typeface="Times New Roman" pitchFamily="18" charset="0"/>
                <a:cs typeface="Times New Roman" pitchFamily="18" charset="0"/>
              </a:rPr>
              <a:t>Thematic analysis ( </a:t>
            </a:r>
            <a:r>
              <a:rPr lang="en" sz="2000" dirty="0" err="1">
                <a:latin typeface="Times New Roman" pitchFamily="18" charset="0"/>
                <a:cs typeface="Times New Roman" pitchFamily="18" charset="0"/>
              </a:rPr>
              <a:t>deductive-inductive </a:t>
            </a:r>
            <a:r>
              <a:rPr lang="en"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736600" lvl="1" indent="-342900" algn="just">
              <a:spcBef>
                <a:spcPct val="20000"/>
              </a:spcBef>
              <a:buClr>
                <a:srgbClr val="813557"/>
              </a:buClr>
              <a:buSzPct val="85000"/>
              <a:buFont typeface="Wingdings" pitchFamily="2" charset="2"/>
              <a:buChar char="Ø"/>
            </a:pPr>
            <a:endParaRPr lang="pt-PT" sz="2000" dirty="0">
              <a:latin typeface="Times New Roman" pitchFamily="18" charset="0"/>
              <a:cs typeface="Times New Roman" pitchFamily="18" charset="0"/>
            </a:endParaRPr>
          </a:p>
          <a:p>
            <a:pPr marL="736600" lvl="1" indent="-342900" algn="just">
              <a:spcBef>
                <a:spcPct val="20000"/>
              </a:spcBef>
              <a:buClr>
                <a:srgbClr val="813557"/>
              </a:buClr>
              <a:buSzPct val="85000"/>
              <a:buFont typeface="Wingdings" pitchFamily="2" charset="2"/>
              <a:buChar char="Ø"/>
            </a:pPr>
            <a:endParaRPr lang="pt-PT" sz="2000" b="1" dirty="0">
              <a:latin typeface="Times New Roman" pitchFamily="18" charset="0"/>
              <a:cs typeface="Times New Roman" pitchFamily="18" charset="0"/>
            </a:endParaRPr>
          </a:p>
          <a:p>
            <a:pPr marL="639763" lvl="1" indent="-246063" algn="just">
              <a:spcBef>
                <a:spcPct val="20000"/>
              </a:spcBef>
              <a:buClr>
                <a:srgbClr val="813557"/>
              </a:buClr>
              <a:buSzPct val="85000"/>
              <a:buFont typeface="Wingdings 2" pitchFamily="2" charset="2"/>
              <a:buChar char=""/>
            </a:pPr>
            <a:endParaRPr lang="pt-PT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4117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INS%20Slides[1]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3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C52C735BFF5D46B407162EDAF141E6" ma:contentTypeVersion="15" ma:contentTypeDescription="Create a new document." ma:contentTypeScope="" ma:versionID="2a3071cc0e5806296865dd2a8b84ce90">
  <xsd:schema xmlns:xsd="http://www.w3.org/2001/XMLSchema" xmlns:xs="http://www.w3.org/2001/XMLSchema" xmlns:p="http://schemas.microsoft.com/office/2006/metadata/properties" xmlns:ns2="c7f7c614-3251-43f4-a576-98c3ff3756ed" xmlns:ns3="aa43570b-e863-4dc7-86e5-1a297a489091" targetNamespace="http://schemas.microsoft.com/office/2006/metadata/properties" ma:root="true" ma:fieldsID="3904a2c83522d2d4030d88f43468cda9" ns2:_="" ns3:_="">
    <xsd:import namespace="c7f7c614-3251-43f4-a576-98c3ff3756ed"/>
    <xsd:import namespace="aa43570b-e863-4dc7-86e5-1a297a4890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f7c614-3251-43f4-a576-98c3ff3756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0e8ccc1a-13c8-4af4-b857-4e89610c342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43570b-e863-4dc7-86e5-1a297a489091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6b0f7fc3-752d-4af7-8e1d-af69ac28d9dd}" ma:internalName="TaxCatchAll" ma:showField="CatchAllData" ma:web="aa43570b-e863-4dc7-86e5-1a297a4890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7f7c614-3251-43f4-a576-98c3ff3756ed">
      <Terms xmlns="http://schemas.microsoft.com/office/infopath/2007/PartnerControls"/>
    </lcf76f155ced4ddcb4097134ff3c332f>
    <TaxCatchAll xmlns="aa43570b-e863-4dc7-86e5-1a297a489091" xsi:nil="true"/>
  </documentManagement>
</p:properties>
</file>

<file path=customXml/itemProps1.xml><?xml version="1.0" encoding="utf-8"?>
<ds:datastoreItem xmlns:ds="http://schemas.openxmlformats.org/officeDocument/2006/customXml" ds:itemID="{784AD9F4-A21C-4421-8300-7615A63908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B18A4E-FE95-45E9-9DAA-493A817AC0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f7c614-3251-43f4-a576-98c3ff3756ed"/>
    <ds:schemaRef ds:uri="aa43570b-e863-4dc7-86e5-1a297a4890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A3EC853-5FEB-4183-8A4B-B586C67A3D8E}">
  <ds:schemaRefs>
    <ds:schemaRef ds:uri="http://schemas.microsoft.com/office/2006/metadata/properties"/>
    <ds:schemaRef ds:uri="http://schemas.microsoft.com/office/infopath/2007/PartnerControls"/>
    <ds:schemaRef ds:uri="c7f7c614-3251-43f4-a576-98c3ff3756ed"/>
    <ds:schemaRef ds:uri="aa43570b-e863-4dc7-86e5-1a297a48909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Manual IS_Apresentacao ao CD INS_021224_CAM</Template>
  <TotalTime>7393</TotalTime>
  <Words>674</Words>
  <Application>Microsoft Office PowerPoint</Application>
  <PresentationFormat>Ecrã Panorâmico</PresentationFormat>
  <Paragraphs>178</Paragraphs>
  <Slides>16</Slides>
  <Notes>5</Notes>
  <HiddenSlides>4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Constantia</vt:lpstr>
      <vt:lpstr>Times New Roman</vt:lpstr>
      <vt:lpstr>Wingdings</vt:lpstr>
      <vt:lpstr>Wingdings 2</vt:lpstr>
      <vt:lpstr>1_INS%20Slides[1]</vt:lpstr>
      <vt:lpstr>Integrated Disease Surveillance (IDS - Mozambique) Data analysis plan</vt:lpstr>
      <vt:lpstr>Content of the presentation</vt:lpstr>
      <vt:lpstr>IDS Moz specific objectives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Appendices</vt:lpstr>
      <vt:lpstr>Next steps</vt:lpstr>
      <vt:lpstr>Implementation &amp; Evaluation of the Implementation Process of the Integrated Disease Surveillance Pilot in Mozambique, 2024-2025 </vt:lpstr>
      <vt:lpstr>Aims</vt:lpstr>
      <vt:lpstr>Implementation Evaluation  Fidelity Study</vt:lpstr>
      <vt:lpstr>Implementation Assessment  Study of the determinants of successful 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Bilaal Amin</dc:creator>
  <cp:lastModifiedBy>Denise Langa</cp:lastModifiedBy>
  <cp:revision>49</cp:revision>
  <dcterms:created xsi:type="dcterms:W3CDTF">2024-04-16T08:30:44Z</dcterms:created>
  <dcterms:modified xsi:type="dcterms:W3CDTF">2025-11-06T08:47:47Z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0x01010044C52C735BFF5D46B407162EDAF141E6</vt:lpwstr>
  </property>
  <property fmtid="{D5CDD505-2E9C-101B-9397-08002B2CF9AE}" pid="3" name="MediaServiceImageTags">
    <vt:lpwstr/>
  </property>
</Properties>
</file>